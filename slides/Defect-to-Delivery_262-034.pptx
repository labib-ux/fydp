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85" r:id="rId12"/>
    <p:sldId id="266" r:id="rId13"/>
    <p:sldId id="281" r:id="rId14"/>
    <p:sldId id="267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93" r:id="rId23"/>
    <p:sldId id="268" r:id="rId24"/>
    <p:sldId id="269" r:id="rId25"/>
    <p:sldId id="270" r:id="rId26"/>
    <p:sldId id="276" r:id="rId32"/>
    <p:sldId id="277" r:id="rId33"/>
    <p:sldId id="278" r:id="rId34"/>
    <p:sldId id="279" r:id="rId35"/>
    <p:sldId id="294" r:id="rId36"/>
    <p:sldId id="295" r:id="rId37"/>
    <p:sldId id="280" r:id="rId38"/>
    <p:sldId id="282" r:id="rId39"/>
    <p:sldId id="283" r:id="rId40"/>
    <p:sldId id="284" r:id="rId4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9E5B"/>
    <a:srgbClr val="0858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754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1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FYDP-I • Textile &amp; RMG Quality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F5F7F2"/>
                </a:solidFill>
                <a:latin typeface="Georgia"/>
              </a:rPr>
              <a:t>Defect-To-Delivery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514600"/>
            <a:ext cx="92354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 i="0">
                <a:solidFill>
                  <a:srgbClr val="F5F7F2"/>
                </a:solidFill>
                <a:latin typeface="Calibri"/>
              </a:rPr>
              <a:t>A Closed-Loop Vision &amp; Machine-Learning System For Fabric Defect Detection And Production Lead-Time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 i="0">
                <a:solidFill>
                  <a:srgbClr val="F5F7F2"/>
                </a:solidFill>
                <a:latin typeface="Calibri"/>
              </a:rPr>
              <a:t>Group: 262-034
Department Of Computer Science And Engineering
United International University (UIU), Dhaka, Bangladesh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2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Supervisor, Course Teacher &amp; Team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29564" y="1402650"/>
            <a:ext cx="3337559" cy="15552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985597" y="1695641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 dirty="0">
                <a:solidFill>
                  <a:srgbClr val="F5F7F2"/>
                </a:solidFill>
                <a:latin typeface="Calibri"/>
              </a:rPr>
              <a:t>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5075" y="1659065"/>
            <a:ext cx="17830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Supervisor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Mr. Md. Tarek Hasan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Assistant Professor, Dept. Of CSE, UIU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21959" y="1402650"/>
            <a:ext cx="3337558" cy="15552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895949" y="1618488"/>
            <a:ext cx="523037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 dirty="0">
                <a:solidFill>
                  <a:srgbClr val="F5F7F2"/>
                </a:solidFill>
                <a:latin typeface="Calibri"/>
              </a:rPr>
              <a:t>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1252" y="1613916"/>
            <a:ext cx="1961388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Course Teacher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Dr. Mohammad Nurul Huda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Professor, Dept. Of CSE, UIU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40295"/>
            <a:ext cx="3520440" cy="15546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04672" y="340156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 dirty="0">
                <a:solidFill>
                  <a:srgbClr val="F5F7F2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Abdullah Al Fahim Zahin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0112310314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Problem, Motivation &amp; Objectives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59" y="3040295"/>
            <a:ext cx="3520440" cy="15546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4507992" y="340156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 dirty="0">
                <a:solidFill>
                  <a:srgbClr val="F5F7F2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 err="1">
                <a:latin typeface="Calibri"/>
              </a:rPr>
              <a:t>Nafiz Imtiaz Labib</a:t>
            </a:r>
            <a:r>
              <a:rPr sz="1350" b="1" i="0" dirty="0"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400" b="0" i="0" dirty="0">
                <a:latin typeface="Calibri"/>
              </a:rPr>
              <a:t>0112310422</a:t>
            </a:r>
            <a:r>
              <a:rPr lang="en-US" sz="1100" dirty="0"/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Literature Review &amp; Gap Analysis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3040295"/>
            <a:ext cx="3520440" cy="15546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8211311" y="340156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59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MST Riya </a:t>
            </a:r>
            <a:r>
              <a:rPr sz="1500" b="1" i="0" dirty="0" err="1">
                <a:latin typeface="Calibri"/>
              </a:rPr>
              <a:t>Akter</a:t>
            </a:r>
            <a:r>
              <a:rPr sz="1500" b="1" i="0" dirty="0">
                <a:latin typeface="Calibri"/>
              </a:rPr>
              <a:t> Satu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0112310147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Requirement Analysis &amp; Dataset Audit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21592"/>
            <a:ext cx="3520440" cy="155471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804672" y="4882896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Mohammed Amin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0112310412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System Design &amp; Diagrams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51959" y="4521592"/>
            <a:ext cx="3520440" cy="155471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507992" y="4882896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Fahim Ferdous </a:t>
            </a:r>
            <a:r>
              <a:rPr sz="1500" b="1" i="0" dirty="0" err="1">
                <a:latin typeface="Calibri"/>
              </a:rPr>
              <a:t>Niloy</a:t>
            </a:r>
            <a:endParaRPr sz="1350" b="1" i="0" dirty="0">
              <a:latin typeface="Calibri"/>
            </a:endParaRP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0112310307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Standards, Constraints, Budget &amp; Project Plan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79" y="4521592"/>
            <a:ext cx="3520440" cy="155471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8211311" y="4882896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59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Md. </a:t>
            </a:r>
            <a:r>
              <a:rPr sz="1500" b="1" i="0" dirty="0" err="1">
                <a:latin typeface="Calibri"/>
              </a:rPr>
              <a:t>Mostafizur</a:t>
            </a:r>
            <a:r>
              <a:rPr sz="1500" b="1" i="0" dirty="0">
                <a:latin typeface="Calibri"/>
              </a:rPr>
              <a:t> Rahman Murad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0112310426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Complex Engineering Problem, Task Allocation &amp; Conclusion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A9AE5F74-44E4-4A0A-9976-124DAFF38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060" y="1603630"/>
            <a:ext cx="1021900" cy="1016126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46" name="Picture 45" descr="A person in a suit and tie&#10;&#10;Description automatically generated">
            <a:extLst>
              <a:ext uri="{FF2B5EF4-FFF2-40B4-BE49-F238E27FC236}">
                <a16:creationId xmlns:a16="http://schemas.microsoft.com/office/drawing/2014/main" id="{FDC7340E-25ED-4BE1-B6FF-E0E3B5CA5D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25" y="1568196"/>
            <a:ext cx="1132387" cy="114300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3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Agenda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572768"/>
            <a:ext cx="5157216" cy="1133856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1. Problem &amp; Motivation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64224" y="1572768"/>
            <a:ext cx="5157216" cy="1133856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2. Objectives &amp; Methodology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07791"/>
            <a:ext cx="5157216" cy="1133856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3. Literature Review &amp; Gap Analysis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64224" y="2907791"/>
            <a:ext cx="5157216" cy="1133856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4. Requirement Analysis &amp; Dataset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42816"/>
            <a:ext cx="5157216" cy="1133856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5. System Design &amp; Diagrams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4224" y="4242816"/>
            <a:ext cx="5157216" cy="1133856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6. Standards, Constraints, Budget &amp; Plan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614416"/>
            <a:ext cx="10698480" cy="694944"/>
          </a:xfrm>
          <a:prstGeom prst="roundRect">
            <a:avLst>
              <a:gd name="adj" fmla="val 8000"/>
            </a:avLst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7. Conclusion &amp; Future 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4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Problem Definition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5F7F2"/>
                </a:solidFill>
                <a:latin typeface="Calibri"/>
              </a:rPr>
              <a:t>▪ Fabric Inspection In Most Bangladeshi RMG Factories Is Manual — Slow, Inconsistent, And Dependent On Inspector Experience And Fatigue.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5F7F2"/>
                </a:solidFill>
                <a:latin typeface="Calibri"/>
              </a:rPr>
              <a:t>▪ Production Planning Runs On Fixed Lead-Time Tables That Never Look At Real-Time Fabric Quality.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5F7F2"/>
                </a:solidFill>
                <a:latin typeface="Calibri"/>
              </a:rPr>
              <a:t>▪ Vision (Inspection) And Planning (Scheduling) Live In Two Disconnected Systems — Nobody Turns “How Many Defects” Into “How Many Hours.”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5F7F2"/>
                </a:solidFill>
                <a:latin typeface="Calibri"/>
              </a:rPr>
              <a:t>▪ This Gap Threatens Delivery Reliability And Cost Control In Bangladesh’s Largest Export Sector.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74920"/>
            <a:ext cx="11064240" cy="777240"/>
          </a:xfrm>
          <a:prstGeom prst="roundRect">
            <a:avLst>
              <a:gd name="adj" fmla="val 12000"/>
            </a:avLst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No System Links Defect Severity To Production Lead Time — Yet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5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 dirty="0">
                <a:solidFill>
                  <a:srgbClr val="F5F7F2"/>
                </a:solidFill>
                <a:latin typeface="Georgia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91672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>
                <a:solidFill>
                  <a:srgbClr val="D99A06"/>
                </a:solidFill>
                <a:latin typeface="Calibri"/>
              </a:rPr>
              <a:t>Why This Project — Motivation From The Report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580894" cy="2788920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68096" y="1956815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144E4C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578608"/>
            <a:ext cx="214198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144E4C"/>
                </a:solidFill>
                <a:latin typeface="Calibri"/>
              </a:rPr>
              <a:t>Dataset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035808"/>
            <a:ext cx="2141982" cy="1271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B6570"/>
                </a:solidFill>
                <a:latin typeface="Calibri"/>
              </a:rPr>
              <a:t>2,578 Factory Images Scanned. 17 Exact Duplicates Removed By Hash And 12 Cross-Labeled Files Quarantined Visually, Leaving 2,549 Usable Images.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5566" y="1737360"/>
            <a:ext cx="2580894" cy="2788920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05022" y="1956815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144E4C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5022" y="2578608"/>
            <a:ext cx="214198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144E4C"/>
                </a:solidFill>
                <a:latin typeface="Calibri"/>
              </a:rPr>
              <a:t>Reliability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5022" y="3035808"/>
            <a:ext cx="2141982" cy="1271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B6570"/>
                </a:solidFill>
                <a:latin typeface="Calibri"/>
              </a:rPr>
              <a:t>No Reliable Audit Separates Training From Evaluation Groups. All Images Are Indexed By Hash Sums To Ensure Disjoint Swatch Families.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2492" y="1737360"/>
            <a:ext cx="2580894" cy="2788920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41948" y="1956815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144E4C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1948" y="2578608"/>
            <a:ext cx="214198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144E4C"/>
                </a:solidFill>
                <a:latin typeface="Calibri"/>
              </a:rPr>
              <a:t>Upper-Bound Reference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1948" y="3035808"/>
            <a:ext cx="2141982" cy="1271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B6570"/>
                </a:solidFill>
                <a:latin typeface="Calibri"/>
              </a:rPr>
              <a:t>The Pilot System Scored 98% On A Randomly Split Test Set. This Is A Reference Point Only — Not A Reproduced Result Of This System.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9418" y="1737360"/>
            <a:ext cx="2580894" cy="2788920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78874" y="1956815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144E4C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8874" y="2578608"/>
            <a:ext cx="214198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144E4C"/>
                </a:solidFill>
                <a:latin typeface="Calibri"/>
              </a:rPr>
              <a:t>Planned Outcome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8874" y="3035808"/>
            <a:ext cx="2141982" cy="1271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B6570"/>
                </a:solidFill>
                <a:latin typeface="Calibri"/>
              </a:rPr>
              <a:t>A Closed-Loop Architecture With A Planner Dashboard Showing Defect Categories, Defect Density Score (Ds) And Estimated Production Hours In Real Time.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782312"/>
            <a:ext cx="11091672" cy="731520"/>
          </a:xfrm>
          <a:prstGeom prst="roundRect">
            <a:avLst>
              <a:gd name="adj" fmla="val 8000"/>
            </a:avLst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The Methodology Also Extends To Predictive Maintenance And Waste Estimation.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6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Objectives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5F7F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5F7F2"/>
                </a:solidFill>
                <a:latin typeface="Calibri"/>
              </a:rPr>
              <a:t>Build An Audited 6-Class Fabric Image Dataset With Hash Inventory, Quarantine Ledger, And Group-Aware Split Manifest.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487168"/>
            <a:ext cx="502920" cy="502920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5F7F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414015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5F7F2"/>
                </a:solidFill>
                <a:latin typeface="Calibri"/>
              </a:rPr>
              <a:t>Train A YOLOv11-Seg Detector For Defect Type + Pixel-True Area, Tracked With mAP.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419856"/>
            <a:ext cx="502920" cy="502920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5F7F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346704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5F7F2"/>
                </a:solidFill>
                <a:latin typeface="Calibri"/>
              </a:rPr>
              <a:t>Train A Random Forest Lead-Time Predictor From Speed, Quantity And Defect Density Score (Ds), Tracked With MAE / RMSE / R².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352544"/>
            <a:ext cx="502920" cy="502920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5F7F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279392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5F7F2"/>
                </a:solidFill>
                <a:latin typeface="Calibri"/>
              </a:rPr>
              <a:t>Fuse Both Into One Real-Time Closed-Loop Framework With A Planner Dashboard.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5285232"/>
            <a:ext cx="502920" cy="502920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5F7F2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2120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5F7F2"/>
                </a:solidFill>
                <a:latin typeface="Calibri"/>
              </a:rPr>
              <a:t>Prove Every Number On Disjoint Data — The Same Swatch Family Never Appears On Both Sides.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7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1685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Methodology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73710"/>
            <a:ext cx="3520440" cy="181776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04672" y="1857293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20717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Detect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YOLO-Family Detectors (YOLOv11-Seg Target); OpenCV Thresholding / Contours For Area Measurement.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573710"/>
            <a:ext cx="3520440" cy="181776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507992" y="1857293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820717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Segment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Instance Masks For Accurate Stain / Pulled-Thread Area Vs Over-Estimating Boxes; Mask </a:t>
            </a:r>
            <a:r>
              <a:rPr sz="1500" b="0" i="0" dirty="0" err="1">
                <a:latin typeface="Calibri"/>
              </a:rPr>
              <a:t>IoU</a:t>
            </a:r>
            <a:r>
              <a:rPr sz="1500" b="0" i="0" dirty="0">
                <a:latin typeface="Calibri"/>
              </a:rPr>
              <a:t> Ablation.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573710"/>
            <a:ext cx="3520440" cy="181776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211311" y="1857293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1820717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Catch Unknowns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Few-Shot Anomaly Detection (</a:t>
            </a:r>
            <a:r>
              <a:rPr sz="1500" b="0" i="0" dirty="0" err="1">
                <a:latin typeface="Calibri"/>
              </a:rPr>
              <a:t>PatchCore</a:t>
            </a:r>
            <a:r>
              <a:rPr sz="1500" b="0" i="0" dirty="0">
                <a:latin typeface="Calibri"/>
              </a:rPr>
              <a:t> / DINOv2 Family) Trained Only On Good Fabric.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012758"/>
            <a:ext cx="3520440" cy="153842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04672" y="4240297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19" y="4203721"/>
            <a:ext cx="2468880" cy="103676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Predict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Random Forest Regression On Speed, Quantity, Ds Ablated Against </a:t>
            </a:r>
            <a:r>
              <a:rPr sz="1500" b="0" i="0" dirty="0" err="1">
                <a:latin typeface="Calibri"/>
              </a:rPr>
              <a:t>XGBoost</a:t>
            </a:r>
            <a:r>
              <a:rPr sz="1500" b="0" i="0" dirty="0">
                <a:latin typeface="Calibri"/>
              </a:rPr>
              <a:t> And MLP.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59" y="4012758"/>
            <a:ext cx="3520440" cy="153842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507992" y="400429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96772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Smooth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Rolling-Average Ds Over The Last 10 Frames To Filter False Positives.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4012758"/>
            <a:ext cx="3520440" cy="153842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8211311" y="400429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59" y="396772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Deploy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Python, </a:t>
            </a:r>
            <a:r>
              <a:rPr sz="1500" b="0" i="0" dirty="0" err="1">
                <a:latin typeface="Calibri"/>
              </a:rPr>
              <a:t>Ultralytics</a:t>
            </a:r>
            <a:r>
              <a:rPr sz="1500" b="0" i="0" dirty="0">
                <a:latin typeface="Calibri"/>
              </a:rPr>
              <a:t> YOLO, OpenCV, Scikit-Learn On Jetson-Class Edge With </a:t>
            </a:r>
            <a:r>
              <a:rPr sz="1500" b="0" i="0" dirty="0" err="1">
                <a:latin typeface="Calibri"/>
              </a:rPr>
              <a:t>TensorRT</a:t>
            </a:r>
            <a:r>
              <a:rPr sz="1500" b="0" i="0" dirty="0"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8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Related Work — Fabric Defect Datasets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Scale / Description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Isl-Knit (Heliyon 2024, BUTEX)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3,375 Knit-Fault Images, 7 Classes, Bangladeshi Dyeing Factories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YOLOv5 + 4-Point Raspberry-Pi Prototype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 2024)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1,014 Images, 3,288 Spot Annotations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COCO + YOLOv8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ZJU-Leaper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98,777 Woven-Fabric Images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Large-Scale Supervised Benchmark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Tianchi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20 Defect Types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Industry Benchmark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MVTec AD / VisA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Anomaly-Detection Standard Sets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Used For Our Few-Shot Branch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Our Pilot Corpus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2,578 Images, 6 Classes, Per-File Hashes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Audited, Group-Aware Split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9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Related Work — Detection, Anomaly &amp; Planning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737360" cy="68580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 dirty="0">
                <a:solidFill>
                  <a:srgbClr val="F5F7F2"/>
                </a:solidFill>
                <a:latin typeface="Calibri"/>
              </a:rPr>
              <a:t>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353312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5F7F2"/>
                </a:solidFill>
                <a:latin typeface="Calibri"/>
              </a:rPr>
              <a:t>YOLOv1–v11 Fabric Review (2025) Finds YOLOv11 Strongest On Small / Occluded Defects; Fab-ASLKS (+5% mAP50 On Tianchi); Fab-ME (+3.3%, 59.4% Over 20 Classes); FabricMamba For Edge.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33472"/>
            <a:ext cx="1737360" cy="68580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Anomaly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523744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5F7F2"/>
                </a:solidFill>
                <a:latin typeface="Calibri"/>
              </a:rPr>
              <a:t>PatchCore (99.6% MVTec AUROC), Reverse Distillation (Low Latency), AnomalyDINO / PatchEAD Reach 89–96% With A Handful Of Good Samples And No Defect Labels.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03904"/>
            <a:ext cx="1737360" cy="68580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694176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 dirty="0" err="1">
                <a:solidFill>
                  <a:srgbClr val="F5F7F2"/>
                </a:solidFill>
                <a:latin typeface="Calibri"/>
              </a:rPr>
              <a:t>EfficientDet</a:t>
            </a:r>
            <a:r>
              <a:rPr sz="1500" b="0" i="0">
                <a:solidFill>
                  <a:srgbClr val="F5F7F2"/>
                </a:solidFill>
                <a:latin typeface="Calibri"/>
              </a:rPr>
              <a:t> + Jetson TX2 At 22.7 FPS (2.5× Cloud); YOLOv11 On Orin Nano; YOLOv11 +70% Avg. </a:t>
            </a:r>
            <a:r>
              <a:rPr sz="1500" b="0" i="0" dirty="0">
                <a:solidFill>
                  <a:srgbClr val="F5F7F2"/>
                </a:solidFill>
                <a:latin typeface="Calibri"/>
              </a:rPr>
              <a:t>On NEU-DET Vs Prior Models.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74336"/>
            <a:ext cx="1737360" cy="68580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4864607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latin typeface="Calibri"/>
              </a:rPr>
              <a:t>No Published Vision–Ds Lead-Time Fusion Exists — This Is Our Gap. Closest Work: CIIS 2024 Wastage Prediction (Supervised, Own Dataset Of 633 Samples); 2025 BD Digital-QC Trials; 2026 Narayanganj Traffic-Light QC Study (94 Lines).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10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Literature Analysis (Selected)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2595443"/>
              </p:ext>
            </p:extLst>
          </p:nvPr>
        </p:nvGraphicFramePr>
        <p:xfrm>
          <a:off x="575945" y="932688"/>
          <a:ext cx="110642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Kumar Fabric Survey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/ Classical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2008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Isl-Knit + 4-Point (BUTEX)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(YOLOv5)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Own (3,375)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Own (1,014)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YOLOv1–v11 Fabric Review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PatchCore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Unsupervised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MVTec / VisA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AnomalyDINO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Few-Shot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MVTec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PatchEAD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Few / Zero-Shot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7 Industrial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Fabric Wastage Prediction (CIIS)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Own (633)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>
                          <a:solidFill>
                            <a:srgbClr val="1F2937"/>
                          </a:solidFill>
                          <a:latin typeface="Calibri"/>
                        </a:rPr>
                        <a:t>Traffic-Light QC Narayanganj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Applied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94 Lines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Redmon (YOLO) / Breiman (RF)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>
                          <a:solidFill>
                            <a:srgbClr val="1F2937"/>
                          </a:solidFill>
                          <a:latin typeface="Calibri"/>
                        </a:rPr>
                        <a:t>VOC-COCO / General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2016 / 2001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Literature Survey Summary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20 Works Surveyed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>
                          <a:solidFill>
                            <a:srgbClr val="1F2937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144E7D"/>
                </a:solidFill>
                <a:latin typeface="Georgia"/>
              </a:defRPr>
            </a:pPr>
            <a:r>
              <a:rPr sz="3400" b="1">
                <a:solidFill>
                  <a:srgbClr val="F5F7F2"/>
                </a:solidFill>
                <a:latin typeface="Georgia"/>
              </a:rPr>
              <a:t>Literature Taxonomy (20 Works)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11 / 35</a:t>
            </a:r>
          </a:p>
        </p:txBody>
      </p:sp>
      <p:pic>
        <p:nvPicPr>
          <p:cNvPr id="7" name="Picture 6" descr="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234440"/>
            <a:ext cx="10424160" cy="39110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12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Gap Analysis &amp; Summary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52935"/>
            <a:ext cx="2651760" cy="183514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04672" y="204050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 dirty="0">
                <a:solidFill>
                  <a:srgbClr val="F5F7F2"/>
                </a:solidFill>
                <a:latin typeface="Calibri"/>
              </a:rPr>
              <a:t>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003932"/>
            <a:ext cx="1600200" cy="146444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Detectors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Cover Known Defect Types Well, But Stop At Detection — No Link To Production.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1952935"/>
            <a:ext cx="2651760" cy="183514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584448" y="1835473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7096" y="1798897"/>
            <a:ext cx="1600200" cy="1874519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Anomaly Models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Handle Unseen Defects, But Are Evaluated On Public Sets, Not Bangladeshi Factory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08192" y="1952935"/>
            <a:ext cx="2651760" cy="183514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364224" y="1835473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6872" y="1798897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Edge Tooling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Real-Time Feasibility Is Proven, But Not Paired With A Planning Model.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87968" y="1952935"/>
            <a:ext cx="2651760" cy="183514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144000" y="1835473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 dirty="0">
                <a:solidFill>
                  <a:srgbClr val="F5F7F2"/>
                </a:solidFill>
                <a:latin typeface="Calibri"/>
              </a:rPr>
              <a:t>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6648" y="1798897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BD Datasets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Give Local Ground Truth, But No Work Fuses Vision Output With Lead-Time Hours.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66344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5F7F2"/>
                </a:solidFill>
                <a:latin typeface="Calibri"/>
              </a:rPr>
              <a:t>The Vision-To-Hours Coupling Remains Unclaimed — That Is Our Contribution.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144E7D"/>
                </a:solidFill>
                <a:latin typeface="Georgia"/>
              </a:defRPr>
            </a:pPr>
            <a:r>
              <a:rPr sz="3400" b="1">
                <a:solidFill>
                  <a:srgbClr val="F5F7F2"/>
                </a:solidFill>
                <a:latin typeface="Georgia"/>
              </a:rPr>
              <a:t>Benchmark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4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06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06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06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06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806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8061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Isl-Knit</a:t>
                      </a:r>
                    </a:p>
                  </a:txBody>
                  <a:tcPr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FabricSpot</a:t>
                      </a:r>
                    </a:p>
                  </a:txBody>
                  <a:tcPr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v1-Base</a:t>
                      </a:r>
                    </a:p>
                  </a:txBody>
                  <a:tcPr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anchor="ctr">
                    <a:solidFill>
                      <a:srgbClr val="D99A0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Roll-Disjoint Split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Group-Aware Split (2,081/468)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4-Point Grading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Four-Point Grading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Edge Deployment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Jetson-Class Target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Honest Repro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Seed 42; 2,081 Train / 468 Test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Lead-Time Pred.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Vision-To-Hours Fusion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Planner Dashboard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Planner Dashboard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Planned Output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Limitation Slide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Explicit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13 / 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14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Requirement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1091672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noAutofit/>
          </a:bodyPr>
          <a:lstStyle/>
          <a:p>
            <a:pPr algn="l"/>
            <a:r>
              <a:rPr sz="1500" b="1">
                <a:solidFill>
                  <a:srgbClr val="D99A06"/>
                </a:solidFill>
                <a:latin typeface="Calibri"/>
              </a:rPr>
              <a:t>Functional Requirements — What The System Must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21408"/>
            <a:ext cx="11091672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noAutofit/>
          </a:bodyPr>
          <a:lstStyle/>
          <a:p>
            <a:pPr algn="l"/>
            <a:r>
              <a:rPr sz="1500" b="1">
                <a:solidFill>
                  <a:srgbClr val="D99A06"/>
                </a:solidFill>
                <a:latin typeface="Calibri"/>
              </a:rPr>
              <a:t>Non-Functional Requirements — How Well It Must Perform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53312"/>
            <a:ext cx="1365068" cy="566928"/>
          </a:xfrm>
          <a:prstGeom prst="roundRect">
            <a:avLst>
              <a:gd name="adj" fmla="val 16000"/>
            </a:avLst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>
            <a:noAutofit/>
          </a:bodyPr>
          <a:lstStyle/>
          <a:p>
            <a:pPr algn="ctr">
              <a:lnSpc>
                <a:spcPct val="92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FR1</a:t>
            </a:r>
          </a:p>
          <a:p>
            <a:pPr algn="ctr">
              <a:lnSpc>
                <a:spcPct val="92000"/>
              </a:lnSpc>
            </a:pPr>
            <a:r>
              <a:rPr sz="1400" b="0">
                <a:solidFill>
                  <a:srgbClr val="144E4C"/>
                </a:solidFill>
                <a:latin typeface="Calibri"/>
              </a:rPr>
              <a:t>Input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954856" y="1568196"/>
            <a:ext cx="173736" cy="137160"/>
          </a:xfrm>
          <a:prstGeom prst="rightArrow">
            <a:avLst/>
          </a:prstGeom>
          <a:solidFill>
            <a:srgbClr val="F5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69740" y="1353312"/>
            <a:ext cx="1365068" cy="566928"/>
          </a:xfrm>
          <a:prstGeom prst="roundRect">
            <a:avLst>
              <a:gd name="adj" fmla="val 16000"/>
            </a:avLst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>
            <a:noAutofit/>
          </a:bodyPr>
          <a:lstStyle/>
          <a:p>
            <a:pPr algn="ctr">
              <a:lnSpc>
                <a:spcPct val="92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FR2</a:t>
            </a:r>
          </a:p>
          <a:p>
            <a:pPr algn="ctr">
              <a:lnSpc>
                <a:spcPct val="92000"/>
              </a:lnSpc>
            </a:pPr>
            <a:r>
              <a:rPr sz="1400" b="0">
                <a:solidFill>
                  <a:srgbClr val="144E4C"/>
                </a:solidFill>
                <a:latin typeface="Calibri"/>
              </a:rPr>
              <a:t>Preprocess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75957" y="1568196"/>
            <a:ext cx="173736" cy="137160"/>
          </a:xfrm>
          <a:prstGeom prst="rightArrow">
            <a:avLst/>
          </a:prstGeom>
          <a:solidFill>
            <a:srgbClr val="F5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90841" y="1353312"/>
            <a:ext cx="1365068" cy="566928"/>
          </a:xfrm>
          <a:prstGeom prst="roundRect">
            <a:avLst>
              <a:gd name="adj" fmla="val 16000"/>
            </a:avLst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>
            <a:noAutofit/>
          </a:bodyPr>
          <a:lstStyle/>
          <a:p>
            <a:pPr algn="ctr">
              <a:lnSpc>
                <a:spcPct val="92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FR3</a:t>
            </a:r>
          </a:p>
          <a:p>
            <a:pPr algn="ctr">
              <a:lnSpc>
                <a:spcPct val="92000"/>
              </a:lnSpc>
            </a:pPr>
            <a:r>
              <a:rPr sz="1400" b="0">
                <a:solidFill>
                  <a:srgbClr val="144E4C"/>
                </a:solidFill>
                <a:latin typeface="Calibri"/>
              </a:rPr>
              <a:t>Detect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197057" y="1568196"/>
            <a:ext cx="173736" cy="137160"/>
          </a:xfrm>
          <a:prstGeom prst="rightArrow">
            <a:avLst/>
          </a:prstGeom>
          <a:solidFill>
            <a:srgbClr val="F5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11941" y="1353312"/>
            <a:ext cx="1365068" cy="566928"/>
          </a:xfrm>
          <a:prstGeom prst="roundRect">
            <a:avLst>
              <a:gd name="adj" fmla="val 16000"/>
            </a:avLst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>
            <a:noAutofit/>
          </a:bodyPr>
          <a:lstStyle/>
          <a:p>
            <a:pPr algn="ctr">
              <a:lnSpc>
                <a:spcPct val="92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FR4</a:t>
            </a:r>
          </a:p>
          <a:p>
            <a:pPr algn="ctr">
              <a:lnSpc>
                <a:spcPct val="92000"/>
              </a:lnSpc>
            </a:pPr>
            <a:r>
              <a:rPr sz="1400" b="0">
                <a:solidFill>
                  <a:srgbClr val="144E4C"/>
                </a:solidFill>
                <a:latin typeface="Calibri"/>
              </a:rPr>
              <a:t>Classify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818158" y="1568196"/>
            <a:ext cx="173736" cy="137160"/>
          </a:xfrm>
          <a:prstGeom prst="rightArrow">
            <a:avLst/>
          </a:prstGeom>
          <a:solidFill>
            <a:srgbClr val="F5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033042" y="1353312"/>
            <a:ext cx="1365068" cy="566928"/>
          </a:xfrm>
          <a:prstGeom prst="roundRect">
            <a:avLst>
              <a:gd name="adj" fmla="val 16000"/>
            </a:avLst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>
            <a:noAutofit/>
          </a:bodyPr>
          <a:lstStyle/>
          <a:p>
            <a:pPr algn="ctr">
              <a:lnSpc>
                <a:spcPct val="92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FR5</a:t>
            </a:r>
          </a:p>
          <a:p>
            <a:pPr algn="ctr">
              <a:lnSpc>
                <a:spcPct val="92000"/>
              </a:lnSpc>
            </a:pPr>
            <a:r>
              <a:rPr sz="1400" b="0">
                <a:solidFill>
                  <a:srgbClr val="144E4C"/>
                </a:solidFill>
                <a:latin typeface="Calibri"/>
              </a:rPr>
              <a:t>Score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439258" y="1568196"/>
            <a:ext cx="173736" cy="137160"/>
          </a:xfrm>
          <a:prstGeom prst="rightArrow">
            <a:avLst/>
          </a:prstGeom>
          <a:solidFill>
            <a:srgbClr val="F5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54142" y="1353312"/>
            <a:ext cx="1365068" cy="566928"/>
          </a:xfrm>
          <a:prstGeom prst="roundRect">
            <a:avLst>
              <a:gd name="adj" fmla="val 16000"/>
            </a:avLst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>
            <a:noAutofit/>
          </a:bodyPr>
          <a:lstStyle/>
          <a:p>
            <a:pPr algn="ctr">
              <a:lnSpc>
                <a:spcPct val="92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FR6</a:t>
            </a:r>
          </a:p>
          <a:p>
            <a:pPr algn="ctr">
              <a:lnSpc>
                <a:spcPct val="92000"/>
              </a:lnSpc>
            </a:pPr>
            <a:r>
              <a:rPr sz="1400" b="0">
                <a:solidFill>
                  <a:srgbClr val="144E4C"/>
                </a:solidFill>
                <a:latin typeface="Calibri"/>
              </a:rPr>
              <a:t>Predict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0060359" y="1568196"/>
            <a:ext cx="173736" cy="137160"/>
          </a:xfrm>
          <a:prstGeom prst="rightArrow">
            <a:avLst/>
          </a:prstGeom>
          <a:solidFill>
            <a:srgbClr val="F5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275243" y="1353312"/>
            <a:ext cx="1365068" cy="566928"/>
          </a:xfrm>
          <a:prstGeom prst="roundRect">
            <a:avLst>
              <a:gd name="adj" fmla="val 16000"/>
            </a:avLst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>
            <a:noAutofit/>
          </a:bodyPr>
          <a:lstStyle/>
          <a:p>
            <a:pPr algn="ctr">
              <a:lnSpc>
                <a:spcPct val="92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FR7</a:t>
            </a:r>
          </a:p>
          <a:p>
            <a:pPr algn="ctr">
              <a:lnSpc>
                <a:spcPct val="92000"/>
              </a:lnSpc>
            </a:pPr>
            <a:r>
              <a:rPr sz="1400" b="0">
                <a:solidFill>
                  <a:srgbClr val="144E4C"/>
                </a:solidFill>
                <a:latin typeface="Calibri"/>
              </a:rPr>
              <a:t>Output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450592"/>
            <a:ext cx="2079345" cy="457200"/>
          </a:xfrm>
          <a:prstGeom prst="roundRect">
            <a:avLst>
              <a:gd name="adj" fmla="val 16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>
            <a:noAutofit/>
          </a:bodyPr>
          <a:lstStyle/>
          <a:p>
            <a:pPr algn="ctr">
              <a:lnSpc>
                <a:spcPct val="95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NFR1 · Accurate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01721" y="2450592"/>
            <a:ext cx="2079345" cy="457200"/>
          </a:xfrm>
          <a:prstGeom prst="roundRect">
            <a:avLst>
              <a:gd name="adj" fmla="val 16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>
            <a:noAutofit/>
          </a:bodyPr>
          <a:lstStyle/>
          <a:p>
            <a:pPr algn="ctr">
              <a:lnSpc>
                <a:spcPct val="95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NFR2 · Robust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54803" y="2450592"/>
            <a:ext cx="2079345" cy="457200"/>
          </a:xfrm>
          <a:prstGeom prst="roundRect">
            <a:avLst>
              <a:gd name="adj" fmla="val 16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>
            <a:noAutofit/>
          </a:bodyPr>
          <a:lstStyle/>
          <a:p>
            <a:pPr algn="ctr">
              <a:lnSpc>
                <a:spcPct val="95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NFR3 · Efficient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07884" y="2450592"/>
            <a:ext cx="2079345" cy="457200"/>
          </a:xfrm>
          <a:prstGeom prst="roundRect">
            <a:avLst>
              <a:gd name="adj" fmla="val 16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>
            <a:noAutofit/>
          </a:bodyPr>
          <a:lstStyle/>
          <a:p>
            <a:pPr algn="ctr">
              <a:lnSpc>
                <a:spcPct val="95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NFR4 · Scalable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60966" y="2450592"/>
            <a:ext cx="2079345" cy="457200"/>
          </a:xfrm>
          <a:prstGeom prst="roundRect">
            <a:avLst>
              <a:gd name="adj" fmla="val 16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>
            <a:noAutofit/>
          </a:bodyPr>
          <a:lstStyle/>
          <a:p>
            <a:pPr algn="ctr">
              <a:lnSpc>
                <a:spcPct val="95000"/>
              </a:lnSpc>
            </a:pPr>
            <a:r>
              <a:rPr sz="1400" b="1">
                <a:solidFill>
                  <a:srgbClr val="144E4C"/>
                </a:solidFill>
                <a:latin typeface="Calibri"/>
              </a:rPr>
              <a:t>NFR5 · Maintainable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3035808"/>
          <a:ext cx="5623560" cy="2889504"/>
        </p:xfrm>
        <a:graphic>
          <a:graphicData uri="http://schemas.openxmlformats.org/drawingml/2006/table">
            <a:tbl>
              <a:tblPr firstRow="0" bandRow="0"/>
              <a:tblGrid>
                <a:gridCol w="749808"/>
                <a:gridCol w="4873752"/>
              </a:tblGrid>
              <a:tr h="361188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82296" marR="64008" marT="18288" marB="18288" anchor="ctr">
                    <a:solidFill>
                      <a:srgbClr val="D99A0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Requirement</a:t>
                      </a:r>
                    </a:p>
                  </a:txBody>
                  <a:tcPr marL="82296" marR="64008" marT="18288" marB="18288" anchor="ctr">
                    <a:solidFill>
                      <a:srgbClr val="D99A06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FR1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0">
                          <a:solidFill>
                            <a:srgbClr val="144E4C"/>
                          </a:solidFill>
                          <a:latin typeface="Calibri"/>
                        </a:rPr>
                        <a:t>Take Fabric Image / Stream As Input.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FR2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0">
                          <a:solidFill>
                            <a:srgbClr val="144E4C"/>
                          </a:solidFill>
                          <a:latin typeface="Calibri"/>
                        </a:rPr>
                        <a:t>Preprocess And Normalise The Image.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FR3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0">
                          <a:solidFill>
                            <a:srgbClr val="144E4C"/>
                          </a:solidFill>
                          <a:latin typeface="Calibri"/>
                        </a:rPr>
                        <a:t>Detect The Type Of Defect.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FR4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0">
                          <a:solidFill>
                            <a:srgbClr val="144E4C"/>
                          </a:solidFill>
                          <a:latin typeface="Calibri"/>
                        </a:rPr>
                        <a:t>Identify Defect-Free Images.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FR5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0">
                          <a:solidFill>
                            <a:srgbClr val="144E4C"/>
                          </a:solidFill>
                          <a:latin typeface="Calibri"/>
                        </a:rPr>
                        <a:t>Calculate Area Ratio And Defect Density Score (Ds).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FR6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0">
                          <a:solidFill>
                            <a:srgbClr val="144E4C"/>
                          </a:solidFill>
                          <a:latin typeface="Calibri"/>
                        </a:rPr>
                        <a:t>Predict Lead Time From Quality Signals.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FR7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0">
                          <a:solidFill>
                            <a:srgbClr val="144E4C"/>
                          </a:solidFill>
                          <a:latin typeface="Calibri"/>
                        </a:rPr>
                        <a:t>Output Result To The Planner Dashboard.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016752" y="3035808"/>
          <a:ext cx="5623560" cy="3017520"/>
        </p:xfrm>
        <a:graphic>
          <a:graphicData uri="http://schemas.openxmlformats.org/drawingml/2006/table">
            <a:tbl>
              <a:tblPr firstRow="0" bandRow="0"/>
              <a:tblGrid>
                <a:gridCol w="868680"/>
                <a:gridCol w="4754880"/>
              </a:tblGrid>
              <a:tr h="502920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82296" marR="64008" marT="18288" marB="18288" anchor="ctr">
                    <a:solidFill>
                      <a:srgbClr val="D99A0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Requirement</a:t>
                      </a:r>
                    </a:p>
                  </a:txBody>
                  <a:tcPr marL="82296" marR="64008" marT="18288" marB="18288" anchor="ctr">
                    <a:solidFill>
                      <a:srgbClr val="D99A0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NFR1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0">
                          <a:solidFill>
                            <a:srgbClr val="144E4C"/>
                          </a:solidFill>
                          <a:latin typeface="Calibri"/>
                        </a:rPr>
                        <a:t>Accurate — mAP Tracked During Evaluation.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NFR2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0">
                          <a:solidFill>
                            <a:srgbClr val="144E4C"/>
                          </a:solidFill>
                          <a:latin typeface="Calibri"/>
                        </a:rPr>
                        <a:t>Robust To Lighting And Texture Variation.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NFR3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0">
                          <a:solidFill>
                            <a:srgbClr val="144E4C"/>
                          </a:solidFill>
                          <a:latin typeface="Calibri"/>
                        </a:rPr>
                        <a:t>Efficient — Real-Time Processing, ≥15 FPS At The Edge.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NFR4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0">
                          <a:solidFill>
                            <a:srgbClr val="144E4C"/>
                          </a:solidFill>
                          <a:latin typeface="Calibri"/>
                        </a:rPr>
                        <a:t>Scalable — New Fabrics Via The Few-Shot Branch.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NFR5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400" b="0">
                          <a:solidFill>
                            <a:srgbClr val="144E4C"/>
                          </a:solidFill>
                          <a:latin typeface="Calibri"/>
                        </a:rPr>
                        <a:t>Maintainable — Modular Code, One Configuration Point.</a:t>
                      </a:r>
                    </a:p>
                  </a:txBody>
                  <a:tcPr marL="82296" marR="64008" marT="18288" marB="18288" anchor="ctr">
                    <a:solidFill>
                      <a:srgbClr val="F5F7F2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548640" y="6053328"/>
            <a:ext cx="11091672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noAutofit/>
          </a:bodyPr>
          <a:lstStyle/>
          <a:p>
            <a:pPr algn="l"/>
            <a:r>
              <a:rPr sz="1400" b="0">
                <a:solidFill>
                  <a:srgbClr val="F5F7F2"/>
                </a:solidFill>
                <a:latin typeface="Calibri"/>
              </a:rPr>
              <a:t>Source: Report Section 3.1, Table 3.1 — 7 Functional And 5 Non-Functional Requirements, With Measurable Targets.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  <a:latin typeface="Calibri"/>
              </a:rPr>
              <a:t>Proposed System Diagram (Fig. 3.2)</a:t>
            </a:r>
          </a:p>
        </p:txBody>
      </p:sp>
      <p:pic>
        <p:nvPicPr>
          <p:cNvPr id="4" name="Picture 3" descr="architectural desig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1616" y="914400"/>
            <a:ext cx="9658286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F5F7F2"/>
                </a:solidFill>
                <a:latin typeface="Calibri"/>
              </a:rPr>
              <a:t>15 / 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  <a:latin typeface="Calibri"/>
              </a:rPr>
              <a:t>Context Diagram (Fig. 3.1)</a:t>
            </a:r>
          </a:p>
        </p:txBody>
      </p:sp>
      <p:pic>
        <p:nvPicPr>
          <p:cNvPr id="4" name="Picture 3" descr="contex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73" y="914400"/>
            <a:ext cx="10689973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F5F7F2"/>
                </a:solidFill>
                <a:latin typeface="Calibri"/>
              </a:rPr>
              <a:t>16 / 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  <a:latin typeface="Calibri"/>
              </a:rPr>
              <a:t>Use Case Diagram (Fig. 3.4)</a:t>
            </a:r>
          </a:p>
        </p:txBody>
      </p:sp>
      <p:pic>
        <p:nvPicPr>
          <p:cNvPr id="4" name="Picture 3" descr="use c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8860" y="914400"/>
            <a:ext cx="7543800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F5F7F2"/>
                </a:solidFill>
                <a:latin typeface="Calibri"/>
              </a:rPr>
              <a:t>17 / 35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  <a:latin typeface="Calibri"/>
              </a:rPr>
              <a:t>System Workflow (Fig. 3.5)</a:t>
            </a:r>
          </a:p>
        </p:txBody>
      </p:sp>
      <p:pic>
        <p:nvPicPr>
          <p:cNvPr id="6" name="Picture 5" descr="A diagram of a process flow&#10;&#10;Description automatically generated">
            <a:extLst>
              <a:ext uri="{FF2B5EF4-FFF2-40B4-BE49-F238E27FC236}">
                <a16:creationId xmlns:a16="http://schemas.microsoft.com/office/drawing/2014/main" id="{D42C8D63-03DF-43DE-8DDE-791DA9B81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0766" y="914400"/>
            <a:ext cx="4759987" cy="5029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F5F7F2"/>
                </a:solidFill>
                <a:latin typeface="Calibri"/>
              </a:rPr>
              <a:t>18 / 35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  <a:latin typeface="Calibri"/>
              </a:rPr>
              <a:t>Workflow Decision Loop (Fig. 3.5)</a:t>
            </a:r>
          </a:p>
        </p:txBody>
      </p:sp>
      <p:pic>
        <p:nvPicPr>
          <p:cNvPr id="4" name="Picture 3" descr="proposed system diagr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734"/>
            <a:ext cx="10881360" cy="411453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F5F7F2"/>
                </a:solidFill>
                <a:latin typeface="Calibri"/>
              </a:rPr>
              <a:t>19 / 35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  <a:latin typeface="Calibri"/>
              </a:rPr>
              <a:t>Machine Learning Pipeline (Fig. 3.7)</a:t>
            </a:r>
          </a:p>
        </p:txBody>
      </p:sp>
      <p:pic>
        <p:nvPicPr>
          <p:cNvPr id="4" name="Picture 3" descr="ml pipel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15440"/>
            <a:ext cx="10881360" cy="36271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F5F7F2"/>
                </a:solidFill>
                <a:latin typeface="Calibri"/>
              </a:rPr>
              <a:t>20 / 35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  <a:latin typeface="Calibri"/>
              </a:rPr>
              <a:t>Metadata Bridge (Fig. 3.6)</a:t>
            </a:r>
          </a:p>
        </p:txBody>
      </p:sp>
      <p:pic>
        <p:nvPicPr>
          <p:cNvPr id="4" name="Picture 3" descr="meta data bri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92003"/>
            <a:ext cx="10881360" cy="387399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F5F7F2"/>
                </a:solidFill>
                <a:latin typeface="Calibri"/>
              </a:rPr>
              <a:t>21 / 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  <a:latin typeface="Calibri"/>
              </a:rPr>
              <a:t>Four-Point Grading Logic (Fig. 3.8)</a:t>
            </a:r>
          </a:p>
        </p:txBody>
      </p:sp>
      <p:pic>
        <p:nvPicPr>
          <p:cNvPr id="4" name="Picture 3" descr="four gra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89363"/>
            <a:ext cx="10881360" cy="367927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F5F7F2"/>
                </a:solidFill>
                <a:latin typeface="Calibri"/>
              </a:rPr>
              <a:t>22 / 35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23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Dataset: Classes &amp; Audited Composition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6309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Images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Hole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Missing / Damaged Region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Horizontal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Horizontal Defect Pattern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Vertical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Vertical Defect Pattern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Lines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Thin Irregularity Incl. Pulled Threads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157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Stain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Contamination / Discoloration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398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Defect-Free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Normal Fabric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1,505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0" y="1463040"/>
            <a:ext cx="3566160" cy="713232"/>
          </a:xfrm>
          <a:prstGeom prst="roundRect">
            <a:avLst/>
          </a:prstGeom>
          <a:solidFill>
            <a:srgbClr val="2B7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2,578 Scanned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331720"/>
            <a:ext cx="3566160" cy="713232"/>
          </a:xfrm>
          <a:prstGeom prst="roundRect">
            <a:avLst/>
          </a:prstGeom>
          <a:solidFill>
            <a:srgbClr val="D06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– 17 Exact Duplicates (Hash)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3200400"/>
            <a:ext cx="3566160" cy="713232"/>
          </a:xfrm>
          <a:prstGeom prst="roundRect">
            <a:avLst/>
          </a:prstGeom>
          <a:solidFill>
            <a:srgbClr val="C4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– 12 Quarantined (Cross-Labeled)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069079"/>
            <a:ext cx="3566160" cy="713232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= 2,549 Usable Images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5074920"/>
            <a:ext cx="3566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F5F7F2"/>
                </a:solidFill>
                <a:latin typeface="Calibri"/>
              </a:rPr>
              <a:t>6 Classes, Per-File Cryptographic Hashes, Visual Verification Before Use.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24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Data Audit: Quarantine Ledger &amp; Split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539496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04672" y="2194560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 dirty="0">
                <a:solidFill>
                  <a:srgbClr val="F5F7F2"/>
                </a:solidFill>
                <a:latin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139696"/>
            <a:ext cx="4343400" cy="2103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Quarantine Ledger (Table 3.3)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9× Hole/Line_2018-10-11* + 3× Lines/Line_2018-10-10* — Identical Swatches Cross-Labeled Hole Vs Lines, Several Defect-Free.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Verdict: </a:t>
            </a:r>
            <a:r>
              <a:rPr sz="1500" b="0" i="0" dirty="0" err="1">
                <a:latin typeface="Calibri"/>
              </a:rPr>
              <a:t>Suspect_Cross_Label</a:t>
            </a:r>
            <a:r>
              <a:rPr sz="1500" b="0" i="0" dirty="0">
                <a:latin typeface="Calibri"/>
              </a:rPr>
              <a:t> / </a:t>
            </a:r>
            <a:r>
              <a:rPr sz="1500" b="0" i="0" dirty="0" err="1">
                <a:latin typeface="Calibri"/>
              </a:rPr>
              <a:t>Suspect_Batch</a:t>
            </a:r>
            <a:r>
              <a:rPr sz="1500" b="0" i="0" dirty="0">
                <a:latin typeface="Calibri"/>
              </a:rPr>
              <a:t> — Excluded From Both Train And Test.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Control Pair Verified Clean And Retained (Hole/20180531* Vs Lines/20180531*).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103120"/>
            <a:ext cx="539496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01384" y="2194560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2139696"/>
            <a:ext cx="4343400" cy="2103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Group-Aware Split (Table 3.4)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Seed 42, Test-Fraction 0.2.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Swatch Families And Dated Shoots Never Split Across Sides.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Train: 2,081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Test: 468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Overlap Between Train And Test: 0.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25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Pilot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9167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>
                <a:solidFill>
                  <a:srgbClr val="D99A06"/>
                </a:solidFill>
                <a:latin typeface="Calibri"/>
              </a:rPr>
              <a:t>Report Table 6.1 — Pilot Reference And Upper Bound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567178" cy="2103120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64592" bIns="128016">
            <a:no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144E4C"/>
                </a:solidFill>
                <a:latin typeface="Georgia"/>
              </a:rPr>
              <a:t>98%</a:t>
            </a:r>
          </a:p>
          <a:p>
            <a:pPr algn="ctr">
              <a:lnSpc>
                <a:spcPct val="105000"/>
              </a:lnSpc>
              <a:spcBef>
                <a:spcPts val="900"/>
              </a:spcBef>
            </a:pPr>
            <a:r>
              <a:rPr sz="1500" b="1">
                <a:solidFill>
                  <a:srgbClr val="8A6206"/>
                </a:solidFill>
                <a:latin typeface="Calibri"/>
              </a:rPr>
              <a:t>Class Accuracy</a:t>
            </a:r>
          </a:p>
          <a:p>
            <a:pPr algn="ctr">
              <a:lnSpc>
                <a:spcPct val="105000"/>
              </a:lnSpc>
              <a:spcBef>
                <a:spcPts val="900"/>
              </a:spcBef>
            </a:pPr>
            <a:r>
              <a:rPr sz="1400" b="0">
                <a:solidFill>
                  <a:srgbClr val="5B6570"/>
                </a:solidFill>
                <a:latin typeface="Calibri"/>
              </a:rPr>
              <a:t>Random-Split Reference, Not A Reproduced Result Of This System.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90138" y="1737360"/>
            <a:ext cx="2567178" cy="2103120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64592" bIns="128016">
            <a:no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144E4C"/>
                </a:solidFill>
                <a:latin typeface="Georgia"/>
              </a:rPr>
              <a:t>5.44 h</a:t>
            </a:r>
          </a:p>
          <a:p>
            <a:pPr algn="ctr">
              <a:lnSpc>
                <a:spcPct val="105000"/>
              </a:lnSpc>
              <a:spcBef>
                <a:spcPts val="900"/>
              </a:spcBef>
            </a:pPr>
            <a:r>
              <a:rPr sz="1500" b="1">
                <a:solidFill>
                  <a:srgbClr val="8A6206"/>
                </a:solidFill>
                <a:latin typeface="Calibri"/>
              </a:rPr>
              <a:t>Preparation Time</a:t>
            </a:r>
          </a:p>
          <a:p>
            <a:pPr algn="ctr">
              <a:lnSpc>
                <a:spcPct val="105000"/>
              </a:lnSpc>
              <a:spcBef>
                <a:spcPts val="900"/>
              </a:spcBef>
            </a:pPr>
            <a:r>
              <a:rPr sz="1400" b="0">
                <a:solidFill>
                  <a:srgbClr val="5B6570"/>
                </a:solidFill>
                <a:latin typeface="Calibri"/>
              </a:rPr>
              <a:t>Reference Preparation Time Recorded In The Report.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1737360"/>
            <a:ext cx="2567178" cy="2103120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64592" bIns="128016">
            <a:no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144E4C"/>
                </a:solidFill>
                <a:latin typeface="Georgia"/>
              </a:rPr>
              <a:t>92.0%</a:t>
            </a:r>
          </a:p>
          <a:p>
            <a:pPr algn="ctr">
              <a:lnSpc>
                <a:spcPct val="105000"/>
              </a:lnSpc>
              <a:spcBef>
                <a:spcPts val="900"/>
              </a:spcBef>
            </a:pPr>
            <a:r>
              <a:rPr sz="1500" b="1">
                <a:solidFill>
                  <a:srgbClr val="8A6206"/>
                </a:solidFill>
                <a:latin typeface="Calibri"/>
              </a:rPr>
              <a:t>MAE Improvement</a:t>
            </a:r>
          </a:p>
          <a:p>
            <a:pPr algn="ctr">
              <a:lnSpc>
                <a:spcPct val="105000"/>
              </a:lnSpc>
              <a:spcBef>
                <a:spcPts val="900"/>
              </a:spcBef>
            </a:pPr>
            <a:r>
              <a:rPr sz="1400" b="0">
                <a:solidFill>
                  <a:srgbClr val="5B6570"/>
                </a:solidFill>
                <a:latin typeface="Calibri"/>
              </a:rPr>
              <a:t>Measured On Synthetic Planning Data Only.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73134" y="1737360"/>
            <a:ext cx="2567178" cy="2103120"/>
          </a:xfrm>
          <a:prstGeom prst="roundRect">
            <a:avLst>
              <a:gd name="adj" fmla="val 8000"/>
            </a:avLst>
          </a:prstGeom>
          <a:solidFill>
            <a:srgbClr val="F5F7F2"/>
          </a:solidFill>
          <a:ln w="12700">
            <a:solidFill>
              <a:srgbClr val="E3E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64592" bIns="128016">
            <a:no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144E4C"/>
                </a:solidFill>
                <a:latin typeface="Georgia"/>
              </a:rPr>
              <a:t>8% / 7%</a:t>
            </a:r>
          </a:p>
          <a:p>
            <a:pPr algn="ctr">
              <a:lnSpc>
                <a:spcPct val="105000"/>
              </a:lnSpc>
              <a:spcBef>
                <a:spcPts val="900"/>
              </a:spcBef>
            </a:pPr>
            <a:r>
              <a:rPr sz="1500" b="1">
                <a:solidFill>
                  <a:srgbClr val="8A6206"/>
                </a:solidFill>
                <a:latin typeface="Calibri"/>
              </a:rPr>
              <a:t>Confusion Overlap</a:t>
            </a:r>
          </a:p>
          <a:p>
            <a:pPr algn="ctr">
              <a:lnSpc>
                <a:spcPct val="105000"/>
              </a:lnSpc>
              <a:spcBef>
                <a:spcPts val="900"/>
              </a:spcBef>
            </a:pPr>
            <a:r>
              <a:rPr sz="1400" b="0">
                <a:solidFill>
                  <a:srgbClr val="5B6570"/>
                </a:solidFill>
                <a:latin typeface="Calibri"/>
              </a:rPr>
              <a:t>Horizontal → Hole 8%, Hole → Horizontal 7%.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51375"/>
            <a:ext cx="11091672" cy="841248"/>
          </a:xfrm>
          <a:prstGeom prst="roundRect">
            <a:avLst>
              <a:gd name="adj" fmla="val 14000"/>
            </a:avLst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73152" bIns="73152">
            <a:noAutofit/>
          </a:bodyPr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144E4C"/>
                </a:solidFill>
                <a:latin typeface="Calibri"/>
              </a:rPr>
              <a:t>Chapter 4 Is Still Pending — No Measured Result Of This System Is Claimed.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26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Standards &amp; Compliance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52044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04672" y="2066543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066543"/>
            <a:ext cx="2468880" cy="23591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Software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Reusable Packages, Central Configuration, Version Control With Reviewable Manifests, Seeded Deterministic Training, COCO / YOLO Interchange Formats.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828800"/>
            <a:ext cx="352044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507992" y="2066543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066543"/>
            <a:ext cx="2468880" cy="23591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Hardware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Fixed-Geometry Calibration For Grading, Jetson-Class Edge Device With </a:t>
            </a:r>
            <a:r>
              <a:rPr sz="1500" b="0" i="0" dirty="0" err="1">
                <a:latin typeface="Calibri"/>
              </a:rPr>
              <a:t>TensorRT</a:t>
            </a:r>
            <a:r>
              <a:rPr sz="1500" b="0" i="0" dirty="0">
                <a:latin typeface="Calibri"/>
              </a:rPr>
              <a:t>, Factory-Safe Power Envelope.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828800"/>
            <a:ext cx="352044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211311" y="2066543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2066543"/>
            <a:ext cx="2468880" cy="23591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latin typeface="Calibri"/>
              </a:rPr>
              <a:t>Communication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REST File Handoff To The MES And Dashboard Over HTTP; No Proprietary Protocols.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27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Design Constraints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9377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21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Constraint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How We Handle It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Zero Software Cost; ROI Via Reduced DHU / Chargeback In 2–3 Years At Expected Trial Performance.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Environmental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Small Training Footprint, Low Edge Power Draw, Fewer Faulty Shipments.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Ethical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Cameras Face Fabric, Not Workers; Wrong Labels Are Corrected, Not Ignored; Planning Data Stays Labeled Until Factory Records Take Over.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Health &amp; Safety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Enclosed System Helps Reduce Inspector Eye Strain.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Bangla-Language Labels; Inspectors Trained Toward Supervisor Roles.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Political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No Approvals Required.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Manufacturability &amp; Cost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Computers, Cameras, And Jetson Hardware Are All Moderate-Cost And Readily Available.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8647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Sustainability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Open Formats, Maintainable Scripts, An Expandable Dataset.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28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Estimated Project Budget (Table 5.1)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3823864"/>
              </p:ext>
            </p:extLst>
          </p:nvPr>
        </p:nvGraphicFramePr>
        <p:xfrm>
          <a:off x="777240" y="1417320"/>
          <a:ext cx="82296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Cost Category</a:t>
                      </a:r>
                    </a:p>
                  </a:txBody>
                  <a:tcPr marL="73152" marR="73152"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Estimated Cost (BDT)</a:t>
                      </a:r>
                    </a:p>
                  </a:txBody>
                  <a:tcPr marL="73152" marR="73152" anchor="ctr">
                    <a:solidFill>
                      <a:srgbClr val="D99A0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Dataset Preparation And Auditing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2,000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Camera And Image Acquisition Resources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4,000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Computing And Development Resources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Testing And Integration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2,000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Edge Deployment And Hardware-Related Resources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Documentation And Presentation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Miscellaneous Expenses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548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/>
                      </a: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anchor="ctr">
                    <a:solidFill>
                      <a:srgbClr val="F5F7F2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/>
                      </a:r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16,000</a:t>
                      </a:r>
                    </a:p>
                  </a:txBody>
                  <a:tcPr marL="73152" marR="73152" anchor="ctr">
                    <a:solidFill>
                      <a:srgbClr val="F5F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9555480" y="2779775"/>
            <a:ext cx="2148840" cy="3493009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Estimation Total</a:t>
            </a:r>
          </a:p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16,000 BDT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29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Project Plan (Table 3.7; Gantt: Fig. 3.9)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/>
                <a:gridCol w="3291840"/>
              </a:tblGrid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marL="73152" marR="73152"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Schedule / Status</a:t>
                      </a:r>
                    </a:p>
                  </a:txBody>
                  <a:tcPr marL="73152" marR="73152" anchor="ctr">
                    <a:solidFill>
                      <a:srgbClr val="D99A0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Audit / Split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Completed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Reproduction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Weeks 1–2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Weeks 3–10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Anomaly Detection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Weeks 8–14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Lead-Time Planning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Weeks 12–18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Edge Deployment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Weeks 16–24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Testing And Evaluation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Weeks 24–28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Documentation And Write-Up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400" b="0">
                          <a:solidFill>
                            <a:srgbClr val="5B6570"/>
                          </a:solidFill>
                          <a:latin typeface="Calibri"/>
                        </a:rPr>
                        <a:t>Weeks 24–32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961888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 i="0" dirty="0">
                <a:solidFill>
                  <a:srgbClr val="F5F7F2"/>
                </a:solidFill>
                <a:latin typeface="Calibri"/>
              </a:rPr>
              <a:t>Audit / Split (Done) → Reproduction → Segmentation → Anomaly → Planning → Edge → Write-Up, Over 32 Weeks.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640080" y="320040"/>
            <a:ext cx="50292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800" b="1">
                <a:solidFill>
                  <a:srgbClr val="F5F8F4"/>
                </a:solidFill>
                <a:latin typeface="Calibri"/>
              </a:rPr>
              <a:t>Complex Engineering Problem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1644331"/>
              </p:ext>
            </p:extLst>
          </p:nvPr>
        </p:nvGraphicFramePr>
        <p:xfrm>
          <a:off x="1003895" y="1028700"/>
          <a:ext cx="9966957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38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38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38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3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38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2385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385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845820"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P1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Depth Of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Knowledge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P2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Conflicting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Requirements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P3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Depth Of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Analysis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P4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Familiarity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Of Issues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P5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Applicable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Codes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P6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Stakeholder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Involvement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P7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Inter-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Dependence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58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5B657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5B657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1010703" y="2743200"/>
            <a:ext cx="448056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500" b="1">
                <a:solidFill>
                  <a:srgbClr val="F2CA46"/>
                </a:solidFill>
                <a:latin typeface="Calibri"/>
              </a:rPr>
              <a:t>P1 - Knowledge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0703" y="3127248"/>
            <a:ext cx="448056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 b="0">
                <a:solidFill>
                  <a:srgbClr val="F5F8F4"/>
                </a:solidFill>
                <a:latin typeface="Calibri"/>
              </a:rPr>
              <a:t>Computer Vision, Image Processing, Deep Learning, Anomaly Detection, Machine Learning, Production Planning, YOLO-Based Defect Detection, Few-Shot Anomaly Detection And Edge Deployment.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0703" y="4160520"/>
            <a:ext cx="448056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500" b="1">
                <a:solidFill>
                  <a:srgbClr val="F2CA46"/>
                </a:solidFill>
                <a:latin typeface="Calibri"/>
              </a:rPr>
              <a:t>P3 - Analysis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0703" y="4544568"/>
            <a:ext cx="448056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 b="0">
                <a:solidFill>
                  <a:srgbClr val="F5F8F4"/>
                </a:solidFill>
                <a:latin typeface="Calibri"/>
              </a:rPr>
              <a:t>Requires Analysis Of Dataset Quality, Duplicate And Quarantined Samples, Group-Aware Splitting, Detection Metrics (mAP) And Prediction Metrics (MAE, RMSE, R²).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8463" y="2743200"/>
            <a:ext cx="448056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500" b="1">
                <a:solidFill>
                  <a:srgbClr val="F2CA46"/>
                </a:solidFill>
                <a:latin typeface="Calibri"/>
              </a:rPr>
              <a:t>P2 - Trade-Off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8463" y="3127248"/>
            <a:ext cx="448056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 b="0">
                <a:solidFill>
                  <a:srgbClr val="F5F8F4"/>
                </a:solidFill>
                <a:latin typeface="Calibri"/>
              </a:rPr>
              <a:t>Balances Defect-Detection Accuracy, Real-Time Processing Speed, Edge-Resource Limits And Reliable Lead-Time Prediction From Available Manufacturing Data.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8463" y="4160520"/>
            <a:ext cx="448056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500" b="1">
                <a:solidFill>
                  <a:srgbClr val="F2CA46"/>
                </a:solidFill>
                <a:latin typeface="Calibri"/>
              </a:rPr>
              <a:t>P6/P7 - Involvement &amp; Interdependence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8463" y="4544568"/>
            <a:ext cx="448056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 b="0">
                <a:solidFill>
                  <a:srgbClr val="F5F8F4"/>
                </a:solidFill>
                <a:latin typeface="Calibri"/>
              </a:rPr>
              <a:t>Supports Inspectors, Planners And Developers. Preprocessing Affects Detection, Detection Affects Ds, And Ds Affects Lead-Time Prediction.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419088"/>
            <a:ext cx="27432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00" b="0">
                <a:solidFill>
                  <a:srgbClr val="F5F8F4"/>
                </a:solidFill>
                <a:latin typeface="Calibri"/>
              </a:rPr>
              <a:t>FGAP | FYDP-I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6419088"/>
            <a:ext cx="27432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000" b="0">
                <a:solidFill>
                  <a:srgbClr val="F5F8F4"/>
                </a:solidFill>
                <a:latin typeface="Calibri"/>
              </a:rPr>
              <a:t>Report: Table 5.2 And Section 5.4.1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F5F7F2"/>
                </a:solidFill>
                <a:latin typeface="Calibri"/>
              </a:rPr>
              <a:t>30 / 35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640080" y="320040"/>
            <a:ext cx="53035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800" b="1">
                <a:solidFill>
                  <a:srgbClr val="F5F8F4"/>
                </a:solidFill>
                <a:latin typeface="Calibri"/>
              </a:rPr>
              <a:t>Complex Engineering Activities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707865"/>
              </p:ext>
            </p:extLst>
          </p:nvPr>
        </p:nvGraphicFramePr>
        <p:xfrm>
          <a:off x="1035996" y="963717"/>
          <a:ext cx="9144000" cy="12196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9826"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A1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Range Of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Resources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A2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Level Of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Interaction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A3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Innovation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A4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Consequences For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Society And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Environment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A5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  <a:latin typeface="Calibri"/>
                        </a:rPr>
                        <a:t>Familiarity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9827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4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1039886" y="2743202"/>
            <a:ext cx="448056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500" b="1">
                <a:solidFill>
                  <a:srgbClr val="F2CA46"/>
                </a:solidFill>
                <a:latin typeface="Calibri"/>
              </a:rPr>
              <a:t>A1 - Resources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39886" y="3127250"/>
            <a:ext cx="448056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 b="0">
                <a:solidFill>
                  <a:srgbClr val="F5F8F4"/>
                </a:solidFill>
                <a:latin typeface="Calibri"/>
              </a:rPr>
              <a:t>Uses Datasets, Python Libraries, Ultralytics YOLO, OpenCV, Scikit-Learn, Cloud GPU Resources, Industrial Cameras And Jetson-Class Edge Hardware.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39886" y="4160522"/>
            <a:ext cx="448056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500" b="1">
                <a:solidFill>
                  <a:srgbClr val="F2CA46"/>
                </a:solidFill>
                <a:latin typeface="Calibri"/>
              </a:rPr>
              <a:t>A3 - Innovation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39886" y="4544570"/>
            <a:ext cx="448056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 b="0">
                <a:solidFill>
                  <a:srgbClr val="F5F8F4"/>
                </a:solidFill>
                <a:latin typeface="Calibri"/>
              </a:rPr>
              <a:t>Connects Fabric Defect Detection With Production Lead-Time Prediction Through The Defect Density Score (Ds) And A Few-Shot Anomaly Branch.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77646" y="2743202"/>
            <a:ext cx="448056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500" b="1">
                <a:solidFill>
                  <a:srgbClr val="F2CA46"/>
                </a:solidFill>
                <a:latin typeface="Calibri"/>
              </a:rPr>
              <a:t>A2 - Interaction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77646" y="3127250"/>
            <a:ext cx="448056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 b="0">
                <a:solidFill>
                  <a:srgbClr val="F5F8F4"/>
                </a:solidFill>
                <a:latin typeface="Calibri"/>
              </a:rPr>
              <a:t>Image Input, Preprocessing, YOLO Detection, Metadata Bridge, Defect Scoring, Prediction And Dashboard Output Closely Interact Throughout The System.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77646" y="4160522"/>
            <a:ext cx="448056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500" b="1">
                <a:solidFill>
                  <a:srgbClr val="F2CA46"/>
                </a:solidFill>
                <a:latin typeface="Calibri"/>
              </a:rPr>
              <a:t>A4/A5 - Consequences &amp; Familiarity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77646" y="4544570"/>
            <a:ext cx="448056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 b="0">
                <a:solidFill>
                  <a:srgbClr val="F5F8F4"/>
                </a:solidFill>
                <a:latin typeface="Calibri"/>
              </a:rPr>
              <a:t>Improves Quality Inspection, Production Planning And Resource Use. Integrates Both Established Tools And Advanced Techniques In One System.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419088"/>
            <a:ext cx="27432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00" b="0">
                <a:solidFill>
                  <a:srgbClr val="F5F8F4"/>
                </a:solidFill>
                <a:latin typeface="Calibri"/>
              </a:rPr>
              <a:t>FGAP | FYDP-I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6419088"/>
            <a:ext cx="27432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000" b="0">
                <a:solidFill>
                  <a:srgbClr val="F5F8F4"/>
                </a:solidFill>
                <a:latin typeface="Calibri"/>
              </a:rPr>
              <a:t>Report: Table 5.3 And Section 5.4.2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F5F7F2"/>
                </a:solidFill>
                <a:latin typeface="Calibri"/>
              </a:rPr>
              <a:t>31 / 35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32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Risks &amp; Mitigations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539496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04672" y="2020824"/>
            <a:ext cx="475488" cy="47548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 dirty="0">
                <a:solidFill>
                  <a:srgbClr val="F5F7F2"/>
                </a:solidFill>
                <a:latin typeface="Calibri"/>
              </a:rPr>
              <a:t>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020824"/>
            <a:ext cx="4343400" cy="27706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000" b="1">
                <a:latin typeface="Calibri"/>
              </a:rPr>
              <a:t>Key Risks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0">
                <a:latin typeface="Calibri"/>
              </a:rPr>
              <a:t>Free Cloud GPU Quota (Google Colab / Departmental GPU Lab, Report §5.4.2): If Exhausted, Fall Back To Existing Computers And Defer Edge Hardware.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0">
                <a:latin typeface="Calibri"/>
              </a:rPr>
              <a:t>Factory Data Access: If Unavailable, Fallback To Calibrated Queuing Simulation With Documented Parameters; Paired Ds‑vs‑defect Analysis Is The Contribution.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0">
                <a:latin typeface="Calibri"/>
              </a:rPr>
              <a:t>Quarantine Ambiguity: 152‑file Lines Batch May Hide A Second Quarantine; Visual Review Still Open.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783080"/>
            <a:ext cx="539496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01384" y="2020824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2020824"/>
            <a:ext cx="4343400" cy="27706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000" b="1">
                <a:latin typeface="Calibri"/>
              </a:rPr>
              <a:t>Mitigations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0">
                <a:latin typeface="Calibri"/>
              </a:rPr>
              <a:t>Checkpoint During Training So Quota Loss Costs Minutes, Not Hours.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0">
                <a:latin typeface="Calibri"/>
              </a:rPr>
              <a:t>Paired Dataset (Defect Counts + Our Ds) Is Itself A Contribution If Factory Declines.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0">
                <a:latin typeface="Calibri"/>
              </a:rPr>
              <a:t>Visual Review Of Lines Batch In Progress; Interim: Report As ‘Suspicious’ In Datasheet.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33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Task Allocation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Primary Responsibility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Abdullah Al Fahim Zahin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Baseline Reproduction, YOLO Model Training And Evaluation, Lead-Time Prediction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Nafiz Imtiaz Labib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Dataset Collection And Auditing, Dataset Split And Preparation, Edge Deployment And Validation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MST Riya Akter Satu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Requirement Analysis, Image Preprocessing, Documentation And Report Writing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Mohammed Amin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Few-Shot Anomaly Detection Using PatchCore / DINOv2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Fahim Ferdous Niloy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Metadata Bridge, Defect Density Score (Ds) Calculation, Rolling Average, Planner Dashboard Development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Md. Mostafizur Rahman Murad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Testing And Evaluation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34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Conclusion &amp; Future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69608"/>
            <a:ext cx="5394960" cy="20567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04672" y="2420560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 dirty="0">
                <a:solidFill>
                  <a:srgbClr val="F5F7F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383984"/>
            <a:ext cx="4343400" cy="183128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2000" b="1" i="0" dirty="0">
                <a:latin typeface="Calibri"/>
              </a:rPr>
              <a:t>Summary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Reviewed 20 Works, Fixed Requirements, Chose The Detect → Segment → Anomaly → Predict Methodology.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Audited The Dataset: Hashed Every Image, Removed 17 Duplicates, Quarantined 12 Files, Confirmed 2,081 Train / 468 Test With Zero Overlap.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That Audit Supports Every Number That Follows.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469608"/>
            <a:ext cx="5394960" cy="20567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01384" y="2078904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 dirty="0">
                <a:solidFill>
                  <a:srgbClr val="F5F7F2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2042328"/>
            <a:ext cx="4343400" cy="2514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2000" b="1" i="0" dirty="0">
                <a:latin typeface="Calibri"/>
              </a:rPr>
              <a:t>Future Work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Relabel Quarantine Using A </a:t>
            </a:r>
            <a:r>
              <a:rPr sz="1500" b="0" i="0" dirty="0" err="1">
                <a:latin typeface="Calibri"/>
              </a:rPr>
              <a:t>pHash</a:t>
            </a:r>
            <a:r>
              <a:rPr sz="1500" b="0" i="0" dirty="0">
                <a:latin typeface="Calibri"/>
              </a:rPr>
              <a:t> Sweep.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Gather Roll-ID-Disciplined V2 Factory Data.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Build A Bangla Dashboard For Planners.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Benchmark Against </a:t>
            </a:r>
            <a:r>
              <a:rPr sz="1500" b="0" i="0" dirty="0" err="1">
                <a:latin typeface="Calibri"/>
              </a:rPr>
              <a:t>Isl</a:t>
            </a:r>
            <a:r>
              <a:rPr sz="1500" b="0" i="0" dirty="0">
                <a:latin typeface="Calibri"/>
              </a:rPr>
              <a:t>-Knit And </a:t>
            </a:r>
            <a:r>
              <a:rPr sz="1500" b="0" i="0" dirty="0" err="1">
                <a:latin typeface="Calibri"/>
              </a:rPr>
              <a:t>FabricSpotDefect</a:t>
            </a:r>
            <a:r>
              <a:rPr sz="1500" b="0" i="0" dirty="0">
                <a:latin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latin typeface="Calibri"/>
              </a:rPr>
              <a:t>Submit Results To A Conference.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F5F7F2"/>
                </a:solidFill>
                <a:latin typeface="Calibri"/>
              </a:rPr>
              <a:t>Limitations: Pilot Localization Is Estimated, Not Measured; Planning Labels Are Synthetic; 1,994 Files Lack Group IDs; Minority Classes Are Thin; Industrial Validation Is Pending.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7F2"/>
                </a:solidFill>
                <a:latin typeface="Calibri"/>
              </a:rPr>
              <a:t>Defect-to-Delivery | FYDP-I •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5F7F2"/>
                </a:solidFill>
                <a:latin typeface="Calibri"/>
              </a:rPr>
              <a:t>35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642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F5F7F2"/>
                </a:solidFill>
                <a:latin typeface="Georgia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66105"/>
            <a:ext cx="1106424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2000" b="0" i="0" dirty="0">
                <a:solidFill>
                  <a:srgbClr val="F5F7F2"/>
                </a:solidFill>
                <a:latin typeface="Calibri"/>
              </a:rPr>
              <a:t>Any Question?</a:t>
            </a:r>
            <a:endParaRPr sz="2000" b="0" i="0" dirty="0">
              <a:solidFill>
                <a:srgbClr val="F5F7F2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F5F7F2"/>
                </a:solidFill>
                <a:latin typeface="Calibri"/>
              </a:rPr>
              <a:t>Defect-to-Delivery — Fabric Defect Detection &amp; Lead-Time Prediction | FYDP-I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3277</Words>
  <Application>Microsoft Office PowerPoint</Application>
  <PresentationFormat>Custom</PresentationFormat>
  <Paragraphs>645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4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Fahim Zahin</cp:lastModifiedBy>
  <cp:revision>8</cp:revision>
  <dcterms:created xsi:type="dcterms:W3CDTF">2013-01-27T09:14:16Z</dcterms:created>
  <dcterms:modified xsi:type="dcterms:W3CDTF">2026-09-30T17:35:09Z</dcterms:modified>
  <cp:category/>
</cp:coreProperties>
</file>