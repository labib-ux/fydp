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5" r:id="rId12"/>
    <p:sldId id="266" r:id="rId13"/>
    <p:sldId id="281" r:id="rId14"/>
    <p:sldId id="267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68" r:id="rId24"/>
    <p:sldId id="269" r:id="rId25"/>
    <p:sldId id="270" r:id="rId26"/>
    <p:sldId id="276" r:id="rId32"/>
    <p:sldId id="277" r:id="rId33"/>
    <p:sldId id="278" r:id="rId34"/>
    <p:sldId id="279" r:id="rId35"/>
    <p:sldId id="294" r:id="rId36"/>
    <p:sldId id="295" r:id="rId37"/>
    <p:sldId id="280" r:id="rId38"/>
    <p:sldId id="282" r:id="rId39"/>
    <p:sldId id="283" r:id="rId40"/>
    <p:sldId id="284" r:id="rId4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9E5B"/>
    <a:srgbClr val="0858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FYDP-I •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5F7F2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F5F7F2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F5F7F2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44168"/>
            <a:ext cx="5394960" cy="133776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581912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563624"/>
            <a:ext cx="3767328" cy="96286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344168"/>
            <a:ext cx="5394960" cy="133776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1581912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1563624"/>
            <a:ext cx="3767328" cy="96286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91663"/>
            <a:ext cx="3520440" cy="1542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04672" y="3029407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011119"/>
            <a:ext cx="2441448" cy="1167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2791663"/>
            <a:ext cx="3520440" cy="1542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507992" y="3029407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011119"/>
            <a:ext cx="2441448" cy="1167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 err="1">
                <a:latin typeface="Calibri"/>
              </a:rPr>
              <a:t>Nafiz Imtiaz Labib</a:t>
            </a:r>
            <a:r>
              <a:rPr sz="1350" b="1" i="0" dirty="0"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400" b="0" i="0" dirty="0">
                <a:latin typeface="Calibri"/>
              </a:rPr>
              <a:t>0112310422</a:t>
            </a:r>
            <a:r>
              <a:rPr lang="en-US" sz="1100" dirty="0"/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2791663"/>
            <a:ext cx="3520440" cy="1542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211312" y="3029407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011119"/>
            <a:ext cx="2441448" cy="1167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MST Riya </a:t>
            </a:r>
            <a:r>
              <a:rPr sz="1500" b="1" i="0" dirty="0" err="1">
                <a:latin typeface="Calibri"/>
              </a:rPr>
              <a:t>Akter</a:t>
            </a:r>
            <a:r>
              <a:rPr sz="1500" b="1" i="0" dirty="0">
                <a:latin typeface="Calibri"/>
              </a:rPr>
              <a:t>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443984"/>
            <a:ext cx="3520440" cy="1771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04672" y="468172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663440"/>
            <a:ext cx="2441448" cy="13962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443984"/>
            <a:ext cx="3520440" cy="1771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507992" y="468172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663440"/>
            <a:ext cx="2441448" cy="13962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Fahim Ferdous </a:t>
            </a:r>
            <a:r>
              <a:rPr sz="1500" b="1" i="0" dirty="0" err="1">
                <a:latin typeface="Calibri"/>
              </a:rPr>
              <a:t>Niloy</a:t>
            </a:r>
            <a:endParaRPr sz="1350" b="1" i="0" dirty="0">
              <a:latin typeface="Calibri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443984"/>
            <a:ext cx="3520440" cy="1771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211312" y="468172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63440"/>
            <a:ext cx="2441448" cy="13962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Md. </a:t>
            </a:r>
            <a:r>
              <a:rPr sz="1500" b="1" i="0" dirty="0" err="1">
                <a:latin typeface="Calibri"/>
              </a:rPr>
              <a:t>Mostafizur</a:t>
            </a:r>
            <a:r>
              <a:rPr sz="1500" b="1" i="0" dirty="0">
                <a:latin typeface="Calibri"/>
              </a:rPr>
              <a:t>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Complex Engineering Problem, Task Allocation &amp; Conclusion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A9AE5F74-44E4-4A0A-9976-124DAFF38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77" y="1505102"/>
            <a:ext cx="1021900" cy="101612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54864" dist="36576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6" name="Picture 45" descr="A person in a suit and tie&#10;&#10;Description automatically generated">
            <a:extLst>
              <a:ext uri="{FF2B5EF4-FFF2-40B4-BE49-F238E27FC236}">
                <a16:creationId xmlns:a16="http://schemas.microsoft.com/office/drawing/2014/main" id="{FDC7340E-25ED-4BE1-B6FF-E0E3B5CA5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6616" y="1442008"/>
            <a:ext cx="1132387" cy="11430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54864" dist="36576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72768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1. Problem &amp; Motivation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64224" y="1572768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2. Objectives &amp;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07791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3. Literature Review &amp; Gap 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2907791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4. Requirement Analysis &amp; Dataset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42816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5. System Design &amp; Diagrams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4242816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6. Standards, Constraints, Budget &amp;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14416"/>
            <a:ext cx="10698480" cy="694944"/>
          </a:xfrm>
          <a:prstGeom prst="roundRect">
            <a:avLst>
              <a:gd name="adj" fmla="val 8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7. 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Problem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▪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▪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▪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▪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 dirty="0">
                <a:solidFill>
                  <a:srgbClr val="F5F7F2"/>
                </a:solidFill>
                <a:latin typeface="Georgia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9304"/>
            <a:ext cx="11091672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D99A06"/>
                </a:solidFill>
                <a:latin typeface="Calibri"/>
              </a:rPr>
              <a:t>Why This Project — Motivation From The Report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580894" cy="27889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8096" y="1956815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44E4C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78608"/>
            <a:ext cx="214198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Dataset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35808"/>
            <a:ext cx="2159812" cy="1140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570"/>
                </a:solidFill>
                <a:latin typeface="Calibri"/>
              </a:rPr>
              <a:t>2,578 Factory Images Scanned. 17 Exact Duplicates Removed By Hash And 12 Cross-Labeled Files Quarantined Visually, Leaving 2,549 Usable Images.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5566" y="1737360"/>
            <a:ext cx="2580894" cy="27889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5022" y="1956815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44E4C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5022" y="2578608"/>
            <a:ext cx="214198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Reliability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022" y="3035808"/>
            <a:ext cx="2159812" cy="1140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570"/>
                </a:solidFill>
                <a:latin typeface="Calibri"/>
              </a:rPr>
              <a:t>No Reliable Audit Separates Training From Evaluation Groups. All Images Are Indexed By Hash Sums To Ensure Disjoint Swatch Families.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2492" y="1737360"/>
            <a:ext cx="2580894" cy="27889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1948" y="1956815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44E4C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1948" y="2578608"/>
            <a:ext cx="214198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Upper-Bound 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1948" y="3035808"/>
            <a:ext cx="2159812" cy="1140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570"/>
                </a:solidFill>
                <a:latin typeface="Calibri"/>
              </a:rPr>
              <a:t>The Pilot System Scored 98% On A Randomly Split Test Set. This Is A Reference Point Only — Not A Reproduced Result Of This System.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9418" y="1737360"/>
            <a:ext cx="2580894" cy="27889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78874" y="1956815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44E4C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8874" y="2578608"/>
            <a:ext cx="214198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Planned 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8874" y="3035808"/>
            <a:ext cx="2159812" cy="1140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570"/>
                </a:solidFill>
                <a:latin typeface="Calibri"/>
              </a:rPr>
              <a:t>A Closed-Loop Architecture With A Planner Dashboard Showing Defect Categories, Defect Density Score (Ds) And Estimated Production Hours In Real Time.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82312"/>
            <a:ext cx="11091672" cy="731520"/>
          </a:xfrm>
          <a:prstGeom prst="roundRect">
            <a:avLst>
              <a:gd name="adj" fmla="val 8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The Methodology Also Extends To Predictive Maintenance And Waste Estimation.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Objectives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1685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Methodology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3682"/>
            <a:ext cx="3520440" cy="19888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85714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838858"/>
            <a:ext cx="2441448" cy="16322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73682"/>
            <a:ext cx="3520440" cy="19888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507992" y="185714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38858"/>
            <a:ext cx="2441448" cy="14036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Instance Masks For Accurate Stain / Pulled-Thread Area Vs Over-Estimating Boxes; Mask </a:t>
            </a:r>
            <a:r>
              <a:rPr sz="1500" b="0" i="0" dirty="0" err="1">
                <a:latin typeface="Calibri"/>
              </a:rPr>
              <a:t>IoU</a:t>
            </a:r>
            <a:r>
              <a:rPr sz="1500" b="0" i="0" dirty="0">
                <a:latin typeface="Calibri"/>
              </a:rPr>
              <a:t>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73682"/>
            <a:ext cx="3520440" cy="19888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11311" y="185714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38858"/>
            <a:ext cx="2441448" cy="14036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Few-Shot Anomaly Detection (</a:t>
            </a:r>
            <a:r>
              <a:rPr sz="1500" b="0" i="0" dirty="0" err="1">
                <a:latin typeface="Calibri"/>
              </a:rPr>
              <a:t>PatchCore</a:t>
            </a:r>
            <a:r>
              <a:rPr sz="1500" b="0" i="0" dirty="0">
                <a:latin typeface="Calibri"/>
              </a:rPr>
              <a:t>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08222"/>
            <a:ext cx="3520440" cy="1760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4672" y="389168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873398"/>
            <a:ext cx="2441448" cy="14036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Random Forest Regression On Speed, Quantity, Ds Ablated Against </a:t>
            </a:r>
            <a:r>
              <a:rPr sz="1500" b="0" i="0" dirty="0" err="1">
                <a:latin typeface="Calibri"/>
              </a:rPr>
              <a:t>XGBoost</a:t>
            </a:r>
            <a:r>
              <a:rPr sz="1500" b="0" i="0" dirty="0">
                <a:latin typeface="Calibri"/>
              </a:rPr>
              <a:t>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08222"/>
            <a:ext cx="3520440" cy="1760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507992" y="389168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73398"/>
            <a:ext cx="2441448" cy="11750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08222"/>
            <a:ext cx="3520440" cy="1760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211311" y="389168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73398"/>
            <a:ext cx="2441448" cy="14036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Python, </a:t>
            </a:r>
            <a:r>
              <a:rPr sz="1500" b="0" i="0" dirty="0" err="1">
                <a:latin typeface="Calibri"/>
              </a:rPr>
              <a:t>Ultralytics</a:t>
            </a:r>
            <a:r>
              <a:rPr sz="1500" b="0" i="0" dirty="0">
                <a:latin typeface="Calibri"/>
              </a:rPr>
              <a:t> YOLO, OpenCV, Scikit-Learn On Jetson-Class Edge With </a:t>
            </a:r>
            <a:r>
              <a:rPr sz="1500" b="0" i="0" dirty="0" err="1">
                <a:latin typeface="Calibri"/>
              </a:rPr>
              <a:t>TensorRT</a:t>
            </a:r>
            <a:r>
              <a:rPr sz="1500" b="0" i="0" dirty="0"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8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Related Work — Fabric Defect Datasets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 dirty="0" err="1">
                <a:solidFill>
                  <a:srgbClr val="F5F7F2"/>
                </a:solidFill>
                <a:latin typeface="Calibri"/>
              </a:rPr>
              <a:t>EfficientDet</a:t>
            </a:r>
            <a:r>
              <a:rPr sz="1500" b="0" i="0">
                <a:solidFill>
                  <a:srgbClr val="F5F7F2"/>
                </a:solidFill>
                <a:latin typeface="Calibri"/>
              </a:rPr>
              <a:t> + Jetson TX2 At 22.7 FPS (2.5× Cloud); YOLOv11 On Orin Nano; YOLOv11 +70% Avg. </a:t>
            </a:r>
            <a:r>
              <a:rPr sz="1500" b="0" i="0" dirty="0">
                <a:solidFill>
                  <a:srgbClr val="F5F7F2"/>
                </a:solidFill>
                <a:latin typeface="Calibri"/>
              </a:rPr>
              <a:t>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Calibri"/>
              </a:rPr>
              <a:t>No Published Vision–Ds Lead-Time Fusion Exists — This Is Our Gap. Closest Work: CIIS 2024 Wastage Prediction (Supervised, Own Dataset Of 633 Samples);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10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Literature Analysis (Selected)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595443"/>
              </p:ext>
            </p:extLst>
          </p:nvPr>
        </p:nvGraphicFramePr>
        <p:xfrm>
          <a:off x="575945" y="932688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F5F7F2"/>
                </a:solidFill>
                <a:latin typeface="Georgia"/>
              </a:rPr>
              <a:t>Literature Taxonomy (20 Works)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11 / 35</a:t>
            </a:r>
          </a:p>
        </p:txBody>
      </p:sp>
      <p:pic>
        <p:nvPicPr>
          <p:cNvPr id="7" name="Picture 6" descr="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911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53158"/>
            <a:ext cx="2651760" cy="21991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22747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209190"/>
            <a:ext cx="1609343" cy="186080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953158"/>
            <a:ext cx="2651760" cy="21991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584448" y="222747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2209190"/>
            <a:ext cx="1609343" cy="1860803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953158"/>
            <a:ext cx="2651760" cy="21991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64224" y="222747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2209190"/>
            <a:ext cx="1609343" cy="16322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953158"/>
            <a:ext cx="2651760" cy="21991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44000" y="222747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2209190"/>
            <a:ext cx="1609343" cy="16322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F5F7F2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0215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215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Group-Aware Split (2,081/468)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215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Four-Point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215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Jetson-Class Target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215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Seed 42; 2,081 Train / 468 Test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215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Vision-To-Hours 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4184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Planner Dashboard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Planner Dashboard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Planned Output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0215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628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9167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noAutofit/>
          </a:bodyPr>
          <a:lstStyle/>
          <a:p>
            <a:pPr algn="l"/>
            <a:r>
              <a:rPr sz="1500" b="1">
                <a:solidFill>
                  <a:srgbClr val="D99A06"/>
                </a:solidFill>
                <a:latin typeface="Calibri"/>
              </a:rPr>
              <a:t>Functional Requirements — What The System Must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21408"/>
            <a:ext cx="1109167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noAutofit/>
          </a:bodyPr>
          <a:lstStyle/>
          <a:p>
            <a:pPr algn="l"/>
            <a:r>
              <a:rPr sz="1500" b="1">
                <a:solidFill>
                  <a:srgbClr val="D99A06"/>
                </a:solidFill>
                <a:latin typeface="Calibri"/>
              </a:rPr>
              <a:t>Non-Functional Requirements — How Well It Must Perform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FR1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Input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54856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69740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FR2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Preprocess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75957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90841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FR3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Detect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197057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11941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FR4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Classify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818158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33042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FR5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Score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39258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54142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FR6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Predict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0060359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75243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FR7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Output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NFR1 · Accurate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01721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NFR2 · Robust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4803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NFR3 · Efficient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07884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NFR4 · Scalable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60966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NFR5 · Maintainable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3035808"/>
          <a:ext cx="5623560" cy="3072384"/>
        </p:xfrm>
        <a:graphic>
          <a:graphicData uri="http://schemas.openxmlformats.org/drawingml/2006/table">
            <a:tbl>
              <a:tblPr firstRow="0" bandRow="0"/>
              <a:tblGrid>
                <a:gridCol w="749808"/>
                <a:gridCol w="487375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82296" marR="64008" marT="18288" marB="18288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82296" marR="64008" marT="18288" marB="18288" anchor="ctr">
                    <a:solidFill>
                      <a:srgbClr val="D99A0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FR1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Take Fabric Image / Stream As Input.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FR2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Preprocess And Normalise The Image.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FR3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Detect The Type Of Defect.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FR4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Identify Defect-Free Images.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FR5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Calculate Area Ratio And Defect Density Score (Ds).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FR6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Predict Lead Time From Quality Signals.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FR7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Output Result To The Planner Dashboard.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199632" y="3035808"/>
          <a:ext cx="5623560" cy="3072384"/>
        </p:xfrm>
        <a:graphic>
          <a:graphicData uri="http://schemas.openxmlformats.org/drawingml/2006/table">
            <a:tbl>
              <a:tblPr firstRow="0" bandRow="0"/>
              <a:tblGrid>
                <a:gridCol w="749808"/>
                <a:gridCol w="487375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82296" marR="64008" marT="18288" marB="18288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82296" marR="64008" marT="18288" marB="18288" anchor="ctr">
                    <a:solidFill>
                      <a:srgbClr val="D99A06"/>
                    </a:solidFill>
                  </a:tcPr>
                </a:tc>
              </a:tr>
              <a:tr h="537667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NFR1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Accurate — mAP Tracked During Evaluation.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537667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NFR2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Robust To Lighting And Texture Variation.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537667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NFR3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Efficient — Real-Time Processing, ≥15 FPS At The Edge.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537667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NFR4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Scalable — New Fabrics Via The Few-Shot Branch.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537667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NFR5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Maintainable — Modular Code, One Configuration Point.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48640" y="6132880"/>
            <a:ext cx="11091672" cy="231343"/>
          </a:xfrm>
          <a:prstGeom prst="rect">
            <a:avLst/>
          </a:prstGeom>
          <a:noFill/>
        </p:spPr>
        <p:txBody>
          <a:bodyPr wrap="square" lIns="36576" rIns="36576" tIns="0" bIns="0" anchor="t">
            <a:noAutofit/>
          </a:bodyPr>
          <a:lstStyle/>
          <a:p>
            <a:pPr algn="l"/>
            <a:r>
              <a:rPr sz="1400" b="0">
                <a:solidFill>
                  <a:srgbClr val="F5F7F2"/>
                </a:solidFill>
                <a:latin typeface="Calibri"/>
              </a:rPr>
              <a:t>Source: Report Section 3.1, Table 3.1 — 7 Functional And 5 Non-Functional Requirements, With Measurable Targets.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536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Proposed System Diagram (Fig. 3.2)</a:t>
            </a:r>
          </a:p>
        </p:txBody>
      </p:sp>
      <p:pic>
        <p:nvPicPr>
          <p:cNvPr id="4" name="Picture 3" descr="architectural de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16" y="914400"/>
            <a:ext cx="9658286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536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Context Diagram (Fig. 3.1)</a:t>
            </a:r>
          </a:p>
        </p:txBody>
      </p:sp>
      <p:pic>
        <p:nvPicPr>
          <p:cNvPr id="4" name="Picture 3" descr="contex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73" y="914400"/>
            <a:ext cx="10689973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536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Use Case Diagram (Fig. 3.4)</a:t>
            </a:r>
          </a:p>
        </p:txBody>
      </p:sp>
      <p:pic>
        <p:nvPicPr>
          <p:cNvPr id="4" name="Picture 3" descr="use c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60" y="914400"/>
            <a:ext cx="75438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536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System Workflow (Fig. 3.5)</a:t>
            </a:r>
          </a:p>
        </p:txBody>
      </p:sp>
      <p:pic>
        <p:nvPicPr>
          <p:cNvPr id="6" name="Picture 5" descr="A diagram of a process flow&#10;&#10;Description automatically generated">
            <a:extLst>
              <a:ext uri="{FF2B5EF4-FFF2-40B4-BE49-F238E27FC236}">
                <a16:creationId xmlns:a16="http://schemas.microsoft.com/office/drawing/2014/main" id="{D42C8D63-03DF-43DE-8DDE-791DA9B81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766" y="914400"/>
            <a:ext cx="4759987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536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Workflow Decision Loop (Fig. 3.5)</a:t>
            </a:r>
          </a:p>
        </p:txBody>
      </p:sp>
      <p:pic>
        <p:nvPicPr>
          <p:cNvPr id="4" name="Picture 3" descr="proposed system 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734"/>
            <a:ext cx="10881360" cy="41145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536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Machine Learning Pipeline (Fig. 3.7)</a:t>
            </a:r>
          </a:p>
        </p:txBody>
      </p:sp>
      <p:pic>
        <p:nvPicPr>
          <p:cNvPr id="4" name="Picture 3" descr="ml pip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15440"/>
            <a:ext cx="10881360" cy="36271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536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Metadata Bridge (Fig. 3.6)</a:t>
            </a:r>
          </a:p>
        </p:txBody>
      </p:sp>
      <p:pic>
        <p:nvPicPr>
          <p:cNvPr id="4" name="Picture 3" descr="meta data b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2003"/>
            <a:ext cx="10881360" cy="38739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536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Four-Point Grading Logic (Fig. 3.8)</a:t>
            </a:r>
          </a:p>
        </p:txBody>
      </p:sp>
      <p:pic>
        <p:nvPicPr>
          <p:cNvPr id="4" name="Picture 3" descr="four gra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9363"/>
            <a:ext cx="10881360" cy="367927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Dataset: Classes &amp; Audited Composition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F5F7F2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5394960" cy="245790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1396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139696"/>
            <a:ext cx="4315968" cy="22110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Verdict: </a:t>
            </a:r>
            <a:r>
              <a:rPr sz="1500" b="0" i="0" dirty="0" err="1">
                <a:latin typeface="Calibri"/>
              </a:rPr>
              <a:t>Suspect_Cross_Label</a:t>
            </a:r>
            <a:r>
              <a:rPr sz="1500" b="0" i="0" dirty="0">
                <a:latin typeface="Calibri"/>
              </a:rPr>
              <a:t> / </a:t>
            </a:r>
            <a:r>
              <a:rPr sz="1500" b="0" i="0" dirty="0" err="1">
                <a:latin typeface="Calibri"/>
              </a:rPr>
              <a:t>Suspect_Batch</a:t>
            </a:r>
            <a:r>
              <a:rPr sz="1500" b="0" i="0" dirty="0">
                <a:latin typeface="Calibri"/>
              </a:rPr>
              <a:t>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103120"/>
            <a:ext cx="5394960" cy="23061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21396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2139696"/>
            <a:ext cx="4315968" cy="20592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Pilot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9304"/>
            <a:ext cx="11091672" cy="246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D99A06"/>
                </a:solidFill>
                <a:latin typeface="Calibri"/>
              </a:rPr>
              <a:t>Report Table 6.1 — Pilot Reference And Upper Bound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567178" cy="21031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64592" bIns="128016">
            <a:no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144E4C"/>
                </a:solidFill>
                <a:latin typeface="Georgia"/>
              </a:rPr>
              <a:t>98%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500" b="1">
                <a:solidFill>
                  <a:srgbClr val="8A6206"/>
                </a:solidFill>
                <a:latin typeface="Calibri"/>
              </a:rPr>
              <a:t>Class Accuracy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400" b="0">
                <a:solidFill>
                  <a:srgbClr val="5B6570"/>
                </a:solidFill>
                <a:latin typeface="Calibri"/>
              </a:rPr>
              <a:t>Random-Split Reference, Not A Reproduced Result Of This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0138" y="1737360"/>
            <a:ext cx="2567178" cy="21031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64592" bIns="128016">
            <a:no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144E4C"/>
                </a:solidFill>
                <a:latin typeface="Georgia"/>
              </a:rPr>
              <a:t>5.44 h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500" b="1">
                <a:solidFill>
                  <a:srgbClr val="8A6206"/>
                </a:solidFill>
                <a:latin typeface="Calibri"/>
              </a:rPr>
              <a:t>Preparation Time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400" b="0">
                <a:solidFill>
                  <a:srgbClr val="5B6570"/>
                </a:solidFill>
                <a:latin typeface="Calibri"/>
              </a:rPr>
              <a:t>Reference Preparation Time Recorded In The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737360"/>
            <a:ext cx="2567178" cy="21031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64592" bIns="128016">
            <a:no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144E4C"/>
                </a:solidFill>
                <a:latin typeface="Georgia"/>
              </a:rPr>
              <a:t>92.0%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500" b="1">
                <a:solidFill>
                  <a:srgbClr val="8A6206"/>
                </a:solidFill>
                <a:latin typeface="Calibri"/>
              </a:rPr>
              <a:t>MAE Improvement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400" b="0">
                <a:solidFill>
                  <a:srgbClr val="5B6570"/>
                </a:solidFill>
                <a:latin typeface="Calibri"/>
              </a:rPr>
              <a:t>Measured On Synthetic Planning Data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3134" y="1737360"/>
            <a:ext cx="2567178" cy="21031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64592" bIns="128016">
            <a:no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144E4C"/>
                </a:solidFill>
                <a:latin typeface="Georgia"/>
              </a:rPr>
              <a:t>8% / 7%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500" b="1">
                <a:solidFill>
                  <a:srgbClr val="8A6206"/>
                </a:solidFill>
                <a:latin typeface="Calibri"/>
              </a:rPr>
              <a:t>Confusion Overlap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400" b="0">
                <a:solidFill>
                  <a:srgbClr val="5B6570"/>
                </a:solidFill>
                <a:latin typeface="Calibri"/>
              </a:rPr>
              <a:t>Horizontal → Hole 8%, Hole → Horizontal 7%.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51375"/>
            <a:ext cx="11091672" cy="841248"/>
          </a:xfrm>
          <a:prstGeom prst="roundRect">
            <a:avLst>
              <a:gd name="adj" fmla="val 14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73152" bIns="73152">
            <a:no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Chapter 4 Is Still Pending — No Measured Result Of This System Is Claimed.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06654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066543"/>
            <a:ext cx="2468880" cy="2359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82880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507992" y="206654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066543"/>
            <a:ext cx="2468880" cy="2359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Fixed-Geometry Calibration For Grading, Jetson-Class Edge Device With </a:t>
            </a:r>
            <a:r>
              <a:rPr sz="1500" b="0" i="0" dirty="0" err="1">
                <a:latin typeface="Calibri"/>
              </a:rPr>
              <a:t>TensorRT</a:t>
            </a:r>
            <a:r>
              <a:rPr sz="1500" b="0" i="0" dirty="0">
                <a:latin typeface="Calibri"/>
              </a:rPr>
              <a:t>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82880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11311" y="206654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2066543"/>
            <a:ext cx="2468880" cy="2359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Design Constraints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28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Estimated Project Budget (Table 5.1)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823864"/>
              </p:ext>
            </p:extLst>
          </p:nvPr>
        </p:nvGraphicFramePr>
        <p:xfrm>
          <a:off x="777240" y="1417320"/>
          <a:ext cx="82296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Category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Estimated Cost (BDT)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Dataset Preparation And Auditing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Camera And Image Acquisition Resources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Computing And Development Resources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Testing And Integration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Edge Deployment And Hardware-Related Resources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Documentation And Presentation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Miscellaneous Expenses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/>
                      </a: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/>
                      </a: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16,000</a:t>
                      </a:r>
                    </a:p>
                  </a:txBody>
                  <a:tcPr marL="73152" marR="73152" anchor="ctr">
                    <a:solidFill>
                      <a:srgbClr val="F5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555480" y="2779775"/>
            <a:ext cx="2148840" cy="3493009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Estimation Total</a:t>
            </a:r>
          </a:p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16,000 BDT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Project Plan (Table 3.7; Gantt: Fig. 3.9)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3291840"/>
              </a:tblGrid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Schedule / Status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Audit / Split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1–2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3–10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Anomaly Detection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8–14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Lead-Time Planning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12–18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16–24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24–28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Documentation And Write-Up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24–32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 dirty="0">
                <a:solidFill>
                  <a:srgbClr val="F5F7F2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40080" y="320040"/>
            <a:ext cx="5029200" cy="5852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5F8F4"/>
                </a:solidFill>
                <a:latin typeface="Calibri"/>
              </a:rPr>
              <a:t>Complex Engineering Problem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644331"/>
              </p:ext>
            </p:extLst>
          </p:nvPr>
        </p:nvGraphicFramePr>
        <p:xfrm>
          <a:off x="548640" y="1028700"/>
          <a:ext cx="11091668" cy="1228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5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5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5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5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5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5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P1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Depth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Knowledge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P2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Conflicting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Requirements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P3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Depth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Analysis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P4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Familiarity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Of Issues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P5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Applicable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Codes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P6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Stakeholder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Involvement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P7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Inter-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Dependence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359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5B657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5B657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2761488"/>
            <a:ext cx="4480560" cy="3566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P1 - Knowledge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36392"/>
            <a:ext cx="4480560" cy="10085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Computer Vision, Image Processing, Deep Learning, Anomaly Detection, Machine Learning, Production Planning, YOLO-Based Defect Detection, Few-Shot Anomaly Detection And Edge Deployment.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419600"/>
            <a:ext cx="4480560" cy="3566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P3 -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94199"/>
            <a:ext cx="4480560" cy="10085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Requires Analysis Of Dataset Quality, Duplicate And Quarantined Samples, Group-Aware Splitting, Detection Metrics (mAP) And Prediction Metrics (MAE, RMSE, R²).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761488"/>
            <a:ext cx="4480560" cy="3566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P2 - Trade-Off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3136392"/>
            <a:ext cx="4480560" cy="10085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Balances Defect-Detection Accuracy, Real-Time Processing Speed, Edge-Resource Limits And Reliable Lead-Time Prediction From Available Manufacturing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4419600"/>
            <a:ext cx="4480560" cy="3566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P6/P7 - Involvement &amp; Interdependence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4794199"/>
            <a:ext cx="4480560" cy="10085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Supports Inspectors, Planners And Developers. Preprocessing Affects Detection, Detection Affects Ds, And Ds Affects Lead-Time Prediction.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19088"/>
            <a:ext cx="27432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0">
                <a:solidFill>
                  <a:srgbClr val="F5F8F4"/>
                </a:solidFill>
                <a:latin typeface="Calibri"/>
              </a:rPr>
              <a:t>FGAP | FYDP-I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6419088"/>
            <a:ext cx="27432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5F8F4"/>
                </a:solidFill>
                <a:latin typeface="Calibri"/>
              </a:rPr>
              <a:t>Report: Table 5.2 And Section 5.4.1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40080" y="320040"/>
            <a:ext cx="5303520" cy="5852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5F8F4"/>
                </a:solidFill>
                <a:latin typeface="Calibri"/>
              </a:rPr>
              <a:t>Complex Engineering Activities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707865"/>
              </p:ext>
            </p:extLst>
          </p:nvPr>
        </p:nvGraphicFramePr>
        <p:xfrm>
          <a:off x="548640" y="963717"/>
          <a:ext cx="11091670" cy="1456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97280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A1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Range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A2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Level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Interaction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A3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Innovation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A4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Consequences For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Society And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Environment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A5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Familiarity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359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2761488"/>
            <a:ext cx="4480560" cy="3566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A1 - Resources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36392"/>
            <a:ext cx="4480560" cy="795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Uses Datasets, Python Libraries, Ultralytics YOLO, OpenCV, Scikit-Learn, Cloud GPU Resources, Industrial Cameras And Jetson-Class Edge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06240"/>
            <a:ext cx="4480560" cy="3566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A3 - Innovation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81144"/>
            <a:ext cx="4480560" cy="795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Connects Fabric Defect Detection With Production Lead-Time Prediction Through The Defect Density Score (Ds) And A Few-Shot Anomaly Branch.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761488"/>
            <a:ext cx="4480560" cy="3566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A2 - Interaction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3136392"/>
            <a:ext cx="4480560" cy="795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Image Input, Preprocessing, YOLO Detection, Metadata Bridge, Defect Scoring, Prediction And Dashboard Output Closely Interact Throughout The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4206240"/>
            <a:ext cx="4480560" cy="3566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A4/A5 - Consequences &amp; Familiarity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4581144"/>
            <a:ext cx="4480560" cy="795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Improves Quality Inspection, Production Planning And Resource Use. Integrates Both Established Tools And Advanced Techniques In One System.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19088"/>
            <a:ext cx="27432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0">
                <a:solidFill>
                  <a:srgbClr val="F5F8F4"/>
                </a:solidFill>
                <a:latin typeface="Calibri"/>
              </a:rPr>
              <a:t>FGAP | FYDP-I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6419088"/>
            <a:ext cx="27432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5F8F4"/>
                </a:solidFill>
                <a:latin typeface="Calibri"/>
              </a:rPr>
              <a:t>Report: Table 5.3 And Section 5.4.2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Risks &amp; Mitigations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394960" cy="35378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057400"/>
            <a:ext cx="475488" cy="4754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167128"/>
            <a:ext cx="4315968" cy="307146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000" b="1">
                <a:latin typeface="Calibri"/>
              </a:rPr>
              <a:t>Key Risks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Free Cloud GPU Quota (Google Colab / Departmental GPU Lab, Report §5.4.2): If Exhausted, Fall Back To Existing Computers And Defer Edge Hardware.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920240"/>
            <a:ext cx="5394960" cy="35378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2057400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3081528"/>
            <a:ext cx="4315968" cy="215706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000" b="1">
                <a:latin typeface="Calibri"/>
              </a:rPr>
              <a:t>Mitigations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Checkpoint During Training So Quota Loss Costs Minutes, Not Hours.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Paired Dataset (Defect Counts + Our Ds) Is Itself A Contribution If Factory Declines.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Task Allocation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40864"/>
            <a:ext cx="5394960" cy="27633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478024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587752"/>
            <a:ext cx="4315968" cy="22969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340864"/>
            <a:ext cx="5394960" cy="27633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2478024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2969056"/>
            <a:ext cx="4315968" cy="19156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Relabel Quarantine Using A </a:t>
            </a:r>
            <a:r>
              <a:rPr sz="1500" b="0" i="0" dirty="0" err="1">
                <a:latin typeface="Calibri"/>
              </a:rPr>
              <a:t>pHash</a:t>
            </a:r>
            <a:r>
              <a:rPr sz="1500" b="0" i="0" dirty="0">
                <a:latin typeface="Calibri"/>
              </a:rPr>
              <a:t>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Benchmark Against </a:t>
            </a:r>
            <a:r>
              <a:rPr sz="1500" b="0" i="0" dirty="0" err="1">
                <a:latin typeface="Calibri"/>
              </a:rPr>
              <a:t>Isl</a:t>
            </a:r>
            <a:r>
              <a:rPr sz="1500" b="0" i="0" dirty="0">
                <a:latin typeface="Calibri"/>
              </a:rPr>
              <a:t>-Knit And </a:t>
            </a:r>
            <a:r>
              <a:rPr sz="1500" b="0" i="0" dirty="0" err="1">
                <a:latin typeface="Calibri"/>
              </a:rPr>
              <a:t>FabricSpotDefect</a:t>
            </a:r>
            <a:r>
              <a:rPr sz="1500" b="0" i="0" dirty="0"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68772"/>
            <a:ext cx="110642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F5F7F2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5F7F2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66105"/>
            <a:ext cx="110642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000" b="0" i="0" dirty="0">
                <a:solidFill>
                  <a:srgbClr val="F5F7F2"/>
                </a:solidFill>
                <a:latin typeface="Calibri"/>
              </a:rPr>
              <a:t>Any Question?</a:t>
            </a:r>
            <a:endParaRPr sz="2000" b="0" i="0" dirty="0">
              <a:solidFill>
                <a:srgbClr val="F5F7F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5992063"/>
            <a:ext cx="11064240" cy="2624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F5F7F2"/>
                </a:solidFill>
                <a:latin typeface="Calibri"/>
              </a:rPr>
              <a:t>Defect-to-Delivery — Fabric Defect Detection &amp; Lead-Time Prediction |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3277</Words>
  <Application>Microsoft Office PowerPoint</Application>
  <PresentationFormat>Custom</PresentationFormat>
  <Paragraphs>645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Fahim Zahin</cp:lastModifiedBy>
  <cp:revision>8</cp:revision>
  <dcterms:created xsi:type="dcterms:W3CDTF">2013-01-27T09:14:16Z</dcterms:created>
  <dcterms:modified xsi:type="dcterms:W3CDTF">2026-09-30T17:35:09Z</dcterms:modified>
  <cp:category/>
</cp:coreProperties>
</file>