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85" r:id="rId12"/>
    <p:sldId id="266" r:id="rId13"/>
    <p:sldId id="281" r:id="rId14"/>
    <p:sldId id="267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68" r:id="rId24"/>
    <p:sldId id="269" r:id="rId25"/>
    <p:sldId id="270" r:id="rId26"/>
    <p:sldId id="276" r:id="rId32"/>
    <p:sldId id="277" r:id="rId33"/>
    <p:sldId id="278" r:id="rId34"/>
    <p:sldId id="279" r:id="rId35"/>
    <p:sldId id="294" r:id="rId36"/>
    <p:sldId id="295" r:id="rId37"/>
    <p:sldId id="280" r:id="rId38"/>
    <p:sldId id="282" r:id="rId39"/>
    <p:sldId id="283" r:id="rId40"/>
    <p:sldId id="284" r:id="rId4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9E5B"/>
    <a:srgbClr val="0858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75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1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FYDP-I  •  Textile &amp; RMG Quality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5F7F2"/>
                </a:solidFill>
                <a:latin typeface="Georgia"/>
              </a:rPr>
              <a:t>Defect-to-Delivery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514600"/>
            <a:ext cx="9235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F5F7F2"/>
                </a:solidFill>
                <a:latin typeface="Calibri"/>
              </a:rPr>
              <a:t>A Closed-Loop Vision &amp; Machine-Learning System For Fabric Defect Detection And Production Lead-Time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 i="0">
                <a:solidFill>
                  <a:srgbClr val="F5F7F2"/>
                </a:solidFill>
                <a:latin typeface="Calibri"/>
              </a:rPr>
              <a:t>Group: 262-034
Department Of Computer Science And Engineering
United International University (UIU), Dhaka, Bangladesh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2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Supervisor, Course Teacher &amp; Team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29564" y="1403033"/>
            <a:ext cx="3337559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985597" y="1695641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5075" y="1659065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 dirty="0">
                <a:latin typeface="Calibri"/>
              </a:rPr>
              <a:t>Supervisor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latin typeface="Calibri"/>
              </a:rPr>
              <a:t>Mr. Md. Tarek Hasan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latin typeface="Calibri"/>
              </a:rPr>
              <a:t>Assistant Professor, Dept. Of CSE, UIU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21959" y="1373124"/>
            <a:ext cx="33375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895949" y="1618488"/>
            <a:ext cx="523037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1252" y="1613916"/>
            <a:ext cx="1961388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 dirty="0">
                <a:latin typeface="Calibri"/>
              </a:rPr>
              <a:t>Course Teacher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latin typeface="Calibri"/>
              </a:rPr>
              <a:t>Dr. Mohammad Nurul Huda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latin typeface="Calibri"/>
              </a:rPr>
              <a:t>Professor, Dept. Of CSE, UIU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04672" y="340156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 dirty="0">
                <a:latin typeface="Calibri"/>
              </a:rPr>
              <a:t>Abdullah Al Fahim Zahin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0112310314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Problem, Motivation &amp; Objectives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507992" y="340156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 dirty="0" err="1">
                <a:latin typeface="Calibri"/>
              </a:rPr>
              <a:t>Nafiz Imtiaz Labib</a:t>
            </a:r>
            <a:r>
              <a:rPr sz="1350" b="1" i="0" dirty="0"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100" b="0" i="0" dirty="0">
                <a:latin typeface="Calibri"/>
              </a:rPr>
              <a:t>0112310422</a:t>
            </a:r>
            <a:r>
              <a:rPr lang="en-US" sz="1100" dirty="0"/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Literature Review &amp; Gap Analysis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211311" y="340156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5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 dirty="0">
                <a:latin typeface="Calibri"/>
              </a:rPr>
              <a:t>MST Riya </a:t>
            </a:r>
            <a:r>
              <a:rPr sz="1350" b="1" i="0" dirty="0" err="1">
                <a:latin typeface="Calibri"/>
              </a:rPr>
              <a:t>Akter</a:t>
            </a:r>
            <a:r>
              <a:rPr sz="1350" b="1" i="0" dirty="0">
                <a:latin typeface="Calibri"/>
              </a:rPr>
              <a:t> Satu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0112310147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Requirement Analysis &amp; Dataset Audit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04672" y="4882896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 dirty="0">
                <a:latin typeface="Calibri"/>
              </a:rPr>
              <a:t>Mohammed Amin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0112310412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System Design &amp; Diagrams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5195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507992" y="4882896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 dirty="0">
                <a:latin typeface="Calibri"/>
              </a:rPr>
              <a:t>Fahim Ferdous </a:t>
            </a:r>
            <a:r>
              <a:rPr sz="1350" b="1" i="0" dirty="0" err="1">
                <a:latin typeface="Calibri"/>
              </a:rPr>
              <a:t>Niloy</a:t>
            </a:r>
            <a:endParaRPr sz="1350" b="1" i="0" dirty="0">
              <a:latin typeface="Calibri"/>
            </a:endParaRP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0112310307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Standards, Constraints, Budget &amp; Project Plan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211311" y="4882896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5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 dirty="0">
                <a:latin typeface="Calibri"/>
              </a:rPr>
              <a:t>Md. </a:t>
            </a:r>
            <a:r>
              <a:rPr sz="1350" b="1" i="0" dirty="0" err="1">
                <a:latin typeface="Calibri"/>
              </a:rPr>
              <a:t>Mostafizur</a:t>
            </a:r>
            <a:r>
              <a:rPr sz="1350" b="1" i="0" dirty="0">
                <a:latin typeface="Calibri"/>
              </a:rPr>
              <a:t> Rahman Murad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0112310426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Complex Engineering Problem, Task Allocation &amp; Conclusion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A9AE5F74-44E4-4A0A-9976-124DAFF38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060" y="1603630"/>
            <a:ext cx="1021900" cy="1016126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6" name="Picture 45" descr="A person in a suit and tie&#10;&#10;Description automatically generated">
            <a:extLst>
              <a:ext uri="{FF2B5EF4-FFF2-40B4-BE49-F238E27FC236}">
                <a16:creationId xmlns:a16="http://schemas.microsoft.com/office/drawing/2014/main" id="{FDC7340E-25ED-4BE1-B6FF-E0E3B5CA5D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25" y="1568196"/>
            <a:ext cx="1132387" cy="114300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3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chemeClr val="tx1"/>
                </a:solidFill>
                <a:latin typeface="Calibri"/>
              </a:rPr>
              <a:t>1.  </a:t>
            </a:r>
            <a:r>
              <a:rPr sz="1600" b="1" dirty="0">
                <a:solidFill>
                  <a:schemeClr val="tx1"/>
                </a:solidFill>
                <a:latin typeface="Calibri"/>
              </a:rPr>
              <a:t>Problem &amp; Motivation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chemeClr val="tx1"/>
                </a:solidFill>
                <a:latin typeface="Calibri"/>
              </a:rPr>
              <a:t>2.  </a:t>
            </a:r>
            <a:r>
              <a:rPr sz="1600" b="1" dirty="0">
                <a:solidFill>
                  <a:schemeClr val="tx1"/>
                </a:solidFill>
                <a:latin typeface="Calibri"/>
              </a:rPr>
              <a:t>Objectives &amp; Methodology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chemeClr val="tx1"/>
                </a:solidFill>
                <a:latin typeface="Calibri"/>
              </a:rPr>
              <a:t>3.  </a:t>
            </a:r>
            <a:r>
              <a:rPr sz="1600" b="1" dirty="0">
                <a:solidFill>
                  <a:schemeClr val="tx1"/>
                </a:solidFill>
                <a:latin typeface="Calibri"/>
              </a:rPr>
              <a:t>Literature Review &amp; Gap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chemeClr val="tx1"/>
                </a:solidFill>
                <a:latin typeface="Calibri"/>
              </a:rPr>
              <a:t>4.  </a:t>
            </a:r>
            <a:r>
              <a:rPr sz="1600" b="1" dirty="0">
                <a:solidFill>
                  <a:schemeClr val="tx1"/>
                </a:solidFill>
                <a:latin typeface="Calibri"/>
              </a:rPr>
              <a:t>Requirement Analysis &amp; Dataset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chemeClr val="tx1"/>
                </a:solidFill>
                <a:latin typeface="Calibri"/>
              </a:rPr>
              <a:t>5.  </a:t>
            </a:r>
            <a:r>
              <a:rPr sz="1600" b="1" dirty="0">
                <a:solidFill>
                  <a:schemeClr val="tx1"/>
                </a:solidFill>
                <a:latin typeface="Calibri"/>
              </a:rPr>
              <a:t>System Design &amp; Diagrams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chemeClr val="tx1"/>
                </a:solidFill>
                <a:latin typeface="Calibri"/>
              </a:rPr>
              <a:t>6.  </a:t>
            </a:r>
            <a:r>
              <a:rPr sz="1600" b="1" dirty="0">
                <a:solidFill>
                  <a:schemeClr val="tx1"/>
                </a:solidFill>
                <a:latin typeface="Calibri"/>
              </a:rPr>
              <a:t>Standards, Constraints, Budget &amp;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7200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chemeClr val="tx1"/>
                </a:solidFill>
                <a:latin typeface="Calibri"/>
              </a:rPr>
              <a:t>7.  </a:t>
            </a:r>
            <a:r>
              <a:rPr sz="1600" b="1" dirty="0">
                <a:solidFill>
                  <a:schemeClr val="tx1"/>
                </a:solidFill>
                <a:latin typeface="Calibri"/>
              </a:rPr>
              <a:t>Conclusion &amp; Future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4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Problem 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5F7F2"/>
                </a:solidFill>
                <a:latin typeface="Calibri"/>
              </a:rPr>
              <a:t>▪  Fabric Inspection In Most Bangladeshi RMG Factories Is Manual — Slow, Inconsistent, And Dependent On Inspector Experience And Fatigue.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5F7F2"/>
                </a:solidFill>
                <a:latin typeface="Calibri"/>
              </a:rPr>
              <a:t>▪  Production Planning Runs On Fixed Lead-Time Tables That Never Look At Real-Time Fabric Quality.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5F7F2"/>
                </a:solidFill>
                <a:latin typeface="Calibri"/>
              </a:rPr>
              <a:t>▪  Vision (Inspection) And Planning (Scheduling) Live In Two Disconnected Systems — Nobody Turns “How Many Defects” Into “How Many Hours.”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5F7F2"/>
                </a:solidFill>
                <a:latin typeface="Calibri"/>
              </a:rPr>
              <a:t>▪  This Gap Threatens Delivery Reliability And Cost Control In Bangladesh’s Largest Export Sector.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12000"/>
            </a:avLst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>
                <a:solidFill>
                  <a:srgbClr val="F5F7F2"/>
                </a:solidFill>
                <a:latin typeface="Calibri"/>
              </a:rPr>
              <a:t>No System Links Defect Severity To Production Lead Time —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5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 dirty="0">
                <a:solidFill>
                  <a:srgbClr val="F5F7F2"/>
                </a:solidFill>
                <a:latin typeface="Georgia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▪  Dataset Audit: 2,578 Factory Images Scanned — 17 Exact Duplicates (Hash) And 12 Cross-Labeled Files Quarantined After Visual Verification, Leaving 2,549 Usable Images.</a:t>
            </a:r>
          </a:p>
          <a:p>
            <a:r>
              <a:t>▪  Report Table 6.1 Records 98% Class Accuracy As An Upper-Bound Reference On A Random Split — Not A Reproduced Result Of This System.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6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Objectives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5F7F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5F7F2"/>
                </a:solidFill>
                <a:latin typeface="Calibri"/>
              </a:rPr>
              <a:t>Build An Audited 6-Class Fabric Image Dataset With Hash Inventory, Quarantine Ledger, And Group-Aware Split Manifest.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5F7F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14015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5F7F2"/>
                </a:solidFill>
                <a:latin typeface="Calibri"/>
              </a:rPr>
              <a:t>Train A YOLOv11-Seg Detector For Defect Type + Pixel-True Area, Tracked With mAP.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419856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5F7F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46704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5F7F2"/>
                </a:solidFill>
                <a:latin typeface="Calibri"/>
              </a:rPr>
              <a:t>Train A Random Forest Lead-Time Predictor From Speed, Quantity And Defect Density Score (Ds), Tracked With MAE / RMSE / R².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352544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5F7F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79392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5F7F2"/>
                </a:solidFill>
                <a:latin typeface="Calibri"/>
              </a:rPr>
              <a:t>Fuse Both Into One Real-Time Closed-Loop Framework With A Planner Dashboard.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285232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5F7F2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120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5F7F2"/>
                </a:solidFill>
                <a:latin typeface="Calibri"/>
              </a:rPr>
              <a:t>Prove Every Number On Disjoint Data — The Same Swatch Family Never Appears On Both Sides.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7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Methodology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Detect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YOLO-Family Detectors (YOLOv11-Seg Target); OpenCV Thresholding / Contours For Area Measurement.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507992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Segment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Instance Masks For Accurate Stain / Pulled-Thread Area Vs Over-Estimating Boxes; Mask </a:t>
            </a:r>
            <a:r>
              <a:rPr sz="1350" b="0" i="0" dirty="0" err="1">
                <a:latin typeface="Calibri"/>
              </a:rPr>
              <a:t>IoU</a:t>
            </a:r>
            <a:r>
              <a:rPr sz="1350" b="0" i="0" dirty="0">
                <a:latin typeface="Calibri"/>
              </a:rPr>
              <a:t> Ablation.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11311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Catch Unknowns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Few-Shot Anomaly Detection (</a:t>
            </a:r>
            <a:r>
              <a:rPr sz="1350" b="0" i="0" dirty="0" err="1">
                <a:latin typeface="Calibri"/>
              </a:rPr>
              <a:t>PatchCore</a:t>
            </a:r>
            <a:r>
              <a:rPr sz="1350" b="0" i="0" dirty="0">
                <a:latin typeface="Calibri"/>
              </a:rPr>
              <a:t> / DINOv2 Family) Trained Only On Good Fabric.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04672" y="390448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1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Predict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Random Forest Regression On Speed, Quantity, Ds Ablated Against </a:t>
            </a:r>
            <a:r>
              <a:rPr sz="1350" b="0" i="0" dirty="0" err="1">
                <a:latin typeface="Calibri"/>
              </a:rPr>
              <a:t>XGBoost</a:t>
            </a:r>
            <a:r>
              <a:rPr sz="1350" b="0" i="0" dirty="0">
                <a:latin typeface="Calibri"/>
              </a:rPr>
              <a:t> And MLP.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507992" y="390448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Smooth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Rolling-Average Ds Over The Last 10 Frames To Filter False Positives.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211311" y="390448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5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Python, </a:t>
            </a:r>
            <a:r>
              <a:rPr sz="1350" b="0" i="0" dirty="0" err="1">
                <a:latin typeface="Calibri"/>
              </a:rPr>
              <a:t>Ultralytics</a:t>
            </a:r>
            <a:r>
              <a:rPr sz="1350" b="0" i="0" dirty="0">
                <a:latin typeface="Calibri"/>
              </a:rPr>
              <a:t> YOLO, OpenCV, Scikit-Learn On Jetson-Class Edge With </a:t>
            </a:r>
            <a:r>
              <a:rPr sz="1350" b="0" i="0" dirty="0" err="1">
                <a:latin typeface="Calibri"/>
              </a:rPr>
              <a:t>TensorRT</a:t>
            </a:r>
            <a:r>
              <a:rPr sz="1350" b="0" i="0" dirty="0"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8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Related Work — Fabric Defect Datasets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Scale / Description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Isl-Knit (Heliyon 2024, BUTEX)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3,375 Knit-Fault Images, 7 Classes, Bangladeshi Dyeing Factories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YOLOv5 + 4-Point Raspberry-Pi Prototype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 2024)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1,014 Images, 3,288 Spot Annotations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COCO + YOLOv8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ZJU-Leaper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98,777 Woven-Fabric Images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Large-Scale Supervised Benchmark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Tianchi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20 Defect Types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Industry Benchmark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MVTec AD / VisA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Anomaly-Detection Standard Sets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Used For Our Few-Shot Branch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Our Pilot Corpus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2,578 Images, 6 Classes, Per-File Hashes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Audited, Group-Aware Split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9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Related Work — Detection, Anomaly &amp; Planning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737360" cy="68580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353312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F5F7F2"/>
                </a:solidFill>
                <a:latin typeface="Calibri"/>
              </a:rPr>
              <a:t>YOLOv1–v11 Fabric Review (2025) Finds YOLOv11 Strongest On Small / Occluded Defects; Fab-ASLKS (+5% mAP50 On Tianchi); Fab-ME (+3.3%, 59.4% Over 20 Classes); FabricMamba For Edge.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33472"/>
            <a:ext cx="1737360" cy="68580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Anomaly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23744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F5F7F2"/>
                </a:solidFill>
                <a:latin typeface="Calibri"/>
              </a:rPr>
              <a:t>PatchCore (99.6% MVTec AUROC), Reverse Distillation (Low Latency), AnomalyDINO / PatchEAD Reach 89–96% With A Handful Of Good Samples And No Defect Labels.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03904"/>
            <a:ext cx="1737360" cy="68580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94176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 dirty="0" err="1">
                <a:solidFill>
                  <a:srgbClr val="F5F7F2"/>
                </a:solidFill>
                <a:latin typeface="Calibri"/>
              </a:rPr>
              <a:t>EfficientDet</a:t>
            </a:r>
            <a:r>
              <a:rPr sz="1450" b="0" i="0">
                <a:solidFill>
                  <a:srgbClr val="F5F7F2"/>
                </a:solidFill>
                <a:latin typeface="Calibri"/>
              </a:rPr>
              <a:t> + Jetson TX2 At 22.7 FPS (2.5× Cloud); YOLOv11 On Orin Nano; YOLOv11 +70% Avg. </a:t>
            </a:r>
            <a:r>
              <a:rPr sz="1450" b="0" i="0" dirty="0">
                <a:solidFill>
                  <a:srgbClr val="F5F7F2"/>
                </a:solidFill>
                <a:latin typeface="Calibri"/>
              </a:rPr>
              <a:t>On NEU-DET Vs Prior Models.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74336"/>
            <a:ext cx="1737360" cy="68580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864607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No Published Vision–Ds Lead-Time Fusion Exists — This Is Our Gap. Closest Work: CIIS 2024 Wastage Prediction (Supervised, Own Dataset Of 633 Samples); 2025 BD Digital-QC Trials; 2026 Narayanganj Traffic-Light QC Study (94 Lines).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10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Literature Analysis (Selected)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2595443"/>
              </p:ext>
            </p:extLst>
          </p:nvPr>
        </p:nvGraphicFramePr>
        <p:xfrm>
          <a:off x="575945" y="932688"/>
          <a:ext cx="110642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Kumar Fabric Survey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/ Classical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Isl-Knit + 4-Point (BUTEX)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(YOLOv5)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(3,375)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(1,014)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YOLOv1–v11 Fabric Review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PatchCore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Unsupervised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 / VisA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AnomalyDINO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Few-Shot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PatchEAD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 / Zero-Shot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 Industrial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 Wastage Prediction (CIIS)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(633)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1F2937"/>
                          </a:solidFill>
                          <a:latin typeface="Calibri"/>
                        </a:rPr>
                        <a:t>Traffic-Light QC Narayanganj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Applied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94 Lines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Redmon (YOLO) / Breiman (RF)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1F2937"/>
                          </a:solidFill>
                          <a:latin typeface="Calibri"/>
                        </a:rPr>
                        <a:t>VOC-COCO / General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2016 / 2001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Literature Survey Summary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 works surveyed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F5F7F2"/>
                </a:solidFill>
                <a:latin typeface="Georgia"/>
              </a:rPr>
              <a:t>Literature Taxonomy (20 Works)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11 / 35</a:t>
            </a:r>
          </a:p>
        </p:txBody>
      </p:sp>
      <p:pic>
        <p:nvPicPr>
          <p:cNvPr id="7" name="Picture 6" descr="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34440"/>
            <a:ext cx="10424160" cy="39110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12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Gap Analysis &amp; Summary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Detectors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Cover Known Defect Types Well, But Stop At Detection — No Link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584448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6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Anomaly Models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Handle Unseen Defects, But Are Evaluated On Public Sets, Not Bangladeshi Factory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364224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872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Edge Tooling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Real-Time Feasibility Is Proven, But Not Paired With A Planning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144000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6648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BD Datasets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Give Local Ground Truth, But No Work Fuses Vision Output With Lead-Time Hours.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6344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F5F7F2"/>
                </a:solidFill>
                <a:latin typeface="Calibri"/>
              </a:rPr>
              <a:t>The Vision-To-Hours Coupling Remains Unclaimed — That Is Our Contribution.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F5F7F2"/>
                </a:solidFill>
                <a:latin typeface="Georgia"/>
              </a:rPr>
              <a:t>Benchmark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06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0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06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06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806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8061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Isl-Knit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FabricSpot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v1-base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Roll-disjoint Split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Group-aware split (2,081/468)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4-Point Grading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Four-point grading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Edge Deployment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Jetson-class target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Honest Repro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Seed 42; 2,081 train / 468 test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Lead-time Pred.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Vision-to-hours fusion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Planner Dashboard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Planner dashboard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Planned output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Limitation Slide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Explicit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13 / 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14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Requirement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Functional Requirements (FR1–FR7) — Report Table 3.1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Non-Functional Requirements (NFR1–NFR5) — Report Table 3.1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▪  Report Table 3.1 Lists 7 Functional And 5 Non-Functional Requirements, With Measurable Targets (≥15 FPS, mAP Tracking, Zero-Overlap Group-Aware Splits).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481328"/>
            <a:ext cx="5623560" cy="420624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1517904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4E4C"/>
                </a:solidFill>
                <a:latin typeface="Calibri"/>
              </a:rPr>
              <a:t>FR1 —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1691640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570"/>
                </a:solidFill>
                <a:latin typeface="Calibri"/>
              </a:rPr>
              <a:t>Fabric image / video stream accepted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975104"/>
            <a:ext cx="5623560" cy="420624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2011680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4E4C"/>
                </a:solidFill>
                <a:latin typeface="Calibri"/>
              </a:rPr>
              <a:t>FR2 — Preprocess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" y="2185416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570"/>
                </a:solidFill>
                <a:latin typeface="Calibri"/>
              </a:rPr>
              <a:t>Denoise, deblur, low-light normalisation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468880"/>
            <a:ext cx="5623560" cy="420624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" y="2505456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4E4C"/>
                </a:solidFill>
                <a:latin typeface="Calibri"/>
              </a:rPr>
              <a:t>FR3 — Detect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" y="2679192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570"/>
                </a:solidFill>
                <a:latin typeface="Calibri"/>
              </a:rPr>
              <a:t>Defect type from YOLO detection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962656"/>
            <a:ext cx="5623560" cy="420624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" y="2999232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4E4C"/>
                </a:solidFill>
                <a:latin typeface="Calibri"/>
              </a:rPr>
              <a:t>FR4 — Classify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" y="3172968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570"/>
                </a:solidFill>
                <a:latin typeface="Calibri"/>
              </a:rPr>
              <a:t>Defect-free frames identified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456432"/>
            <a:ext cx="5623560" cy="420624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3493008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4E4C"/>
                </a:solidFill>
                <a:latin typeface="Calibri"/>
              </a:rPr>
              <a:t>FR5 — 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3666744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570"/>
                </a:solidFill>
                <a:latin typeface="Calibri"/>
              </a:rPr>
              <a:t>Area ratio and Defect Density Score (Ds)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950208"/>
            <a:ext cx="5623560" cy="420624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3986784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4E4C"/>
                </a:solidFill>
                <a:latin typeface="Calibri"/>
              </a:rPr>
              <a:t>FR6 — Predict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" y="4160520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570"/>
                </a:solidFill>
                <a:latin typeface="Calibri"/>
              </a:rPr>
              <a:t>Random Forest lead-time prediction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443984"/>
            <a:ext cx="5623560" cy="420624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4632" y="4480560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4E4C"/>
                </a:solidFill>
                <a:latin typeface="Calibri"/>
              </a:rPr>
              <a:t>FR7 — 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654296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570"/>
                </a:solidFill>
                <a:latin typeface="Calibri"/>
              </a:rPr>
              <a:t>Result output to the planner dashboard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45352" y="1481328"/>
            <a:ext cx="5623560" cy="621792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9944" y="1554480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4E4C"/>
                </a:solidFill>
                <a:latin typeface="Calibri"/>
              </a:rPr>
              <a:t>NFR1 — Accurate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9944" y="1810512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570"/>
                </a:solidFill>
                <a:latin typeface="Calibri"/>
              </a:rPr>
              <a:t>mAP tracking during evaluation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5352" y="2176272"/>
            <a:ext cx="5623560" cy="621792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9944" y="2249424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4E4C"/>
                </a:solidFill>
                <a:latin typeface="Calibri"/>
              </a:rPr>
              <a:t>NFR2 — Robust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9944" y="2505456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570"/>
                </a:solidFill>
                <a:latin typeface="Calibri"/>
              </a:rPr>
              <a:t>Lighting and texture variation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45352" y="2871216"/>
            <a:ext cx="5623560" cy="621792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9944" y="2944368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4E4C"/>
                </a:solidFill>
                <a:latin typeface="Calibri"/>
              </a:rPr>
              <a:t>NFR3 — Efficient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9944" y="3200400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570"/>
                </a:solidFill>
                <a:latin typeface="Calibri"/>
              </a:rPr>
              <a:t>≥15 FPS at the edge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45352" y="3566160"/>
            <a:ext cx="5623560" cy="621792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9944" y="3639312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4E4C"/>
                </a:solidFill>
                <a:latin typeface="Calibri"/>
              </a:rPr>
              <a:t>NFR4 — Scalable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9944" y="3895344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570"/>
                </a:solidFill>
                <a:latin typeface="Calibri"/>
              </a:rPr>
              <a:t>New fabrics via the few-shot branch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45352" y="4261104"/>
            <a:ext cx="5623560" cy="621792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9944" y="4334256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4E4C"/>
                </a:solidFill>
                <a:latin typeface="Calibri"/>
              </a:rPr>
              <a:t>NFR5 — Maintainable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9944" y="4590288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570"/>
                </a:solidFill>
                <a:latin typeface="Calibri"/>
              </a:rPr>
              <a:t>Modular code, one config point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</a:rPr>
              <a:t>Proposed System Diagram (Fig. 3.2)</a:t>
            </a:r>
          </a:p>
        </p:txBody>
      </p:sp>
      <p:pic>
        <p:nvPicPr>
          <p:cNvPr id="4" name="Picture 3" descr="architectural desig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616" y="914400"/>
            <a:ext cx="9658286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15 / 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</a:rPr>
              <a:t>Context Diagram (Fig. 3.1)</a:t>
            </a:r>
          </a:p>
        </p:txBody>
      </p:sp>
      <p:pic>
        <p:nvPicPr>
          <p:cNvPr id="4" name="Picture 3" descr="contex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73" y="914400"/>
            <a:ext cx="10689973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16 / 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</a:rPr>
              <a:t>Use Case Diagram (Fig. 3.4)</a:t>
            </a:r>
          </a:p>
        </p:txBody>
      </p:sp>
      <p:pic>
        <p:nvPicPr>
          <p:cNvPr id="4" name="Picture 3" descr="use c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860" y="914400"/>
            <a:ext cx="754380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17 / 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</a:rPr>
              <a:t>System Workflow (Fig. 3.5)</a:t>
            </a:r>
          </a:p>
        </p:txBody>
      </p:sp>
      <p:pic>
        <p:nvPicPr>
          <p:cNvPr id="6" name="Picture 5" descr="A diagram of a process flow&#10;&#10;Description automatically generated">
            <a:extLst>
              <a:ext uri="{FF2B5EF4-FFF2-40B4-BE49-F238E27FC236}">
                <a16:creationId xmlns:a16="http://schemas.microsoft.com/office/drawing/2014/main" id="{D42C8D63-03DF-43DE-8DDE-791DA9B81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0766" y="914400"/>
            <a:ext cx="4759987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18 / 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</a:rPr>
              <a:t>Workflow Decision Loop (Fig. 3.5)</a:t>
            </a:r>
          </a:p>
        </p:txBody>
      </p:sp>
      <p:pic>
        <p:nvPicPr>
          <p:cNvPr id="4" name="Picture 3" descr="proposed system 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734"/>
            <a:ext cx="10881360" cy="41145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19 / 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</a:rPr>
              <a:t>Machine Learning Pipeline (Fig. 3.7)</a:t>
            </a:r>
          </a:p>
        </p:txBody>
      </p:sp>
      <p:pic>
        <p:nvPicPr>
          <p:cNvPr id="4" name="Picture 3" descr="ml pipe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15440"/>
            <a:ext cx="10881360" cy="36271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20 /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</a:rPr>
              <a:t>Metadata Bridge (Fig. 3.6)</a:t>
            </a:r>
          </a:p>
        </p:txBody>
      </p:sp>
      <p:pic>
        <p:nvPicPr>
          <p:cNvPr id="4" name="Picture 3" descr="meta data bri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2003"/>
            <a:ext cx="10881360" cy="387399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21 / 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</a:rPr>
              <a:t>Four-Point Grading Logic (Fig. 3.8)</a:t>
            </a:r>
          </a:p>
        </p:txBody>
      </p:sp>
      <p:pic>
        <p:nvPicPr>
          <p:cNvPr id="4" name="Picture 3" descr="four gra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9363"/>
            <a:ext cx="10881360" cy="367927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22 / 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23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Dataset: Classes &amp; Audited Composition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309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Images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Hole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Missing / Damaged Region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 Defect Pattern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 Defect Pattern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Lines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Thin Irregularity Incl. Pulled Threads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Stain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Contamination / Discoloration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398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Defect-Free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Normal Fabric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1,505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463040"/>
            <a:ext cx="3566160" cy="713232"/>
          </a:xfrm>
          <a:prstGeom prst="roundRect">
            <a:avLst/>
          </a:prstGeom>
          <a:solidFill>
            <a:srgbClr val="2B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5F7F2"/>
                </a:solidFill>
                <a:latin typeface="Calibri"/>
              </a:rPr>
              <a:t>2,578 Scanned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331720"/>
            <a:ext cx="3566160" cy="713232"/>
          </a:xfrm>
          <a:prstGeom prst="roundRect">
            <a:avLst/>
          </a:prstGeom>
          <a:solidFill>
            <a:srgbClr val="D06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5F7F2"/>
                </a:solidFill>
                <a:latin typeface="Calibri"/>
              </a:rPr>
              <a:t>– 17 Exact Duplicates (Hash)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200400"/>
            <a:ext cx="3566160" cy="713232"/>
          </a:xfrm>
          <a:prstGeom prst="roundRect">
            <a:avLst/>
          </a:prstGeom>
          <a:solidFill>
            <a:srgbClr val="C4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5F7F2"/>
                </a:solidFill>
                <a:latin typeface="Calibri"/>
              </a:rPr>
              <a:t>– 12 Quarantined (Cross-Labeled)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069079"/>
            <a:ext cx="3566160" cy="713232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5F7F2"/>
                </a:solidFill>
                <a:latin typeface="Calibri"/>
              </a:rPr>
              <a:t>= 2,549 Usable 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074920"/>
            <a:ext cx="3566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F5F7F2"/>
                </a:solidFill>
                <a:latin typeface="Calibri"/>
              </a:rPr>
              <a:t>6 Classes, Per-File Cryptographic Hashes, Visual Verification Before Use.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24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Data Audit: Quarantine Ledger &amp; Split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Quarantine Ledger (Table 3.3)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9× Hole/Line_2018-10-11* + 3× Lines/Line_2018-10-10* — Identical Swatches Cross-Labeled Hole Vs Lines, Several Defect-Free.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Verdict: </a:t>
            </a:r>
            <a:r>
              <a:rPr sz="1350" b="0" i="0" dirty="0" err="1">
                <a:latin typeface="Calibri"/>
              </a:rPr>
              <a:t>Suspect_Cross_Label</a:t>
            </a:r>
            <a:r>
              <a:rPr sz="1350" b="0" i="0" dirty="0">
                <a:latin typeface="Calibri"/>
              </a:rPr>
              <a:t> / </a:t>
            </a:r>
            <a:r>
              <a:rPr sz="1350" b="0" i="0" dirty="0" err="1">
                <a:latin typeface="Calibri"/>
              </a:rPr>
              <a:t>Suspect_Batch</a:t>
            </a:r>
            <a:r>
              <a:rPr sz="1350" b="0" i="0" dirty="0">
                <a:latin typeface="Calibri"/>
              </a:rPr>
              <a:t> — Excluded From Both Train And Test.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Control Pair Verified Clean And Retained (Hole/20180531* Vs Lines/20180531*).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Group-Aware Split (Table 3.4)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Seed 42, Test-Fraction 0.2.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Swatch Families And Dated Shoots Never Split Across Sides.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Train: 2,081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Test: 468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Overlap Between Train And Test: 0.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25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Pilot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▪  Report Table 6.1 — Pilot Reference And Upper Bound:</a:t>
            </a:r>
          </a:p>
          <a:p>
            <a:r>
              <a:t>▪  Class accuracy (random split): 98% — a reference, not a reproduced result.</a:t>
            </a:r>
          </a:p>
          <a:p>
            <a:r>
              <a:t>▪  Reference preparation time: 5.44 hours.</a:t>
            </a:r>
          </a:p>
          <a:p>
            <a:r>
              <a:t>▪  MAE improvement (synthetic planning data): 92.0%.</a:t>
            </a:r>
          </a:p>
          <a:p>
            <a:r>
              <a:t>▪  Confusion overlap: Horizontal → Hole 8%, Hole → Horizontal 7%.</a:t>
            </a:r>
          </a:p>
          <a:p>
            <a:r>
              <a:t>▪  Chapter 4 is still pending, so no measured result is claimed.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18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System Diagram (Fig. 3.1)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300" b="0" i="0" dirty="0">
                <a:solidFill>
                  <a:schemeClr val="tx1"/>
                </a:solidFill>
                <a:latin typeface="Calibri"/>
              </a:rPr>
              <a:t>Camera /
Image 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300" b="0" i="0" dirty="0">
                <a:solidFill>
                  <a:schemeClr val="tx1"/>
                </a:solidFill>
                <a:latin typeface="Calibri"/>
              </a:rPr>
              <a:t>Industrial
Preprocessing:
Denoise, Deblur,
Low-Light Norm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8483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11480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300" b="0" i="0" dirty="0">
                <a:solidFill>
                  <a:schemeClr val="tx1"/>
                </a:solidFill>
                <a:latin typeface="Calibri"/>
              </a:rPr>
              <a:t>YOLO Defect
Detector:
Type + Boxes
And Masks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22191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8521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300" b="0" i="0" dirty="0">
                <a:solidFill>
                  <a:schemeClr val="tx1"/>
                </a:solidFill>
                <a:latin typeface="Calibri"/>
              </a:rPr>
              <a:t>Metadata
Bridge:
Ds + Rolling
Average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595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300" b="0" i="0" dirty="0">
                <a:solidFill>
                  <a:schemeClr val="tx1"/>
                </a:solidFill>
                <a:latin typeface="Calibri"/>
              </a:rPr>
              <a:t>Lead Time
Predictor:
Random Forest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9691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5097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300" b="0" i="0" dirty="0">
                <a:solidFill>
                  <a:schemeClr val="tx1"/>
                </a:solidFill>
                <a:latin typeface="Calibri"/>
              </a:rPr>
              <a:t>Planner
Dashboard</a:t>
            </a:r>
          </a:p>
        </p:txBody>
      </p:sp>
      <p:cxnSp>
        <p:nvCxnSpPr>
          <p:cNvPr id="17" name="Connector 16"/>
          <p:cNvCxnSpPr>
            <a:cxnSpLocks/>
            <a:stCxn id="14" idx="3"/>
          </p:cNvCxnSpPr>
          <p:nvPr/>
        </p:nvCxnSpPr>
        <p:spPr>
          <a:xfrm>
            <a:off x="9006840" y="3063240"/>
            <a:ext cx="52120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241280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371600" y="4864608"/>
            <a:ext cx="8851392" cy="0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353312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91840" y="4224528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5F7F2"/>
                </a:solidFill>
                <a:latin typeface="Calibri"/>
              </a:rPr>
              <a:t>Closed-Loop 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F5F7F2"/>
                </a:solidFill>
                <a:latin typeface="Calibri"/>
              </a:rPr>
              <a:t>Camera → Preprocessing → YOLO Detector → Metadata Bridge (Ds) → Random-Forest Lead-Time Predictor → Planner Dashboard.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19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Workflow Flowchart (Fig. 3.2)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17320"/>
            <a:ext cx="201168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50" b="1" i="0" dirty="0">
                <a:solidFill>
                  <a:schemeClr val="tx1"/>
                </a:solidFill>
                <a:latin typeface="Calibri"/>
              </a:rPr>
              <a:t>Start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50" b="0" i="0" dirty="0">
                <a:solidFill>
                  <a:schemeClr val="tx1"/>
                </a:solidFill>
                <a:latin typeface="Calibri"/>
              </a:rPr>
              <a:t>Capture Fabric Image / Stream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150" b="0" i="0" dirty="0">
                <a:solidFill>
                  <a:schemeClr val="tx1"/>
                </a:solidFill>
                <a:latin typeface="Calibri"/>
              </a:rPr>
              <a:t>Preprocessing
(Resize, Noise Removal, Enhance)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150" b="0" i="0" dirty="0">
                <a:solidFill>
                  <a:schemeClr val="tx1"/>
                </a:solidFill>
                <a:latin typeface="Calibri"/>
              </a:rPr>
              <a:t>YOLO Defect Detection
(Type + Boxes / Masks)</a:t>
            </a:r>
          </a:p>
        </p:txBody>
      </p:sp>
      <p:sp>
        <p:nvSpPr>
          <p:cNvPr id="11" name="Diamond 10"/>
          <p:cNvSpPr/>
          <p:nvPr/>
        </p:nvSpPr>
        <p:spPr>
          <a:xfrm>
            <a:off x="822960" y="4754880"/>
            <a:ext cx="2011680" cy="82296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20000"/>
          </a:bodyPr>
          <a:lstStyle/>
          <a:p>
            <a:pPr algn="ctr"/>
            <a:r>
              <a:rPr sz="1250" b="0" i="0" dirty="0">
                <a:solidFill>
                  <a:schemeClr val="tx1"/>
                </a:solidFill>
                <a:latin typeface="Calibri"/>
              </a:rPr>
              <a:t>Defect Detected?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4754880"/>
            <a:ext cx="2011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100" b="0" i="0" dirty="0">
                <a:solidFill>
                  <a:schemeClr val="tx1"/>
                </a:solidFill>
                <a:latin typeface="Calibri"/>
              </a:rPr>
              <a:t>Identify Defect Type
(Hole / Horizontal / Vertical / Lines / Stain)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760720"/>
            <a:ext cx="20116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100" b="0" i="0" dirty="0">
                <a:solidFill>
                  <a:schemeClr val="tx1"/>
                </a:solidFill>
                <a:latin typeface="Calibri"/>
              </a:rPr>
              <a:t>Mark Defect-Free, Ds = 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28800" y="1938528"/>
            <a:ext cx="0" cy="146303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828800" y="27614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28800" y="3675887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45902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559612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852928" y="5166360"/>
            <a:ext cx="512064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35040" y="182880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F5F7F2"/>
                </a:solidFill>
                <a:latin typeface="Calibri"/>
              </a:rPr>
              <a:t>▪  Each Frame Is Loaded, Preprocessed, And Passed Through YOLO Detection.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F5F7F2"/>
                </a:solidFill>
                <a:latin typeface="Calibri"/>
              </a:rPr>
              <a:t>▪  A Defect Triggers Area + Ds Computation; A Clean Frame Sets Ds = 0.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F5F7F2"/>
                </a:solidFill>
                <a:latin typeface="Calibri"/>
              </a:rPr>
              <a:t>▪  Ds Feeds A Rolling Average Before The Random Forest Predicts Hours.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F5F7F2"/>
                </a:solidFill>
                <a:latin typeface="Calibri"/>
              </a:rPr>
              <a:t>▪  Result Is Displayed, And The Loop Repeats Until Frames Run Out.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20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Data Flow &amp; Metadata Bridge (Fig. 3.3 / 3.4)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64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5F7F2"/>
                </a:solidFill>
                <a:latin typeface="Calibri"/>
              </a:rPr>
              <a:t>Level-0 DFD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96596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00" b="0" i="0" dirty="0">
                <a:solidFill>
                  <a:schemeClr val="tx1"/>
                </a:solidFill>
                <a:latin typeface="Calibri"/>
              </a:rPr>
              <a:t>Fabric Camera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97180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00" b="0" i="0" dirty="0">
                <a:solidFill>
                  <a:schemeClr val="tx1"/>
                </a:solidFill>
                <a:latin typeface="Calibri"/>
              </a:rPr>
              <a:t>Manufacturing Data</a:t>
            </a:r>
          </a:p>
        </p:txBody>
      </p:sp>
      <p:sp>
        <p:nvSpPr>
          <p:cNvPr id="10" name="Oval 9"/>
          <p:cNvSpPr/>
          <p:nvPr/>
        </p:nvSpPr>
        <p:spPr>
          <a:xfrm>
            <a:off x="2743200" y="1965960"/>
            <a:ext cx="2377440" cy="1828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400" b="1" i="0" dirty="0">
                <a:solidFill>
                  <a:schemeClr val="tx1"/>
                </a:solidFill>
                <a:latin typeface="Calibri"/>
              </a:rPr>
              <a:t>0 Detect + Score + Predict</a:t>
            </a:r>
          </a:p>
        </p:txBody>
      </p:sp>
      <p:sp>
        <p:nvSpPr>
          <p:cNvPr id="11" name="Oval 10"/>
          <p:cNvSpPr/>
          <p:nvPr/>
        </p:nvSpPr>
        <p:spPr>
          <a:xfrm>
            <a:off x="55778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00" b="0" i="0" dirty="0">
                <a:solidFill>
                  <a:schemeClr val="tx1"/>
                </a:solidFill>
                <a:latin typeface="Calibri"/>
              </a:rPr>
              <a:t>Result + Ds + Hours</a:t>
            </a:r>
          </a:p>
        </p:txBody>
      </p:sp>
      <p:sp>
        <p:nvSpPr>
          <p:cNvPr id="12" name="Oval 11"/>
          <p:cNvSpPr/>
          <p:nvPr/>
        </p:nvSpPr>
        <p:spPr>
          <a:xfrm>
            <a:off x="83210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00" b="0" i="0" dirty="0">
                <a:solidFill>
                  <a:schemeClr val="tx1"/>
                </a:solidFill>
                <a:latin typeface="Calibri"/>
              </a:rPr>
              <a:t>Planner / Inspector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77440" y="237744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377440" y="338328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20640" y="26517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63840" y="31089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977639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5F7F2"/>
                </a:solidFill>
                <a:latin typeface="Calibri"/>
              </a:rPr>
              <a:t>Ds Metadata Bridge (Rolling 10-Frame Average)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100" b="0" i="0" dirty="0">
                <a:solidFill>
                  <a:schemeClr val="tx1"/>
                </a:solidFill>
                <a:latin typeface="Calibri"/>
              </a:rPr>
              <a:t>YOLO Output:
Class, Conf., Box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04872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100" b="0" i="0" dirty="0">
                <a:solidFill>
                  <a:schemeClr val="tx1"/>
                </a:solidFill>
                <a:latin typeface="Calibri"/>
              </a:rPr>
              <a:t>Per-Defect
Area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12848" y="4892040"/>
            <a:ext cx="201167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169663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100" b="0" i="0" dirty="0">
                <a:solidFill>
                  <a:schemeClr val="tx1"/>
                </a:solidFill>
                <a:latin typeface="Calibri"/>
              </a:rPr>
              <a:t>Sum Defect
Area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77639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934456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100" b="0" i="0" dirty="0">
                <a:solidFill>
                  <a:schemeClr val="tx1"/>
                </a:solidFill>
                <a:latin typeface="Calibri"/>
              </a:rPr>
              <a:t>Ds =
Defect / Frame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742432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99248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100" b="0" i="0" dirty="0">
                <a:solidFill>
                  <a:schemeClr val="tx1"/>
                </a:solidFill>
                <a:latin typeface="Calibri"/>
              </a:rPr>
              <a:t>Rolling Avg.
Last 10 Frames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07223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46404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100" b="0" i="0" dirty="0">
                <a:solidFill>
                  <a:schemeClr val="tx1"/>
                </a:solidFill>
                <a:latin typeface="Calibri"/>
              </a:rPr>
              <a:t>Predictor
Input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272015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934456" y="5486400"/>
            <a:ext cx="1554480" cy="658368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100" b="0" i="0" dirty="0">
                <a:solidFill>
                  <a:schemeClr val="tx1"/>
                </a:solidFill>
                <a:latin typeface="Calibri"/>
              </a:rPr>
              <a:t>Frame Area
H × W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6711696" y="5367528"/>
            <a:ext cx="0" cy="10058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21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Lead-Time ML Pipeline (Fig. 3.5)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t>Machine Speed</a:t>
            </a:r>
          </a:p>
          <a:p>
            <a:r>
              <a:t>(From Plant Records)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t>Order Quantity</a:t>
            </a:r>
          </a:p>
          <a:p>
            <a:r>
              <a:t>(From Order Records)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760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t>Defect Density Ds</a:t>
            </a:r>
          </a:p>
          <a:p>
            <a:r>
              <a:t>(Ratio)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377440"/>
            <a:ext cx="219456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t>Random Forest</a:t>
            </a:r>
          </a:p>
          <a:p>
            <a:r>
              <a:t>Regression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377440"/>
            <a:ext cx="201168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50" b="0" i="0" dirty="0">
                <a:solidFill>
                  <a:schemeClr val="tx1"/>
                </a:solidFill>
                <a:latin typeface="Calibri"/>
              </a:rPr>
              <a:t>Lead Time
Hours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2377440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50" b="0" i="0" dirty="0">
                <a:solidFill>
                  <a:schemeClr val="tx1"/>
                </a:solidFill>
                <a:latin typeface="Calibri"/>
              </a:rPr>
              <a:t>MAE / RMSE / R²
Vs Static + No-Ds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1984248"/>
            <a:ext cx="512064" cy="66751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578608" y="2971800"/>
            <a:ext cx="512064" cy="6400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578608" y="3291840"/>
            <a:ext cx="512064" cy="79552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03520" y="297180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63840" y="297180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463040" y="5029200"/>
            <a:ext cx="9235440" cy="73152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5F7F2"/>
                </a:solidFill>
                <a:latin typeface="Calibri"/>
              </a:rPr>
              <a:t>Lead = (Qty / Speed) × 0.1 × (1 + 2 × Ds)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t>Order Quantity</a:t>
            </a:r>
          </a:p>
          <a:p>
            <a:r>
              <a:t>(From Order Records)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22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Four-Point Inspection Grading (Fig. 3.6)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46304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00" b="0" i="0" dirty="0">
                <a:solidFill>
                  <a:schemeClr val="tx1"/>
                </a:solidFill>
                <a:latin typeface="Calibri"/>
              </a:rPr>
              <a:t>Calibrate Pixels To Inches (Fixed Geometry)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212140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80560" y="228600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00" b="0" i="0" dirty="0">
                <a:solidFill>
                  <a:schemeClr val="tx1"/>
                </a:solidFill>
                <a:latin typeface="Calibri"/>
              </a:rPr>
              <a:t>Measure Fault Length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94436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iamond 10"/>
          <p:cNvSpPr/>
          <p:nvPr/>
        </p:nvSpPr>
        <p:spPr>
          <a:xfrm>
            <a:off x="5349240" y="3108960"/>
            <a:ext cx="1463040" cy="9144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50" b="1" i="0" dirty="0">
                <a:solidFill>
                  <a:schemeClr val="tx1"/>
                </a:solidFill>
                <a:latin typeface="Calibri"/>
              </a:rPr>
              <a:t>Length?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150" b="0" i="0" dirty="0">
                <a:solidFill>
                  <a:schemeClr val="tx1"/>
                </a:solidFill>
                <a:latin typeface="Calibri"/>
              </a:rPr>
              <a:t>Under 3 In
1 Point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1920239" y="4041648"/>
            <a:ext cx="3840481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410712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150" b="0" i="0" dirty="0">
                <a:solidFill>
                  <a:schemeClr val="tx1"/>
                </a:solidFill>
                <a:latin typeface="Calibri"/>
              </a:rPr>
              <a:t>3 To 6 In
2 Points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690872" y="4041648"/>
            <a:ext cx="1298448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81344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150" b="0" i="0" dirty="0">
                <a:solidFill>
                  <a:schemeClr val="tx1"/>
                </a:solidFill>
                <a:latin typeface="Calibri"/>
              </a:rPr>
              <a:t>6 To 9 In
3 Points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7920" y="4041648"/>
            <a:ext cx="1243584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951976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150" b="0" i="0" dirty="0">
                <a:solidFill>
                  <a:schemeClr val="tx1"/>
                </a:solidFill>
                <a:latin typeface="Calibri"/>
              </a:rPr>
              <a:t>Over 9 In Or
Hole Over 1 In
4 Points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46520" y="4041648"/>
            <a:ext cx="3785616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800600" y="544068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150" b="0" i="0" dirty="0">
                <a:solidFill>
                  <a:schemeClr val="tx1"/>
                </a:solidFill>
                <a:latin typeface="Calibri"/>
              </a:rPr>
              <a:t>Roll Grade From Total + Length + Weight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920239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90872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461504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232136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920240" y="5394960"/>
            <a:ext cx="8311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80760" y="5394960"/>
            <a:ext cx="0" cy="2743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26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Standards &amp; Compliance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184708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Software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Reusable Packages, Central Configuration, Version Control With Reviewable Manifests, Seeded Deterministic Training, COCO / YOLO Interchange Formats.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507992" y="184708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Hardware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Fixed-Geometry Calibration For Grading, Jetson-Class Edge Device With </a:t>
            </a:r>
            <a:r>
              <a:rPr sz="1350" b="0" i="0" dirty="0" err="1">
                <a:latin typeface="Calibri"/>
              </a:rPr>
              <a:t>TensorRT</a:t>
            </a:r>
            <a:r>
              <a:rPr sz="1350" b="0" i="0" dirty="0">
                <a:latin typeface="Calibri"/>
              </a:rPr>
              <a:t>, Factory-Safe Power Envelope.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11311" y="184708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Communication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REST File Handoff To The MES And Dashboard Over HTTP; No Proprietary Protocols.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27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Design Constraints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93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21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How We Handle It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Zero Software Cost; ROI Via Reduced DHU / Chargeback In 2–3 Years At Expected Trial Performance.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Environmental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Small Training Footprint, Low Edge Power Draw, Fewer Faulty Shipments.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Ethical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Cameras Face Fabric, Not Workers; Wrong Labels Are Corrected, Not Ignored; Planning Data Stays Labeled Until Factory Records Take Over.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Health &amp; Safety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Enclosed System Helps Reduce Inspector Eye Strain.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Bangla-Language Labels; Inspectors Trained Toward Supervisor Roles.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Political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No Approvals Required.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Manufacturability &amp; Cost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Computers, Cameras, And Jetson Hardware Are All Moderate-Cost And Readily Available.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8647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Sustainability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Open Formats, Maintainable Scripts, An Expandable Dataset.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28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Estimated Project Budget (Table 5.1)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3823864"/>
              </p:ext>
            </p:extLst>
          </p:nvPr>
        </p:nvGraphicFramePr>
        <p:xfrm>
          <a:off x="748665" y="1042416"/>
          <a:ext cx="8138160" cy="5376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Cost Category</a:t>
                      </a:r>
                    </a:p>
                  </a:txBody>
                  <a:tcPr marL="73152" marR="73152"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Estimated Cost (BDT)</a:t>
                      </a:r>
                    </a:p>
                  </a:txBody>
                  <a:tcPr marL="73152" marR="73152" anchor="ctr">
                    <a:solidFill>
                      <a:srgbClr val="D99A0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Dataset preparation and auditing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Camera and image acquisition resources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4,000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Computing and development resources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Testing and integration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Edge deployment and hardware-related resources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Documentation and presentation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Miscellaneous expenses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144000" y="2743200"/>
            <a:ext cx="2468880" cy="137160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Estimation Total</a:t>
            </a:r>
          </a:p>
          <a:p>
            <a:r>
              <a:t>16,000 BDT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29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Project Plan (Table 3.7; Gantt: Fig. 3.9)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3291840"/>
              </a:tblGrid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73152" marR="73152"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Schedule / Status</a:t>
                      </a:r>
                    </a:p>
                  </a:txBody>
                  <a:tcPr marL="73152" marR="73152" anchor="ctr">
                    <a:solidFill>
                      <a:srgbClr val="D99A0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Audit / Split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Reproduction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Weeks 1–2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Weeks 3–10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Anomaly Detection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Weeks 8–14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Lead-Time Planning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Weeks 12–18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Edge Deployment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Weeks 16–24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Weeks 24–28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Documentation and Write-up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Weeks 24–32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61888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 dirty="0">
                <a:solidFill>
                  <a:srgbClr val="F5F7F2"/>
                </a:solidFill>
                <a:latin typeface="Calibri"/>
              </a:rPr>
              <a:t>Audit / Split (Done) → Reproduction → Segmentation → Anomaly → Planning → Edge → Write-Up, Over 32 Weeks.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640080" y="320040"/>
            <a:ext cx="50292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700" b="1">
                <a:solidFill>
                  <a:srgbClr val="F5F8F4"/>
                </a:solidFill>
              </a:rPr>
              <a:t>Complex Engineering Problem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644331"/>
              </p:ext>
            </p:extLst>
          </p:nvPr>
        </p:nvGraphicFramePr>
        <p:xfrm>
          <a:off x="1003895" y="1028700"/>
          <a:ext cx="9966957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38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38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38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3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38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238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38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845820"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P1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Depth of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knowledge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P2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Conflicting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requirements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P3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Depth of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analysis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P4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Familiarity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of issues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P5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Applicable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codes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P6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Stakeholder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involvement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P7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Inter-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dependence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58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5B657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5B657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010703" y="2743200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F2CA46"/>
                </a:solidFill>
              </a:rPr>
              <a:t>P1 - Knowledge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0703" y="3127248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250" b="0">
                <a:solidFill>
                  <a:srgbClr val="F5F8F4"/>
                </a:solidFill>
              </a:rPr>
              <a:t>Computer vision, image processing, deep learning, anomaly detection, machine learning, production planning, YOLO-based defect detection, few-shot anomaly detection and edge deployment.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0703" y="4160520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F2CA46"/>
                </a:solidFill>
              </a:rPr>
              <a:t>P3 - Analysis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0703" y="4544568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250" b="0">
                <a:solidFill>
                  <a:srgbClr val="F5F8F4"/>
                </a:solidFill>
              </a:rPr>
              <a:t>Requires analysis of dataset quality, duplicate and quarantined samples, group-aware splitting, detection metrics (mAP) and prediction metrics (MAE, RMSE, R²).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8463" y="2743200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F2CA46"/>
                </a:solidFill>
              </a:rPr>
              <a:t>P2 - Trade-off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8463" y="3127248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250" b="0">
                <a:solidFill>
                  <a:srgbClr val="F5F8F4"/>
                </a:solidFill>
              </a:rPr>
              <a:t>Balances defect-detection accuracy, real-time processing speed, edge-resource limits and reliable lead-time prediction from available manufacturing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8463" y="4160520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F2CA46"/>
                </a:solidFill>
              </a:rPr>
              <a:t>P6/P7 - Involvement &amp; Interdependence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8463" y="4544568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250" b="0">
                <a:solidFill>
                  <a:srgbClr val="F5F8F4"/>
                </a:solidFill>
              </a:rPr>
              <a:t>Supports inspectors, planners and developers. Preprocessing affects detection, detection affects Ds, and Ds affects lead-time prediction.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419088"/>
            <a:ext cx="27432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0">
                <a:solidFill>
                  <a:srgbClr val="F5F8F4"/>
                </a:solidFill>
              </a:rPr>
              <a:t>FGAP  |  FYDP-I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6419088"/>
            <a:ext cx="27432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900" b="0">
                <a:solidFill>
                  <a:srgbClr val="F5F8F4"/>
                </a:solidFill>
              </a:rPr>
              <a:t>Report: Table 5.2 and Section 5.4.1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30 /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640080" y="320040"/>
            <a:ext cx="53035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700" b="1">
                <a:solidFill>
                  <a:srgbClr val="F5F8F4"/>
                </a:solidFill>
              </a:rPr>
              <a:t>Complex Engineering Activities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707865"/>
              </p:ext>
            </p:extLst>
          </p:nvPr>
        </p:nvGraphicFramePr>
        <p:xfrm>
          <a:off x="1035996" y="963717"/>
          <a:ext cx="9144000" cy="166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9826"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A1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Range of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resources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A2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Level of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interaction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A3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Innovation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A4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Consequences for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society and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environment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A5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Familiarity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827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039886" y="2743202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F2CA46"/>
                </a:solidFill>
              </a:rPr>
              <a:t>A1 - Resources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39886" y="3127250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250" b="0">
                <a:solidFill>
                  <a:srgbClr val="F5F8F4"/>
                </a:solidFill>
              </a:rPr>
              <a:t>Uses datasets, Python libraries, Ultralytics YOLO, OpenCV, scikit-learn, cloud GPU resources, industrial cameras and Jetson-class edge hardware.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39886" y="4160522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F2CA46"/>
                </a:solidFill>
              </a:rPr>
              <a:t>A3 - Innovation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9886" y="4544570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250" b="0">
                <a:solidFill>
                  <a:srgbClr val="F5F8F4"/>
                </a:solidFill>
              </a:rPr>
              <a:t>Connects fabric defect detection with production lead-time prediction through the Defect Density Score (Ds) and a few-shot anomaly branch.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77646" y="2743202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F2CA46"/>
                </a:solidFill>
              </a:rPr>
              <a:t>A2 - Interaction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77646" y="3127250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250" b="0">
                <a:solidFill>
                  <a:srgbClr val="F5F8F4"/>
                </a:solidFill>
              </a:rPr>
              <a:t>Image input, preprocessing, YOLO detection, metadata bridge, defect scoring, prediction and dashboard output closely interact throughout the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77646" y="4160522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F2CA46"/>
                </a:solidFill>
              </a:rPr>
              <a:t>A4/A5 - Consequences &amp; Familiarity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77646" y="4544570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250" b="0">
                <a:solidFill>
                  <a:srgbClr val="F5F8F4"/>
                </a:solidFill>
              </a:rPr>
              <a:t>Improves quality inspection, production planning and resource use. Integrates both established tools and advanced techniques in one system.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419088"/>
            <a:ext cx="27432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0">
                <a:solidFill>
                  <a:srgbClr val="F5F8F4"/>
                </a:solidFill>
              </a:rPr>
              <a:t>FGAP  |  FYDP-I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6419088"/>
            <a:ext cx="27432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900" b="0">
                <a:solidFill>
                  <a:srgbClr val="F5F8F4"/>
                </a:solidFill>
              </a:rPr>
              <a:t>Report: Table 5.3 and Section 5.4.2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31 / 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32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Risks &amp; Mitigations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t>Key Risks</a:t>
            </a:r>
          </a:p>
          <a:p>
            <a:r>
              <a:t>Free cloud GPU quota (Google Colab / departmental GPU lab, Report §5.4.2): if exhausted, fall back to existing computers and defer edge hardware.</a:t>
            </a:r>
          </a:p>
          <a:p>
            <a:r>
              <a:t>Factory data access: if unavailable, fallback to calibrated queuing simulation with documented parameters; paired Ds‑vs‑defect analysis is the contribution.</a:t>
            </a:r>
          </a:p>
          <a:p>
            <a:r>
              <a:t>Quarantine ambiguity: 152‑file lines batch may hide a second quarantine; visual review still open.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t>Mitigations</a:t>
            </a:r>
          </a:p>
          <a:p>
            <a:r>
              <a:t>Checkpoint during training so quota loss costs minutes, not hours.</a:t>
            </a:r>
          </a:p>
          <a:p>
            <a:r>
              <a:t>Paired dataset (defect counts + our Ds) is itself a contribution if factory declines.</a:t>
            </a:r>
          </a:p>
          <a:p>
            <a:r>
              <a:t>Visual review of lines batch in progress; interim: report as ‘suspicious’ in datasheet.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33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Task Allocation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Primary Responsibility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Abdullah Al Fahim Zahin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Baseline Reproduction, YOLO Model Training And Evaluation, Lead-Time Prediction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Nafiz Imtiaz Labib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Dataset Collection And Auditing, Dataset Split And Preparation, Edge Deployment And Validation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MST Riya Akter Satu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Requirement Analysis, Image Preprocessing, Documentation And Report Writing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Mohammed Amin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Few-Shot Anomaly Detection Using PatchCore / DINOv2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Fahim Ferdous Niloy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Metadata Bridge, Defect Density Score (Ds) Calculation, Rolling Average, Planner Dashboard Development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Md. Mostafizur Rahman Murad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34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Conclusion &amp; Future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2000" b="1" i="0" dirty="0">
                <a:latin typeface="Calibri"/>
              </a:rPr>
              <a:t>Summary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Reviewed 20 Works, Fixed Requirements, Chose The Detect → Segment → Anomaly → Predict Methodology.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Audited The Dataset: Hashed Every Image, Removed 17 Duplicates, Quarantined 12 Files, Confirmed 2,081 Train / 468 Test With Zero Overlap.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That Audit Supports Every Number That Follows.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2000" b="1" i="0" dirty="0">
                <a:latin typeface="Calibri"/>
              </a:rPr>
              <a:t>Future 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Relabel Quarantine Using A </a:t>
            </a:r>
            <a:r>
              <a:rPr sz="1400" b="0" i="0" dirty="0" err="1">
                <a:latin typeface="Calibri"/>
              </a:rPr>
              <a:t>pHash</a:t>
            </a:r>
            <a:r>
              <a:rPr sz="1400" b="0" i="0" dirty="0">
                <a:latin typeface="Calibri"/>
              </a:rPr>
              <a:t> Sweep.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Gather Roll-ID-Disciplined V2 Factory Data.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Build A Bangla Dashboard For Planners.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Benchmark Against </a:t>
            </a:r>
            <a:r>
              <a:rPr sz="1400" b="0" i="0" dirty="0" err="1">
                <a:latin typeface="Calibri"/>
              </a:rPr>
              <a:t>Isl</a:t>
            </a:r>
            <a:r>
              <a:rPr sz="1400" b="0" i="0" dirty="0">
                <a:latin typeface="Calibri"/>
              </a:rPr>
              <a:t>-Knit And </a:t>
            </a:r>
            <a:r>
              <a:rPr sz="1400" b="0" i="0" dirty="0" err="1">
                <a:latin typeface="Calibri"/>
              </a:rPr>
              <a:t>FabricSpotDefect</a:t>
            </a:r>
            <a:r>
              <a:rPr sz="1400" b="0" i="0" dirty="0">
                <a:latin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Submit Results To A Conference.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F5F7F2"/>
                </a:solidFill>
                <a:latin typeface="Calibri"/>
              </a:rPr>
              <a:t>Limitations: Pilot Localization Is Estimated, Not Measured; Planning Labels Are Synthetic; 1,994 Files Lack Group IDs; Minority Classes Are Thin; Industrial Validation Is Pending.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35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5F7F2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66105"/>
            <a:ext cx="1106424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2000" b="0" i="0" dirty="0">
                <a:solidFill>
                  <a:srgbClr val="F5F7F2"/>
                </a:solidFill>
                <a:latin typeface="Calibri"/>
              </a:rPr>
              <a:t>Any Question?</a:t>
            </a:r>
            <a:endParaRPr sz="2000" b="0" i="0" dirty="0">
              <a:solidFill>
                <a:srgbClr val="F5F7F2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F5F7F2"/>
                </a:solidFill>
                <a:latin typeface="Calibri"/>
              </a:rPr>
              <a:t>Defect-to-Delivery — Fabric Defect Detection &amp; Lead-Time Prediction  |  FYDP-I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3277</Words>
  <Application>Microsoft Office PowerPoint</Application>
  <PresentationFormat>Custom</PresentationFormat>
  <Paragraphs>645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4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Fahim Zahin</cp:lastModifiedBy>
  <cp:revision>8</cp:revision>
  <dcterms:created xsi:type="dcterms:W3CDTF">2013-01-27T09:14:16Z</dcterms:created>
  <dcterms:modified xsi:type="dcterms:W3CDTF">2026-09-30T17:35:09Z</dcterms:modified>
  <cp:category/>
</cp:coreProperties>
</file>