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5" r:id="rId12"/>
    <p:sldId id="266" r:id="rId13"/>
    <p:sldId id="281" r:id="rId14"/>
    <p:sldId id="267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68" r:id="rId24"/>
    <p:sldId id="269" r:id="rId25"/>
    <p:sldId id="270" r:id="rId26"/>
    <p:sldId id="276" r:id="rId32"/>
    <p:sldId id="277" r:id="rId33"/>
    <p:sldId id="278" r:id="rId34"/>
    <p:sldId id="279" r:id="rId35"/>
    <p:sldId id="294" r:id="rId36"/>
    <p:sldId id="295" r:id="rId37"/>
    <p:sldId id="280" r:id="rId38"/>
    <p:sldId id="282" r:id="rId39"/>
    <p:sldId id="283" r:id="rId40"/>
    <p:sldId id="284" r:id="rId4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5B"/>
    <a:srgbClr val="0858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F5F7F2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F5F7F2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9564" y="1403033"/>
            <a:ext cx="3337559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985597" y="1695641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5075" y="1659065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 dirty="0"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1959" y="1373124"/>
            <a:ext cx="33375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895949" y="1618488"/>
            <a:ext cx="523037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1252" y="1613916"/>
            <a:ext cx="1961388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 dirty="0"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 err="1">
                <a:latin typeface="Calibri"/>
              </a:rPr>
              <a:t>Nafiz Imtiaz Labib</a:t>
            </a:r>
            <a:r>
              <a:rPr sz="1350" b="1" i="0" dirty="0"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100" b="0" i="0" dirty="0">
                <a:latin typeface="Calibri"/>
              </a:rPr>
              <a:t>0112310422</a:t>
            </a:r>
            <a:r>
              <a:rPr lang="en-US" sz="1100" dirty="0"/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MST Riya </a:t>
            </a:r>
            <a:r>
              <a:rPr sz="1350" b="1" i="0" dirty="0" err="1">
                <a:latin typeface="Calibri"/>
              </a:rPr>
              <a:t>Akter</a:t>
            </a:r>
            <a:r>
              <a:rPr sz="1350" b="1" i="0" dirty="0">
                <a:latin typeface="Calibri"/>
              </a:rPr>
              <a:t>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Fahim Ferdous </a:t>
            </a:r>
            <a:r>
              <a:rPr sz="1350" b="1" i="0" dirty="0" err="1">
                <a:latin typeface="Calibri"/>
              </a:rPr>
              <a:t>Niloy</a:t>
            </a:r>
            <a:endParaRPr sz="1350" b="1" i="0" dirty="0">
              <a:latin typeface="Calibri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 dirty="0">
                <a:latin typeface="Calibri"/>
              </a:rPr>
              <a:t>Md. </a:t>
            </a:r>
            <a:r>
              <a:rPr sz="1350" b="1" i="0" dirty="0" err="1">
                <a:latin typeface="Calibri"/>
              </a:rPr>
              <a:t>Mostafizur</a:t>
            </a:r>
            <a:r>
              <a:rPr sz="1350" b="1" i="0" dirty="0">
                <a:latin typeface="Calibri"/>
              </a:rPr>
              <a:t>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>
                <a:latin typeface="Calibri"/>
              </a:rPr>
              <a:t>Complex Engineering Problem, Task Allocation &amp; Conclusion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A9AE5F74-44E4-4A0A-9976-124DAFF38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060" y="1603630"/>
            <a:ext cx="1021900" cy="1016126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6" name="Picture 45" descr="A person in a suit and tie&#10;&#10;Description automatically generated">
            <a:extLst>
              <a:ext uri="{FF2B5EF4-FFF2-40B4-BE49-F238E27FC236}">
                <a16:creationId xmlns:a16="http://schemas.microsoft.com/office/drawing/2014/main" id="{FDC7340E-25ED-4BE1-B6FF-E0E3B5CA5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25" y="1568196"/>
            <a:ext cx="1132387" cy="11430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1.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2.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3.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4.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5.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6.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 dirty="0">
                <a:solidFill>
                  <a:schemeClr val="tx1"/>
                </a:solidFill>
                <a:latin typeface="Calibri"/>
              </a:rPr>
              <a:t>7.  </a:t>
            </a:r>
            <a:r>
              <a:rPr sz="1600" b="1" dirty="0">
                <a:solidFill>
                  <a:schemeClr val="tx1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Problem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5F7F2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i="0">
                <a:solidFill>
                  <a:srgbClr val="F5F7F2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 dirty="0">
                <a:solidFill>
                  <a:srgbClr val="F5F7F2"/>
                </a:solidFill>
                <a:latin typeface="Georgia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 Dataset Audit: 2,578 Factory Images Scanned — 17 Exact Duplicates (Hash) And 12 Cross-Labeled Files Quarantined After Visual Verification, Leaving 2,549 Usable Images.</a:t>
            </a:r>
          </a:p>
          <a:p>
            <a:r>
              <a:t>▪  Report Table 6.1 Records 98% Class Accuracy As An Upper-Bound Reference On A Random Split — Not A Reproduced Result Of This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Objectives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5F7F2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Methodology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Instance Masks For Accurate Stain / Pulled-Thread Area Vs Over-Estimating Boxes; Mask </a:t>
            </a:r>
            <a:r>
              <a:rPr sz="1350" b="0" i="0" dirty="0" err="1">
                <a:latin typeface="Calibri"/>
              </a:rPr>
              <a:t>IoU</a:t>
            </a:r>
            <a:r>
              <a:rPr sz="1350" b="0" i="0" dirty="0">
                <a:latin typeface="Calibri"/>
              </a:rPr>
              <a:t>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Few-Shot Anomaly Detection (</a:t>
            </a:r>
            <a:r>
              <a:rPr sz="1350" b="0" i="0" dirty="0" err="1">
                <a:latin typeface="Calibri"/>
              </a:rPr>
              <a:t>PatchCore</a:t>
            </a:r>
            <a:r>
              <a:rPr sz="1350" b="0" i="0" dirty="0">
                <a:latin typeface="Calibri"/>
              </a:rPr>
              <a:t>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Random Forest Regression On Speed, Quantity, Ds Ablated Against </a:t>
            </a:r>
            <a:r>
              <a:rPr sz="1350" b="0" i="0" dirty="0" err="1">
                <a:latin typeface="Calibri"/>
              </a:rPr>
              <a:t>XGBoost</a:t>
            </a:r>
            <a:r>
              <a:rPr sz="1350" b="0" i="0" dirty="0">
                <a:latin typeface="Calibri"/>
              </a:rPr>
              <a:t>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Python, </a:t>
            </a:r>
            <a:r>
              <a:rPr sz="1350" b="0" i="0" dirty="0" err="1">
                <a:latin typeface="Calibri"/>
              </a:rPr>
              <a:t>Ultralytics</a:t>
            </a:r>
            <a:r>
              <a:rPr sz="1350" b="0" i="0" dirty="0">
                <a:latin typeface="Calibri"/>
              </a:rPr>
              <a:t> YOLO, OpenCV, Scikit-Learn On Jetson-Class Edge With </a:t>
            </a:r>
            <a:r>
              <a:rPr sz="1350" b="0" i="0" dirty="0" err="1">
                <a:latin typeface="Calibri"/>
              </a:rPr>
              <a:t>TensorRT</a:t>
            </a:r>
            <a:r>
              <a:rPr sz="1350" b="0" i="0" dirty="0"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Fabric Defect Datasets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 dirty="0">
                <a:solidFill>
                  <a:srgbClr val="F5F7F2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F5F7F2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F5F7F2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 dirty="0" err="1">
                <a:solidFill>
                  <a:srgbClr val="F5F7F2"/>
                </a:solidFill>
                <a:latin typeface="Calibri"/>
              </a:rPr>
              <a:t>EfficientDet</a:t>
            </a:r>
            <a:r>
              <a:rPr sz="1450" b="0" i="0">
                <a:solidFill>
                  <a:srgbClr val="F5F7F2"/>
                </a:solidFill>
                <a:latin typeface="Calibri"/>
              </a:rPr>
              <a:t> + Jetson TX2 At 22.7 FPS (2.5× Cloud); YOLOv11 On Orin Nano; YOLOv11 +70% Avg. </a:t>
            </a:r>
            <a:r>
              <a:rPr sz="1450" b="0" i="0" dirty="0">
                <a:solidFill>
                  <a:srgbClr val="F5F7F2"/>
                </a:solidFill>
                <a:latin typeface="Calibri"/>
              </a:rPr>
              <a:t>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5F7F2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No Published Vision–Ds Lead-Time Fusion Exists — This Is Our Gap. Closest Work: CIIS 2024 Wastage Prediction (Supervised, Own Dataset Of 633 Samples);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10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Literature Analysis (Selected)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5443"/>
              </p:ext>
            </p:extLst>
          </p:nvPr>
        </p:nvGraphicFramePr>
        <p:xfrm>
          <a:off x="575945" y="932688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11 / 35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F5F7F2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F5F7F2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0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06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Group-aware split (2,081/468)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Four-point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Jetson-class target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Seed 42; 2,081 train / 468 test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Vision-to-hours 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Planner dashboard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Planned output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14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Requirement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Functional Requirements (FR1–FR7) — Report Table 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Non-Functional Requirements (NFR1–NFR5) — Report Table 3.1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 Report Table 3.1 Lists 7 Functional And 5 Non-Functional Requirements, With Measurable Targets (≥15 FPS, mAP Tracking, Zero-Overlap Group-Aware Splits).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81328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517904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FR1 —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169164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Fabric image / video stream accepted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75104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201168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FR2 — Preprocess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2185416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Denoise, deblur, low-light normalisation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468880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2505456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FR3 — Detect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2679192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Defect type from YOLO detection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962656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" y="2999232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FR4 — Classify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172968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Defect-free frames identified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456432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3493008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FR5 —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3666744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Area ratio and Defect Density Score (Ds)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950208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3986784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FR6 — 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" y="416052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Random Forest lead-time prediction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43984"/>
            <a:ext cx="5623560" cy="420624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" y="4480560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4E4C"/>
                </a:solidFill>
                <a:latin typeface="Calibri"/>
              </a:rPr>
              <a:t>FR7 —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654296"/>
            <a:ext cx="5294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5B6570"/>
                </a:solidFill>
                <a:latin typeface="Calibri"/>
              </a:rPr>
              <a:t>Result output to the planner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5352" y="1481328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9944" y="1554480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NFR1 — Accurate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9944" y="1810512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mAP tracking during evaluation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2176272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9944" y="2249424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NFR2 — 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9944" y="2505456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Lighting and texture variation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2871216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9944" y="2944368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NFR3 — Efficient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4" y="3200400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≥15 FPS at the edge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5352" y="3566160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3639312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NFR4 — Scalable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9944" y="3895344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New fabrics via the few-shot branch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45352" y="4261104"/>
            <a:ext cx="5623560" cy="621792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9944" y="4334256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4E4C"/>
                </a:solidFill>
                <a:latin typeface="Calibri"/>
              </a:rPr>
              <a:t>NFR5 — Maintainable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9944" y="4590288"/>
            <a:ext cx="52943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570"/>
                </a:solidFill>
                <a:latin typeface="Calibri"/>
              </a:rPr>
              <a:t>Modular code, one config point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Proposed System Diagram (Fig. 3.2)</a:t>
            </a:r>
          </a:p>
        </p:txBody>
      </p:sp>
      <p:pic>
        <p:nvPicPr>
          <p:cNvPr id="4" name="Picture 3" descr="architectural de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616" y="914400"/>
            <a:ext cx="9658286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Context Diagram (Fig. 3.1)</a:t>
            </a:r>
          </a:p>
        </p:txBody>
      </p:sp>
      <p:pic>
        <p:nvPicPr>
          <p:cNvPr id="4" name="Picture 3" descr="contex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73" y="914400"/>
            <a:ext cx="10689973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Use Case Diagram (Fig. 3.4)</a:t>
            </a:r>
          </a:p>
        </p:txBody>
      </p:sp>
      <p:pic>
        <p:nvPicPr>
          <p:cNvPr id="4" name="Picture 3" descr="use c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60" y="914400"/>
            <a:ext cx="75438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System Workflow (Fig. 3.5)</a:t>
            </a:r>
          </a:p>
        </p:txBody>
      </p:sp>
      <p:pic>
        <p:nvPicPr>
          <p:cNvPr id="6" name="Picture 5" descr="A diagram of a process flow&#10;&#10;Description automatically generated">
            <a:extLst>
              <a:ext uri="{FF2B5EF4-FFF2-40B4-BE49-F238E27FC236}">
                <a16:creationId xmlns:a16="http://schemas.microsoft.com/office/drawing/2014/main" id="{D42C8D63-03DF-43DE-8DDE-791DA9B81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766" y="914400"/>
            <a:ext cx="4759987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Workflow Decision Loop (Fig. 3.5)</a:t>
            </a:r>
          </a:p>
        </p:txBody>
      </p:sp>
      <p:pic>
        <p:nvPicPr>
          <p:cNvPr id="4" name="Picture 3" descr="proposed system 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734"/>
            <a:ext cx="10881360" cy="41145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Machine Learning Pipeline (Fig. 3.7)</a:t>
            </a:r>
          </a:p>
        </p:txBody>
      </p:sp>
      <p:pic>
        <p:nvPicPr>
          <p:cNvPr id="4" name="Picture 3" descr="ml 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15440"/>
            <a:ext cx="10881360" cy="36271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Metadata Bridge (Fig. 3.6)</a:t>
            </a:r>
          </a:p>
        </p:txBody>
      </p:sp>
      <p:pic>
        <p:nvPicPr>
          <p:cNvPr id="4" name="Picture 3" descr="meta data bri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2003"/>
            <a:ext cx="10881360" cy="38739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1480" y="228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5F7F2"/>
                </a:solidFill>
              </a:rPr>
              <a:t>Four-Point Grading Logic (Fig. 3.8)</a:t>
            </a:r>
          </a:p>
        </p:txBody>
      </p:sp>
      <p:pic>
        <p:nvPicPr>
          <p:cNvPr id="4" name="Picture 3" descr="four gra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9363"/>
            <a:ext cx="10881360" cy="367927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Dataset: Classes &amp; Audited Composition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5F7F2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F5F7F2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Verdict: </a:t>
            </a:r>
            <a:r>
              <a:rPr sz="1350" b="0" i="0" dirty="0" err="1">
                <a:latin typeface="Calibri"/>
              </a:rPr>
              <a:t>Suspect_Cross_Label</a:t>
            </a:r>
            <a:r>
              <a:rPr sz="1350" b="0" i="0" dirty="0">
                <a:latin typeface="Calibri"/>
              </a:rPr>
              <a:t> / </a:t>
            </a:r>
            <a:r>
              <a:rPr sz="1350" b="0" i="0" dirty="0" err="1">
                <a:latin typeface="Calibri"/>
              </a:rPr>
              <a:t>Suspect_Batch</a:t>
            </a:r>
            <a:r>
              <a:rPr sz="1350" b="0" i="0" dirty="0">
                <a:latin typeface="Calibri"/>
              </a:rPr>
              <a:t>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Pilot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 Report Table 6.1 — Pilot Reference And Upper Bound:</a:t>
            </a:r>
          </a:p>
          <a:p>
            <a:r>
              <a:t>▪  Class accuracy (random split): 98% — a reference, not a reproduced result.</a:t>
            </a:r>
          </a:p>
          <a:p>
            <a:r>
              <a:t>▪  Reference preparation time: 5.44 hours.</a:t>
            </a:r>
          </a:p>
          <a:p>
            <a:r>
              <a:t>▪  MAE improvement (synthetic planning data): 92.0%.</a:t>
            </a:r>
          </a:p>
          <a:p>
            <a:r>
              <a:t>▪  Confusion overlap: Horizontal → Hole 8%, Hole → Horizontal 7%.</a:t>
            </a:r>
          </a:p>
          <a:p>
            <a:r>
              <a:t>▪  Chapter 4 is still pending, so no measured result is claimed.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26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Fixed-Geometry Calibration For Grading, Jetson-Class Edge Device With </a:t>
            </a:r>
            <a:r>
              <a:rPr sz="1350" b="0" i="0" dirty="0" err="1">
                <a:latin typeface="Calibri"/>
              </a:rPr>
              <a:t>TensorRT</a:t>
            </a:r>
            <a:r>
              <a:rPr sz="1350" b="0" i="0" dirty="0">
                <a:latin typeface="Calibri"/>
              </a:rPr>
              <a:t>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 dirty="0"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 dirty="0"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27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Design Constraints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28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Estimated Project Budget (Table 5.1)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823864"/>
              </p:ext>
            </p:extLst>
          </p:nvPr>
        </p:nvGraphicFramePr>
        <p:xfrm>
          <a:off x="748665" y="1042416"/>
          <a:ext cx="8138160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Estimation Total</a:t>
            </a:r>
          </a:p>
          <a:p>
            <a:r>
              <a:t>16,000 BDT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29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Project Plan (Table 3.7; Gantt: Fig. 3.9)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3291840"/>
              </a:tblGrid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marL="73152" marR="73152" anchor="ctr">
                    <a:solidFill>
                      <a:srgbClr val="D99A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ctr"/>
                      <a:r>
                        <a:rPr sz="1100" b="0">
                          <a:solidFill>
                            <a:srgbClr val="5B6570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 dirty="0">
                <a:solidFill>
                  <a:srgbClr val="F5F7F2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0292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700" b="1">
                <a:solidFill>
                  <a:srgbClr val="F5F8F4"/>
                </a:solidFill>
              </a:rPr>
              <a:t>Complex Engineering Problem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644331"/>
              </p:ext>
            </p:extLst>
          </p:nvPr>
        </p:nvGraphicFramePr>
        <p:xfrm>
          <a:off x="1003895" y="1028700"/>
          <a:ext cx="9966957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8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knowledge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Conflicting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Depth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analysis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Familiarity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of issues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Applicable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codes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P6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Stakeholder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involvement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P7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Inter-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dependence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5B657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10703" y="274320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P1 - Knowledge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703" y="312724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Computer vision, image processing, deep learning, anomaly detection, machine learning, production planning, YOLO-based defect detection, few-shot anomaly detection and edge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0703" y="416052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P3 - Analysis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0703" y="454456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Requires analysis of dataset quality, duplicate and quarantined samples, group-aware splitting, detection metrics (mAP) and prediction metrics (MAE, RMSE, R²).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8463" y="274320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P2 - Trade-off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8463" y="312724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Balances defect-detection accuracy, real-time processing speed, edge-resource limits and reliable lead-time prediction from available manufacturing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8463" y="4160520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P6/P7 - Involvement &amp; Interdependence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8463" y="4544568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Supports inspectors, planners and developers. Preprocessing affects detection, detection affects Ds, and Ds affects lead-time prediction.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0">
                <a:solidFill>
                  <a:srgbClr val="F5F8F4"/>
                </a:solidFill>
              </a:rPr>
              <a:t>FGAP  | 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900" b="0">
                <a:solidFill>
                  <a:srgbClr val="F5F8F4"/>
                </a:solidFill>
              </a:rPr>
              <a:t>Report: Table 5.2 and Section 5.4.1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40080" y="320040"/>
            <a:ext cx="53035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700" b="1">
                <a:solidFill>
                  <a:srgbClr val="F5F8F4"/>
                </a:solidFill>
              </a:rPr>
              <a:t>Complex Engineering Activities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707865"/>
              </p:ext>
            </p:extLst>
          </p:nvPr>
        </p:nvGraphicFramePr>
        <p:xfrm>
          <a:off x="1035996" y="963717"/>
          <a:ext cx="9144000" cy="166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9826"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A1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Range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resources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A2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Level of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interaction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A3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Innovation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A4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Consequences for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society and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environment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A5</a:t>
                      </a:r>
                    </a:p>
                    <a:p>
                      <a:pPr algn="ctr"/>
                      <a:r>
                        <a:rPr sz="1500" b="1" dirty="0">
                          <a:solidFill>
                            <a:srgbClr val="1A424D"/>
                          </a:solidFill>
                        </a:rPr>
                        <a:t>Familiarity</a:t>
                      </a:r>
                    </a:p>
                  </a:txBody>
                  <a:tcPr anchor="ctr">
                    <a:solidFill>
                      <a:srgbClr val="2E9E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27"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tc>
                  <a:txBody>
                    <a:bodyPr wrap="square" lIns="54864" rIns="54864" tIns="27432" bIns="27432" anchor="ctr"/>
                    <a:lstStyle/>
                    <a:p>
                      <a:pPr algn="l"/>
                      <a:r>
                        <a:rPr sz="1100" b="1">
                          <a:solidFill>
                            <a:srgbClr val="144E4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39886" y="274320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A1 - Resources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9886" y="312725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Uses datasets, Python libraries, Ultralytics YOLO, OpenCV, scikit-learn, cloud GPU resources, industrial cameras and Jetson-class edge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9886" y="416052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A3 - Innovation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9886" y="454457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Connects fabric defect detection with production lead-time prediction through the Defect Density Score (Ds) and a few-shot anomaly branch.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77646" y="274320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A2 - Interaction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77646" y="312725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Image input, preprocessing, YOLO detection, metadata bridge, defect scoring, prediction and dashboard output closely interact throughout the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77646" y="4160522"/>
            <a:ext cx="448056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600" b="1">
                <a:solidFill>
                  <a:srgbClr val="F2CA46"/>
                </a:solidFill>
              </a:rPr>
              <a:t>A4/A5 - Consequences &amp; Familiarity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7646" y="4544570"/>
            <a:ext cx="448056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250" b="0">
                <a:solidFill>
                  <a:srgbClr val="F5F8F4"/>
                </a:solidFill>
              </a:rPr>
              <a:t>Improves quality inspection, production planning and resource use. Integrates both established tools and advanced techniques in one system.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900" b="0">
                <a:solidFill>
                  <a:srgbClr val="F5F8F4"/>
                </a:solidFill>
              </a:rPr>
              <a:t>FGAP  |  FYDP-I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6419088"/>
            <a:ext cx="27432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900" b="0">
                <a:solidFill>
                  <a:srgbClr val="F5F8F4"/>
                </a:solidFill>
              </a:rPr>
              <a:t>Report: Table 5.3 and Section 5.4.2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382512"/>
            <a:ext cx="11338560" cy="18288"/>
          </a:xfrm>
          <a:prstGeom prst="rect">
            <a:avLst/>
          </a:prstGeom>
          <a:solidFill>
            <a:srgbClr val="D99A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19088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5F7F2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32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Risks &amp; Mitigations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 fontScale="100000" lnSpcReduction="0"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>
                <a:latin typeface="Calibri"/>
              </a:rPr>
              <a:t>Key Risks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latin typeface="Calibri"/>
              </a:rPr>
              <a:t>Free cloud GPU quota (Google Colab / departmental GPU lab, Report §5.4.2): if exhausted, fall back to existing computers and defer edge hardware.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 fontScale="100000" lnSpcReduction="0"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000" b="1">
                <a:latin typeface="Calibri"/>
              </a:rPr>
              <a:t>Mitigations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latin typeface="Calibri"/>
              </a:rPr>
              <a:t>Checkpoint during training so quota loss costs minutes, not hours.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latin typeface="Calibri"/>
              </a:rPr>
              <a:t>Paired dataset (defect counts + our Ds) is itself a contribution if factory declines.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33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Task Allocation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marL="73152" marR="73152" anchor="ctr">
                    <a:solidFill>
                      <a:srgbClr val="144E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marL="73152" marR="73152" anchor="ctr"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34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7F2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 dirty="0">
                <a:solidFill>
                  <a:srgbClr val="F5F7F2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Relabel Quarantine Using A </a:t>
            </a:r>
            <a:r>
              <a:rPr sz="1400" b="0" i="0" dirty="0" err="1">
                <a:latin typeface="Calibri"/>
              </a:rPr>
              <a:t>pHash</a:t>
            </a:r>
            <a:r>
              <a:rPr sz="1400" b="0" i="0" dirty="0">
                <a:latin typeface="Calibri"/>
              </a:rPr>
              <a:t>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Benchmark Against </a:t>
            </a:r>
            <a:r>
              <a:rPr sz="1400" b="0" i="0" dirty="0" err="1">
                <a:latin typeface="Calibri"/>
              </a:rPr>
              <a:t>Isl</a:t>
            </a:r>
            <a:r>
              <a:rPr sz="1400" b="0" i="0" dirty="0">
                <a:latin typeface="Calibri"/>
              </a:rPr>
              <a:t>-Knit And </a:t>
            </a:r>
            <a:r>
              <a:rPr sz="1400" b="0" i="0" dirty="0" err="1">
                <a:latin typeface="Calibri"/>
              </a:rPr>
              <a:t>FabricSpotDefect</a:t>
            </a:r>
            <a:r>
              <a:rPr sz="1400" b="0" i="0" dirty="0"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F5F7F2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8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F7F2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F5F7F2"/>
                </a:solidFill>
                <a:latin typeface="Calibri"/>
              </a:rPr>
              <a:t>35 /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F5F7F2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66105"/>
            <a:ext cx="110642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2000" b="0" i="0" dirty="0">
                <a:solidFill>
                  <a:srgbClr val="F5F7F2"/>
                </a:solidFill>
                <a:latin typeface="Calibri"/>
              </a:rPr>
              <a:t>Any Question?</a:t>
            </a:r>
            <a:endParaRPr sz="2000" b="0" i="0" dirty="0">
              <a:solidFill>
                <a:srgbClr val="F5F7F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F5F7F2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3277</Words>
  <Application>Microsoft Office PowerPoint</Application>
  <PresentationFormat>Custom</PresentationFormat>
  <Paragraphs>645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Fahim Zahin</cp:lastModifiedBy>
  <cp:revision>8</cp:revision>
  <dcterms:created xsi:type="dcterms:W3CDTF">2013-01-27T09:14:16Z</dcterms:created>
  <dcterms:modified xsi:type="dcterms:W3CDTF">2026-09-30T17:35:09Z</dcterms:modified>
  <cp:category/>
</cp:coreProperties>
</file>