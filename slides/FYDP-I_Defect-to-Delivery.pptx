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F98"/>
                </a:solidFill>
                <a:latin typeface="Calibri"/>
              </a:rPr>
              <a:t>1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5B6570"/>
                </a:solidFill>
                <a:latin typeface="Calibri"/>
              </a:rPr>
              <a:t>FYDP-I  •  Textile &amp; RMG Quality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44E4C"/>
                </a:solidFill>
                <a:latin typeface="Georgia"/>
              </a:rPr>
              <a:t>Defect-to-Delivery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514600"/>
            <a:ext cx="92354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i="0">
                <a:solidFill>
                  <a:srgbClr val="1F2937"/>
                </a:solidFill>
                <a:latin typeface="Calibri"/>
              </a:rPr>
              <a:t>A Closed-Loop Vision &amp; Machine-Learning System For Fabric Defect Detection And Production Lead-Time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110642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 i="0">
                <a:solidFill>
                  <a:srgbClr val="5B6570"/>
                </a:solidFill>
                <a:latin typeface="Calibri"/>
              </a:rPr>
              <a:t>Group: 262-034
Department Of Computer Science And Engineering
United International University (UIU), Dhaka, Bangladesh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44E4C"/>
                </a:solidFill>
                <a:latin typeface="Calibri"/>
              </a:rPr>
              <a:t>RIYA  •  ZAHIN  •  LABIB  •  AMIN  •  MURAD  •  NILOY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F98"/>
                </a:solidFill>
                <a:latin typeface="Calibri"/>
              </a:rPr>
              <a:t>2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4E4C"/>
                </a:solidFill>
                <a:latin typeface="Georgia"/>
              </a:rPr>
              <a:t>Supervisor, Course Teacher &amp;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1005840" cy="50292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8346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834640" cy="82296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709928"/>
            <a:ext cx="475488" cy="475488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673352"/>
            <a:ext cx="178308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44E4C"/>
                </a:solidFill>
                <a:latin typeface="Calibri"/>
              </a:rPr>
              <a:t>Supervisor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5B6570"/>
                </a:solidFill>
                <a:latin typeface="Calibri"/>
              </a:rPr>
              <a:t>Mr. Md. Tarek Hasan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5B6570"/>
                </a:solidFill>
                <a:latin typeface="Calibri"/>
              </a:rPr>
              <a:t>Assistant Professor, Dept. Of CSE, UIU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417320"/>
            <a:ext cx="28346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0" y="1417320"/>
            <a:ext cx="2834640" cy="82296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913632" y="1709928"/>
            <a:ext cx="475488" cy="475488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73352"/>
            <a:ext cx="178308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44E4C"/>
                </a:solidFill>
                <a:latin typeface="Calibri"/>
              </a:rPr>
              <a:t>Course Teacher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5B6570"/>
                </a:solidFill>
                <a:latin typeface="Calibri"/>
              </a:rPr>
              <a:t>Dr. Mohammad Nurul Huda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5B6570"/>
                </a:solidFill>
                <a:latin typeface="Calibri"/>
              </a:rPr>
              <a:t>Professor, Dept. Of CSE, UIU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0896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3520440" cy="82296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672" y="3401568"/>
            <a:ext cx="475488" cy="475488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364991"/>
            <a:ext cx="246888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44E4C"/>
                </a:solidFill>
                <a:latin typeface="Calibri"/>
              </a:rPr>
              <a:t>Abdullah Al Fahim Zahin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570"/>
                </a:solidFill>
                <a:latin typeface="Calibri"/>
              </a:rPr>
              <a:t>0112310314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570"/>
                </a:solidFill>
                <a:latin typeface="Calibri"/>
              </a:rPr>
              <a:t>Problem, Motivation &amp; Objectives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59" y="310896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51959" y="3108960"/>
            <a:ext cx="3520440" cy="82296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07992" y="3401568"/>
            <a:ext cx="475488" cy="475488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364991"/>
            <a:ext cx="246888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44E4C"/>
                </a:solidFill>
                <a:latin typeface="Calibri"/>
              </a:rPr>
              <a:t>Nafiz Imtiaz Labib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570"/>
                </a:solidFill>
                <a:latin typeface="Calibri"/>
              </a:rPr>
              <a:t>0112310422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570"/>
                </a:solidFill>
                <a:latin typeface="Calibri"/>
              </a:rPr>
              <a:t>Literature Review &amp; Gap Analysis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310896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55279" y="3108960"/>
            <a:ext cx="3520440" cy="82296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11311" y="3401568"/>
            <a:ext cx="475488" cy="475488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59" y="3364991"/>
            <a:ext cx="246888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44E4C"/>
                </a:solidFill>
                <a:latin typeface="Calibri"/>
              </a:rPr>
              <a:t>MST Riya Akter Satu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570"/>
                </a:solidFill>
                <a:latin typeface="Calibri"/>
              </a:rPr>
              <a:t>0112310147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570"/>
                </a:solidFill>
                <a:latin typeface="Calibri"/>
              </a:rPr>
              <a:t>Requirement Analysis &amp; Dataset Audit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590288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4590288"/>
            <a:ext cx="3520440" cy="82296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4672" y="4882896"/>
            <a:ext cx="475488" cy="475488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846320"/>
            <a:ext cx="246888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44E4C"/>
                </a:solidFill>
                <a:latin typeface="Calibri"/>
              </a:rPr>
              <a:t>Mohammed Amin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570"/>
                </a:solidFill>
                <a:latin typeface="Calibri"/>
              </a:rPr>
              <a:t>0112310412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570"/>
                </a:solidFill>
                <a:latin typeface="Calibri"/>
              </a:rPr>
              <a:t>System Design &amp; Diagrams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59" y="4590288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251959" y="4590288"/>
            <a:ext cx="3520440" cy="82296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07992" y="4882896"/>
            <a:ext cx="475488" cy="475488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4846320"/>
            <a:ext cx="246888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44E4C"/>
                </a:solidFill>
                <a:latin typeface="Calibri"/>
              </a:rPr>
              <a:t>Fahim Ferdous Niloy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570"/>
                </a:solidFill>
                <a:latin typeface="Calibri"/>
              </a:rPr>
              <a:t>0112310307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570"/>
                </a:solidFill>
                <a:latin typeface="Calibri"/>
              </a:rPr>
              <a:t>Standards, Constraints, Budget &amp; Project Plan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79" y="4590288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955279" y="4590288"/>
            <a:ext cx="3520440" cy="82296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11311" y="4882896"/>
            <a:ext cx="475488" cy="475488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59" y="4846320"/>
            <a:ext cx="246888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44E4C"/>
                </a:solidFill>
                <a:latin typeface="Calibri"/>
              </a:rPr>
              <a:t>Md. Mostafizur Rahman Murad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570"/>
                </a:solidFill>
                <a:latin typeface="Calibri"/>
              </a:rPr>
              <a:t>0112310426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570"/>
                </a:solidFill>
                <a:latin typeface="Calibri"/>
              </a:rPr>
              <a:t>Complex Engineering Problem, Task Allocation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F98"/>
                </a:solidFill>
                <a:latin typeface="Calibri"/>
              </a:rPr>
              <a:t>3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4E4C"/>
                </a:solidFill>
                <a:latin typeface="Georgia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1005840" cy="50292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338328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8A6204"/>
                </a:solidFill>
                <a:latin typeface="Calibri"/>
              </a:rPr>
              <a:t>1.  </a:t>
            </a:r>
            <a:r>
              <a:rPr sz="1600" b="1">
                <a:solidFill>
                  <a:srgbClr val="144E4C"/>
                </a:solidFill>
                <a:latin typeface="Calibri"/>
              </a:rPr>
              <a:t>Problem &amp; Motivation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737360"/>
            <a:ext cx="338328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8A6204"/>
                </a:solidFill>
                <a:latin typeface="Calibri"/>
              </a:rPr>
              <a:t>2.  </a:t>
            </a:r>
            <a:r>
              <a:rPr sz="1600" b="1">
                <a:solidFill>
                  <a:srgbClr val="144E4C"/>
                </a:solidFill>
                <a:latin typeface="Calibri"/>
              </a:rPr>
              <a:t>Objectives &amp; Methodology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737360"/>
            <a:ext cx="338328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8A6204"/>
                </a:solidFill>
                <a:latin typeface="Calibri"/>
              </a:rPr>
              <a:t>3.  </a:t>
            </a:r>
            <a:r>
              <a:rPr sz="1600" b="1">
                <a:solidFill>
                  <a:srgbClr val="144E4C"/>
                </a:solidFill>
                <a:latin typeface="Calibri"/>
              </a:rPr>
              <a:t>Literature Review &amp; Gap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54680"/>
            <a:ext cx="338328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8A6204"/>
                </a:solidFill>
                <a:latin typeface="Calibri"/>
              </a:rPr>
              <a:t>4.  </a:t>
            </a:r>
            <a:r>
              <a:rPr sz="1600" b="1">
                <a:solidFill>
                  <a:srgbClr val="144E4C"/>
                </a:solidFill>
                <a:latin typeface="Calibri"/>
              </a:rPr>
              <a:t>Requirement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154680"/>
            <a:ext cx="338328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8A6204"/>
                </a:solidFill>
                <a:latin typeface="Calibri"/>
              </a:rPr>
              <a:t>5.  </a:t>
            </a:r>
            <a:r>
              <a:rPr sz="1600" b="1">
                <a:solidFill>
                  <a:srgbClr val="144E4C"/>
                </a:solidFill>
                <a:latin typeface="Calibri"/>
              </a:rPr>
              <a:t>Dataset Audit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154680"/>
            <a:ext cx="338328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8A6204"/>
                </a:solidFill>
                <a:latin typeface="Calibri"/>
              </a:rPr>
              <a:t>6.  </a:t>
            </a:r>
            <a:r>
              <a:rPr sz="1600" b="1">
                <a:solidFill>
                  <a:srgbClr val="144E4C"/>
                </a:solidFill>
                <a:latin typeface="Calibri"/>
              </a:rPr>
              <a:t>System Design &amp; Diagrams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572000"/>
            <a:ext cx="338328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8A6204"/>
                </a:solidFill>
                <a:latin typeface="Calibri"/>
              </a:rPr>
              <a:t>7.  </a:t>
            </a:r>
            <a:r>
              <a:rPr sz="1600" b="1">
                <a:solidFill>
                  <a:srgbClr val="144E4C"/>
                </a:solidFill>
                <a:latin typeface="Calibri"/>
              </a:rPr>
              <a:t>Standards &amp; Constraints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4572000"/>
            <a:ext cx="338328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8A6204"/>
                </a:solidFill>
                <a:latin typeface="Calibri"/>
              </a:rPr>
              <a:t>8.  </a:t>
            </a:r>
            <a:r>
              <a:rPr sz="1600" b="1">
                <a:solidFill>
                  <a:srgbClr val="144E4C"/>
                </a:solidFill>
                <a:latin typeface="Calibri"/>
              </a:rPr>
              <a:t>Budget &amp; Project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572000"/>
            <a:ext cx="338328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8A6204"/>
                </a:solidFill>
                <a:latin typeface="Calibri"/>
              </a:rPr>
              <a:t>9.  </a:t>
            </a:r>
            <a:r>
              <a:rPr sz="1600" b="1">
                <a:solidFill>
                  <a:srgbClr val="144E4C"/>
                </a:solidFill>
                <a:latin typeface="Calibri"/>
              </a:rPr>
              <a:t>Conclusion &amp; Future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F98"/>
                </a:solidFill>
                <a:latin typeface="Calibri"/>
              </a:rPr>
              <a:t>4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4E4C"/>
                </a:solidFill>
                <a:latin typeface="Georgia"/>
              </a:rPr>
              <a:t>Problem 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1005840" cy="50292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▪  Fabric Inspection In Most Bangladeshi RMG Factories Is Manual — Slow, Inconsistent, And Dependent On Inspector Experience And Fatigue.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▪  Production Planning Runs On Fixed Lead-Time Tables That Never Look At Real-Time Fabric Quality.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▪  Vision (Inspection) And Planning (Scheduling) Live In Two Disconnected Systems — Nobody Turns “How Many Defects” Into “How Many Hours.”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▪  This Gap Threatens Delivery Reliability And Cost Control In Bangladesh’s Largest Export Sector.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2000"/>
            </a:avLst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44E4C"/>
                </a:solidFill>
                <a:latin typeface="Calibri"/>
              </a:rPr>
              <a:t>No System Links Defect Severity To Production Lead Time — Yet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F98"/>
                </a:solidFill>
                <a:latin typeface="Calibri"/>
              </a:rPr>
              <a:t>5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4E4C"/>
                </a:solidFill>
                <a:latin typeface="Georgia"/>
              </a:rPr>
              <a:t>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1005840" cy="50292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50" b="0" i="0">
                <a:solidFill>
                  <a:srgbClr val="1F2937"/>
                </a:solidFill>
                <a:latin typeface="Calibri"/>
              </a:rPr>
              <a:t>▪  A Tired Inspector Logs Defects By Eye At Shift-End, While The Planner Beside Them Quotes Delivery Dates From A Table Printed Last Year — Real Quality Signal Disappears Between The Inspection Board And The Planning Desk.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50" b="0" i="0">
                <a:solidFill>
                  <a:srgbClr val="1F2937"/>
                </a:solidFill>
                <a:latin typeface="Calibri"/>
              </a:rPr>
              <a:t>▪  A Closed Defect → Hours Loop Generalizes Beyond Textiles: Predictive Maintenance, Waste Estimation, Any Line Where Visible Quality Affects Completion Time.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50" b="0" i="0">
                <a:solidFill>
                  <a:srgbClr val="1F2937"/>
                </a:solidFill>
                <a:latin typeface="Calibri"/>
              </a:rPr>
              <a:t>▪  Pilot Work: ~2,550 Factory Images Reviewed Against The Literature; Hashing Found 17 Duplicate Images And 12 Cross-Labeled Files Quarantined After Visual Verification.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50" b="0" i="0">
                <a:solidFill>
                  <a:srgbClr val="1F2937"/>
                </a:solidFill>
                <a:latin typeface="Calibri"/>
              </a:rPr>
              <a:t>▪  A Prior Split Reached 98% Accuracy — We Treat That As An Upper Bound To Be Re-Tested Honestly, Not A Final Result.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F98"/>
                </a:solidFill>
                <a:latin typeface="Calibri"/>
              </a:rPr>
              <a:t>6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4E4C"/>
                </a:solidFill>
                <a:latin typeface="Georgia"/>
              </a:rP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1005840" cy="50292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Build An Audited 6-Class Fabric Image Dataset With Hash Inventory, Quarantine Ledger, And Group-Aware Split Manifest.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487168"/>
            <a:ext cx="502920" cy="502920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414015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Train A YOLOv11-Seg Detector For Defect Type + Pixel-True Area, Tracked With mAP.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19856"/>
            <a:ext cx="502920" cy="502920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346704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Train A Random Forest Lead-Time Predictor From Speed, Quantity And Defect Density Score (Ds), Tracked With MAE / RMSE / R².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352544"/>
            <a:ext cx="502920" cy="502920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279392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Fuse Both Into One Real-Time Closed-Loop Framework With A Planner Dashboard.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5285232"/>
            <a:ext cx="502920" cy="502920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21208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Prove Every Number On Disjoint Data — The Same Swatch Family Never Appears On Both Sides.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F98"/>
                </a:solidFill>
                <a:latin typeface="Calibri"/>
              </a:rPr>
              <a:t>7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4E4C"/>
                </a:solidFill>
                <a:latin typeface="Georgia"/>
              </a:rPr>
              <a:t>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1005840" cy="50292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520440" cy="82296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755648"/>
            <a:ext cx="475488" cy="475488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719072"/>
            <a:ext cx="246888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4E4C"/>
                </a:solidFill>
                <a:latin typeface="Calibri"/>
              </a:rPr>
              <a:t>Detect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YOLO-Family Detectors (YOLOv11-Seg Target); OpenCV Thresholding / Contours For Area Measurement.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146304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59" y="1463040"/>
            <a:ext cx="3520440" cy="82296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07992" y="1755648"/>
            <a:ext cx="475488" cy="475488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719072"/>
            <a:ext cx="246888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4E4C"/>
                </a:solidFill>
                <a:latin typeface="Calibri"/>
              </a:rPr>
              <a:t>Segment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Instance Masks For Accurate Stain / Pulled-Thread Area Vs Over-Estimating Boxes; Mask IoU Ablation.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46304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79" y="1463040"/>
            <a:ext cx="3520440" cy="82296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11311" y="1755648"/>
            <a:ext cx="475488" cy="475488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59" y="1719072"/>
            <a:ext cx="246888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4E4C"/>
                </a:solidFill>
                <a:latin typeface="Calibri"/>
              </a:rPr>
              <a:t>Catch Unknowns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Few-Shot Anomaly Detection (PatchCore / DINOv2 Family) Trained Only On Good Fabric.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1188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3611880"/>
            <a:ext cx="3520440" cy="82296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2" y="3904488"/>
            <a:ext cx="475488" cy="475488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19" y="3867912"/>
            <a:ext cx="246888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4E4C"/>
                </a:solidFill>
                <a:latin typeface="Calibri"/>
              </a:rPr>
              <a:t>Predict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Random Forest Regression On Speed, Quantity, Ds Ablated Against XGBoost And MLP.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59" y="361188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51959" y="3611880"/>
            <a:ext cx="3520440" cy="82296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07992" y="3904488"/>
            <a:ext cx="475488" cy="475488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867912"/>
            <a:ext cx="246888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4E4C"/>
                </a:solidFill>
                <a:latin typeface="Calibri"/>
              </a:rPr>
              <a:t>Smooth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Rolling-Average Ds Over The Last 10 Frames To Filter False Positives.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361188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55279" y="3611880"/>
            <a:ext cx="3520440" cy="82296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11311" y="3904488"/>
            <a:ext cx="475488" cy="475488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59" y="3867912"/>
            <a:ext cx="246888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4E4C"/>
                </a:solidFill>
                <a:latin typeface="Calibri"/>
              </a:rPr>
              <a:t>Deploy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Python, Ultralytics YOLO, OpenCV, Scikit-Learn On Jetson-Class Edge With TensorRT.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F98"/>
                </a:solidFill>
                <a:latin typeface="Calibri"/>
              </a:rPr>
              <a:t>8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4E4C"/>
                </a:solidFill>
                <a:latin typeface="Georgia"/>
              </a:rPr>
              <a:t>Related Work — Fabric Defect Datasets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1005840" cy="50292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5120640"/>
                <a:gridCol w="283464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anchor="ctr" marL="73152" marR="73152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Scale / Description</a:t>
                      </a:r>
                    </a:p>
                  </a:txBody>
                  <a:tcPr anchor="ctr" marL="73152" marR="73152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anchor="ctr" marL="73152" marR="73152">
                    <a:solidFill>
                      <a:srgbClr val="144E4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Isl-Knit (Heliyon 2024, BUTEX)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3,375 Knit-Fault Images, 7 Classes, Bangladeshi Dyeing Factories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YOLOv5 + 4-Point Raspberry-Pi Prototype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FabricSpotDefect (IUB 2024)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1,014 Images, 3,288 Spot Annotations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COCO + YOLOv8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ZJU-Leaper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98,777 Woven-Fabric Images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Large-Scale Supervised Benchmark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Tianchi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20 Defect Types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Industry Benchmark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MVTec AD / VisA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Anomaly-Detection Standard Sets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Used For Our Few-Shot Branch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Our Pilot Corpus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2,578 Images, 6 Classes, Per-File Hashes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Audited, Group-Aware Split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F98"/>
                </a:solidFill>
                <a:latin typeface="Calibri"/>
              </a:rPr>
              <a:t>9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4E4C"/>
                </a:solidFill>
                <a:latin typeface="Georgia"/>
              </a:rPr>
              <a:t>Related Work — Detection, Anomaly &amp;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1005840" cy="50292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737360" cy="685800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144E4C"/>
                </a:solidFill>
                <a:latin typeface="Calibri"/>
              </a:rPr>
              <a:t>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353312"/>
            <a:ext cx="9052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1F2937"/>
                </a:solidFill>
                <a:latin typeface="Calibri"/>
              </a:rPr>
              <a:t>YOLOv1–v11 Fabric Review (2025) Finds YOLOv11 Strongest On Small / Occluded Defects; Fab-ASLKS (+5% mAP50 On Tianchi); Fab-ME (+3.3%, 59.4% Over 20 Classes); FabricMamba For Edge.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33472"/>
            <a:ext cx="1737360" cy="685800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144E4C"/>
                </a:solidFill>
                <a:latin typeface="Calibri"/>
              </a:rPr>
              <a:t>Anomaly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523744"/>
            <a:ext cx="9052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1F2937"/>
                </a:solidFill>
                <a:latin typeface="Calibri"/>
              </a:rPr>
              <a:t>PatchCore (99.6% MVTec AUROC), Reverse Distillation (Low Latency), AnomalyDINO / PatchEAD Reach 89–96% With A Handful Of Good Samples And No Defect Labels.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03904"/>
            <a:ext cx="1737360" cy="685800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144E4C"/>
                </a:solidFill>
                <a:latin typeface="Calibri"/>
              </a:rPr>
              <a:t>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694176"/>
            <a:ext cx="9052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1F2937"/>
                </a:solidFill>
                <a:latin typeface="Calibri"/>
              </a:rPr>
              <a:t>EfficientDet + Jetson TX2 At 22.7 FPS (2.5× Cloud); YOLOv11 On Orin Nano; YOLOv11 +70% Avg. On NEU-DET Vs Prior Models.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74336"/>
            <a:ext cx="1737360" cy="685800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144E4C"/>
                </a:solidFill>
                <a:latin typeface="Calibri"/>
              </a:rPr>
              <a:t>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864607"/>
            <a:ext cx="9052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1F2937"/>
                </a:solidFill>
                <a:latin typeface="Calibri"/>
              </a:rPr>
              <a:t>No Published Vision–Ds Lead-Time Fusion Exists — This Is Our Gap. Closest Work: CIIS 2024 Wastage Prediction (633 Points, ANN/SVR/MLP/RFR/ARIMA); 2025 BD Digital-QC Trials; 2026 Narayanganj Traffic-Light QC Study (94 Lines).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F98"/>
                </a:solidFill>
                <a:latin typeface="Calibri"/>
              </a:rPr>
              <a:t>10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4E4C"/>
                </a:solidFill>
                <a:latin typeface="Georgia"/>
              </a:rPr>
              <a:t>Literature Analysis (Selected)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1005840" cy="50292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4023360"/>
                <a:gridCol w="2651760"/>
                <a:gridCol w="228600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No.</a:t>
                      </a:r>
                    </a:p>
                  </a:txBody>
                  <a:tcPr anchor="ctr" marL="73152" marR="73152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 anchor="ctr" marL="73152" marR="73152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ctr" marL="73152" marR="73152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anchor="ctr" marL="73152" marR="73152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anchor="ctr" marL="73152" marR="73152">
                    <a:solidFill>
                      <a:srgbClr val="144E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Kumar Fabric Survey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Supervised / Classical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Collected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2008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Isl-Knit + 4-Point (BUTEX)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Supervised (YOLOv5)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Own (3,375)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FabricSpotDefect (IUB)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Supervised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Own (1,014)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YOLOv1–v11 Fabric Review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Supervised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Collected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PatchCore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Unsupervised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MVTec / VisA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AnomalyDINO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Few-Shot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MVTec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PatchEAD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Few / Zero-Shot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7 Industrial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Fabric Wastage Prediction (CIIS)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Supervised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Own (633)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Traffic-Light QC Narayanganj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Applied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94 Lines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19 / 20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Redmon (YOLO) / Breiman (RF)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Supervised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VOC-COCO / General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2016 / 2001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F98"/>
                </a:solidFill>
                <a:latin typeface="Calibri"/>
              </a:rPr>
              <a:t>11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4E4C"/>
                </a:solidFill>
                <a:latin typeface="Georgia"/>
              </a:rPr>
              <a:t>Gap Analysis &amp;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1005840" cy="50292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2651760" cy="82296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755648"/>
            <a:ext cx="475488" cy="475488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719072"/>
            <a:ext cx="1600200" cy="1874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4E4C"/>
                </a:solidFill>
                <a:latin typeface="Calibri"/>
              </a:rPr>
              <a:t>Detectors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Cover Known Defect Types Well, But Stop At Detection — No Link To Production.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8416" y="146304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28416" y="1463040"/>
            <a:ext cx="2651760" cy="82296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4448" y="1755648"/>
            <a:ext cx="475488" cy="475488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7096" y="1719072"/>
            <a:ext cx="1600200" cy="1874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4E4C"/>
                </a:solidFill>
                <a:latin typeface="Calibri"/>
              </a:rPr>
              <a:t>Anomaly Models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Handle Unseen Defects, But Are Evaluated On Public Sets, Not Bangladeshi Factory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2" y="146304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08192" y="1463040"/>
            <a:ext cx="2651760" cy="82296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755648"/>
            <a:ext cx="475488" cy="475488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6872" y="1719072"/>
            <a:ext cx="1600200" cy="1874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4E4C"/>
                </a:solidFill>
                <a:latin typeface="Calibri"/>
              </a:rPr>
              <a:t>Edge Tooling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Real-Time Feasibility Is Proven, But Not Paired With A Planning Model.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87968" y="146304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87968" y="1463040"/>
            <a:ext cx="2651760" cy="82296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0" y="1755648"/>
            <a:ext cx="475488" cy="475488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6648" y="1719072"/>
            <a:ext cx="1600200" cy="1874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4E4C"/>
                </a:solidFill>
                <a:latin typeface="Calibri"/>
              </a:rPr>
              <a:t>BD Datasets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Give Local Ground Truth, But No Work Fuses Vision Output With Lead-Time Hours.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66344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i="0">
                <a:solidFill>
                  <a:srgbClr val="B8860B"/>
                </a:solidFill>
                <a:latin typeface="Calibri"/>
              </a:rPr>
              <a:t>The Vision-To-Hours Coupling Remains Unclaimed — That Is Our Contribution.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F98"/>
                </a:solidFill>
                <a:latin typeface="Calibri"/>
              </a:rPr>
              <a:t>12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4E4C"/>
                </a:solidFill>
                <a:latin typeface="Georgia"/>
              </a:rPr>
              <a:t>Requirement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1005840" cy="50292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q_func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0"/>
            <a:ext cx="5623560" cy="3566160"/>
          </a:xfrm>
          <a:prstGeom prst="rect">
            <a:avLst/>
          </a:prstGeom>
        </p:spPr>
      </p:pic>
      <p:pic>
        <p:nvPicPr>
          <p:cNvPr id="8" name="Picture 7" descr="req_nonfuncti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463040"/>
            <a:ext cx="5623560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5074920"/>
            <a:ext cx="5623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44E4C"/>
                </a:solidFill>
                <a:latin typeface="Calibri"/>
              </a:rPr>
              <a:t>Functional Requirements (FR1–FR6)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5352" y="5074920"/>
            <a:ext cx="5623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44E4C"/>
                </a:solidFill>
                <a:latin typeface="Calibri"/>
              </a:rPr>
              <a:t>Non-Functional Requirements (NFR1–NFR6)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▪  Six Pipeline Function Groups From Image Input To Dashboard Display, Plus Six Quality Attributes With Measurable Targets (≥15 FPS, mAP Tracking, Zero-Overlap Splits).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F98"/>
                </a:solidFill>
                <a:latin typeface="Calibri"/>
              </a:rPr>
              <a:t>13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4E4C"/>
                </a:solidFill>
                <a:latin typeface="Georgia"/>
              </a:rPr>
              <a:t>Dataset: Classes &amp; Audited Composition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1005840" cy="50292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630936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91840"/>
                <a:gridCol w="1188720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anchor="ctr" marL="73152" marR="73152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Images</a:t>
                      </a:r>
                    </a:p>
                  </a:txBody>
                  <a:tcPr anchor="ctr" marL="73152" marR="73152">
                    <a:solidFill>
                      <a:srgbClr val="144E4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Hole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Missing / Damaged Region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281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Horizontal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Horizontal Defect Pattern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Vertical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Vertical Defect Pattern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Lines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Thin Irregularity Incl. Pulled Threads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157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Stain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Contamination / Discoloration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398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Defect-Free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Normal Fabric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1,505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0" y="1463040"/>
            <a:ext cx="3566160" cy="713232"/>
          </a:xfrm>
          <a:prstGeom prst="roundRect">
            <a:avLst/>
          </a:prstGeom>
          <a:solidFill>
            <a:srgbClr val="2B7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2,578 Scanned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331720"/>
            <a:ext cx="3566160" cy="713232"/>
          </a:xfrm>
          <a:prstGeom prst="roundRect">
            <a:avLst/>
          </a:prstGeom>
          <a:solidFill>
            <a:srgbClr val="D0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– 17 Exact Duplicates (Hash)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200400"/>
            <a:ext cx="3566160" cy="713232"/>
          </a:xfrm>
          <a:prstGeom prst="roundRect">
            <a:avLst/>
          </a:prstGeom>
          <a:solidFill>
            <a:srgbClr val="C4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– 12 Quarantined (Cross-Labeled)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069079"/>
            <a:ext cx="3566160" cy="713232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= 2,549 Usable Images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5074920"/>
            <a:ext cx="3566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 i="0">
                <a:solidFill>
                  <a:srgbClr val="5B6570"/>
                </a:solidFill>
                <a:latin typeface="Calibri"/>
              </a:rPr>
              <a:t>6 Classes, Per-File Cryptographic Hashes, Visual Verification Before Use.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F98"/>
                </a:solidFill>
                <a:latin typeface="Calibri"/>
              </a:rPr>
              <a:t>14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4E4C"/>
                </a:solidFill>
                <a:latin typeface="Georgia"/>
              </a:rPr>
              <a:t>Data Audit: Quarantine Ledger &amp;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1005840" cy="50292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949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394960" cy="82296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755648"/>
            <a:ext cx="475488" cy="475488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719072"/>
            <a:ext cx="4343400" cy="2880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4E4C"/>
                </a:solidFill>
                <a:latin typeface="Calibri"/>
              </a:rPr>
              <a:t>Quarantine Ledger (Table 3.3)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9× Hole/Line_2018-10-11* + 3× Lines/Line_2018-10-10* — Identical Swatches Cross-Labeled Hole Vs Lines, Several Defect-Free.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Verdict: Suspect_Cross_Label / Suspect_Batch — Excluded From Both Train And Test.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Control Pair Verified Clean And Retained (Hole/20180531* Vs Lines/20180531*).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463040"/>
            <a:ext cx="53949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45352" y="1463040"/>
            <a:ext cx="5394960" cy="82296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01384" y="1755648"/>
            <a:ext cx="475488" cy="475488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1719072"/>
            <a:ext cx="4343400" cy="2880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4E4C"/>
                </a:solidFill>
                <a:latin typeface="Calibri"/>
              </a:rPr>
              <a:t>Group-Aware Split (Table 3.4)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Seed 42, Test-Fraction 0.2.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Swatch Families And Dated Shoots Never Split Across Sides.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Train: 2,081 Images.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Test: 468 Images.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Overlap Between Train And Test: 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F98"/>
                </a:solidFill>
                <a:latin typeface="Calibri"/>
              </a:rPr>
              <a:t>15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4E4C"/>
                </a:solidFill>
                <a:latin typeface="Georgia"/>
              </a:rPr>
              <a:t>System Diagram (Fig. 3.1)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1005840" cy="50292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141732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  <a:latin typeface="Calibri"/>
              </a:rPr>
              <a:t>Camera /
Image Stream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011680"/>
            <a:ext cx="141732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  <a:latin typeface="Calibri"/>
              </a:rPr>
              <a:t>Industrial
Preprocessing:
Denoise, Deblur,
Low-Light Norm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84832" y="3063240"/>
            <a:ext cx="310896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14800" y="2011680"/>
            <a:ext cx="141732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  <a:latin typeface="Calibri"/>
              </a:rPr>
              <a:t>YOLO Defect
Detector:
Type + Boxes
And Masks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22191" y="3063240"/>
            <a:ext cx="310896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852160" y="2011680"/>
            <a:ext cx="141732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  <a:latin typeface="Calibri"/>
              </a:rPr>
              <a:t>Metadata
Bridge:
Ds + Rolling
Average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59552" y="3063240"/>
            <a:ext cx="310896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89520" y="2011680"/>
            <a:ext cx="141732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  <a:latin typeface="Calibri"/>
              </a:rPr>
              <a:t>Lead Time
Predictor:
Random Forest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96912" y="3063240"/>
            <a:ext cx="310896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509760" y="2011680"/>
            <a:ext cx="141732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  <a:latin typeface="Calibri"/>
              </a:rPr>
              <a:t>Planner
Dashboard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217152" y="3063240"/>
            <a:ext cx="310896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241280" y="4133087"/>
            <a:ext cx="0" cy="713233"/>
          </a:xfrm>
          <a:prstGeom prst="line">
            <a:avLst/>
          </a:prstGeom>
          <a:ln w="19050">
            <a:solidFill>
              <a:srgbClr val="5B65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371600" y="4864608"/>
            <a:ext cx="8851392" cy="0"/>
          </a:xfrm>
          <a:prstGeom prst="line">
            <a:avLst/>
          </a:prstGeom>
          <a:ln w="19050">
            <a:solidFill>
              <a:srgbClr val="5B65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353312" y="4133087"/>
            <a:ext cx="0" cy="713233"/>
          </a:xfrm>
          <a:prstGeom prst="line">
            <a:avLst/>
          </a:prstGeom>
          <a:ln w="19050">
            <a:solidFill>
              <a:srgbClr val="5B65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291840" y="4224528"/>
            <a:ext cx="5577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5B6570"/>
                </a:solidFill>
                <a:latin typeface="Calibri"/>
              </a:rPr>
              <a:t>Closed-Loop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 i="0">
                <a:solidFill>
                  <a:srgbClr val="5B6570"/>
                </a:solidFill>
                <a:latin typeface="Calibri"/>
              </a:rPr>
              <a:t>Camera → Preprocessing → YOLO Detector → Metadata Bridge (Ds) → Random-Forest Lead-Time Predictor → Planner Dashboard.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F98"/>
                </a:solidFill>
                <a:latin typeface="Calibri"/>
              </a:rPr>
              <a:t>16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4E4C"/>
                </a:solidFill>
                <a:latin typeface="Georgia"/>
              </a:rPr>
              <a:t>Workflow Flowchart (Fig. 3.2)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1005840" cy="50292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20116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50" b="1" i="0">
                <a:solidFill>
                  <a:srgbClr val="1F2937"/>
                </a:solidFill>
                <a:latin typeface="Calibri"/>
              </a:rPr>
              <a:t>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20116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50" b="0" i="0">
                <a:solidFill>
                  <a:srgbClr val="1F2937"/>
                </a:solidFill>
                <a:latin typeface="Calibri"/>
              </a:rPr>
              <a:t>Capture Fabric Image / Stream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9260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50" b="0" i="0">
                <a:solidFill>
                  <a:srgbClr val="1F2937"/>
                </a:solidFill>
                <a:latin typeface="Calibri"/>
              </a:rPr>
              <a:t>Preprocessing
(Resize, Noise Removal, Enhance)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404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50" b="0" i="0">
                <a:solidFill>
                  <a:srgbClr val="1F2937"/>
                </a:solidFill>
                <a:latin typeface="Calibri"/>
              </a:rPr>
              <a:t>YOLO Defect Detection
(Type + Boxes / Masks)</a:t>
            </a:r>
          </a:p>
        </p:txBody>
      </p:sp>
      <p:sp>
        <p:nvSpPr>
          <p:cNvPr id="11" name="Diamond 10"/>
          <p:cNvSpPr/>
          <p:nvPr/>
        </p:nvSpPr>
        <p:spPr>
          <a:xfrm>
            <a:off x="822960" y="4754880"/>
            <a:ext cx="2011680" cy="82296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50" b="0" i="0">
                <a:solidFill>
                  <a:srgbClr val="1F2937"/>
                </a:solidFill>
                <a:latin typeface="Calibri"/>
              </a:rPr>
              <a:t>Defect Detected?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4754880"/>
            <a:ext cx="20116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Identify Defect Type
(Hole / Horizontal / Vertical / Lines / Stain)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760720"/>
            <a:ext cx="201168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Mark Defect-Free, Ds = 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28800" y="1938528"/>
            <a:ext cx="0" cy="146303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828800" y="2761488"/>
            <a:ext cx="0" cy="146304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828800" y="3675887"/>
            <a:ext cx="0" cy="146304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828800" y="4590288"/>
            <a:ext cx="0" cy="146304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828800" y="5596128"/>
            <a:ext cx="0" cy="146304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52928" y="5166360"/>
            <a:ext cx="51206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35040" y="1828800"/>
            <a:ext cx="5577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0" i="0">
                <a:solidFill>
                  <a:srgbClr val="1F2937"/>
                </a:solidFill>
                <a:latin typeface="Calibri"/>
              </a:rPr>
              <a:t>▪  Each Frame Is Loaded, Preprocessed, And Passed Through YOLO Detection.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0" i="0">
                <a:solidFill>
                  <a:srgbClr val="1F2937"/>
                </a:solidFill>
                <a:latin typeface="Calibri"/>
              </a:rPr>
              <a:t>▪  A Defect Triggers Area + Ds Computation; A Clean Frame Sets Ds = 0.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0" i="0">
                <a:solidFill>
                  <a:srgbClr val="1F2937"/>
                </a:solidFill>
                <a:latin typeface="Calibri"/>
              </a:rPr>
              <a:t>▪  Ds Feeds A Rolling Average Before The Random Forest Predicts Hours.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0" i="0">
                <a:solidFill>
                  <a:srgbClr val="1F2937"/>
                </a:solidFill>
                <a:latin typeface="Calibri"/>
              </a:rPr>
              <a:t>▪  Result Is Displayed, And The Loop Repeats Until Frames Run Out.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F98"/>
                </a:solidFill>
                <a:latin typeface="Calibri"/>
              </a:rPr>
              <a:t>17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4E4C"/>
                </a:solidFill>
                <a:latin typeface="Georgia"/>
              </a:rPr>
              <a:t>Data Flow &amp; Metadata Bridge (Fig. 3.3 / 3.4)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1005840" cy="50292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44E4C"/>
                </a:solidFill>
                <a:latin typeface="Calibri"/>
              </a:rPr>
              <a:t>Level-0 DFD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965960"/>
            <a:ext cx="17373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Fabric Camera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971800"/>
            <a:ext cx="17373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Manufacturing Data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1965960"/>
            <a:ext cx="2377440" cy="1828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  <a:latin typeface="Calibri"/>
              </a:rPr>
              <a:t>0 Detect + Score + Predict</a:t>
            </a:r>
          </a:p>
        </p:txBody>
      </p:sp>
      <p:sp>
        <p:nvSpPr>
          <p:cNvPr id="11" name="Oval 10"/>
          <p:cNvSpPr/>
          <p:nvPr/>
        </p:nvSpPr>
        <p:spPr>
          <a:xfrm>
            <a:off x="5577840" y="2286000"/>
            <a:ext cx="22860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Result + Ds + Hours</a:t>
            </a:r>
          </a:p>
        </p:txBody>
      </p:sp>
      <p:sp>
        <p:nvSpPr>
          <p:cNvPr id="12" name="Oval 11"/>
          <p:cNvSpPr/>
          <p:nvPr/>
        </p:nvSpPr>
        <p:spPr>
          <a:xfrm>
            <a:off x="8321040" y="2286000"/>
            <a:ext cx="22860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Planner / Inspector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77440" y="2377440"/>
            <a:ext cx="347472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377440" y="3383280"/>
            <a:ext cx="347472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120640" y="2651760"/>
            <a:ext cx="438912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863840" y="3108960"/>
            <a:ext cx="438912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3977639"/>
            <a:ext cx="11064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44E4C"/>
                </a:solidFill>
                <a:latin typeface="Calibri"/>
              </a:rPr>
              <a:t>Ds Metadata Bridge (Rolling 10-Frame Average)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3484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E4ECD4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YOLO Output:
Class, Conf., Box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04872" y="443484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E4ECD4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Per-Defect
Area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12848" y="4892040"/>
            <a:ext cx="201167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169663" y="443484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E4ECD4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Sum Defect
Area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77639" y="4892040"/>
            <a:ext cx="201168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934456" y="443484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E4ECD4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Ds =
Defect / Frame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2" y="4892040"/>
            <a:ext cx="201168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699248" y="443484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E4ECD4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Rolling Avg.
Last 10 Frames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07223" y="4892040"/>
            <a:ext cx="201169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464040" y="443484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E4ECD4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Predictor
Input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272015" y="4892040"/>
            <a:ext cx="201169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934456" y="5486400"/>
            <a:ext cx="1554480" cy="658368"/>
          </a:xfrm>
          <a:prstGeom prst="roundRect">
            <a:avLst>
              <a:gd name="adj" fmla="val 10000"/>
            </a:avLst>
          </a:prstGeom>
          <a:solidFill>
            <a:srgbClr val="E4ECD4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Frame Area
H × W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6711696" y="5367528"/>
            <a:ext cx="0" cy="100584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F98"/>
                </a:solidFill>
                <a:latin typeface="Calibri"/>
              </a:rPr>
              <a:t>18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4E4C"/>
                </a:solidFill>
                <a:latin typeface="Georgia"/>
              </a:rPr>
              <a:t>Lead-Time ML Pipeline (Fig. 3.5)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1005840" cy="50292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9202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50" b="0" i="0">
                <a:solidFill>
                  <a:srgbClr val="1F2937"/>
                </a:solidFill>
                <a:latin typeface="Calibri"/>
              </a:rPr>
              <a:t>Machine Speed
20–100 m/min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9202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50" b="0" i="0">
                <a:solidFill>
                  <a:srgbClr val="1F2937"/>
                </a:solidFill>
                <a:latin typeface="Calibri"/>
              </a:rPr>
              <a:t>Order Quantity
100–10,000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57600"/>
            <a:ext cx="19202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50" b="0" i="0">
                <a:solidFill>
                  <a:srgbClr val="1F2937"/>
                </a:solidFill>
                <a:latin typeface="Calibri"/>
              </a:rPr>
              <a:t>Defect Density Ds
0.0–0.5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377440"/>
            <a:ext cx="219456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50" b="1" i="0">
                <a:solidFill>
                  <a:srgbClr val="1F2937"/>
                </a:solidFill>
                <a:latin typeface="Calibri"/>
              </a:rPr>
              <a:t>Random Forest
100 Trees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2377440"/>
            <a:ext cx="201168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50" b="0" i="0">
                <a:solidFill>
                  <a:srgbClr val="1F2937"/>
                </a:solidFill>
                <a:latin typeface="Calibri"/>
              </a:rPr>
              <a:t>Lead Time
Hours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377440"/>
            <a:ext cx="27432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50" b="0" i="0">
                <a:solidFill>
                  <a:srgbClr val="1F2937"/>
                </a:solidFill>
                <a:latin typeface="Calibri"/>
              </a:rPr>
              <a:t>MAE / RMSE / R²
Vs Static + No-Ds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78608" y="1984248"/>
            <a:ext cx="512064" cy="667512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578608" y="2971800"/>
            <a:ext cx="512064" cy="64008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578608" y="3291840"/>
            <a:ext cx="512064" cy="795528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03520" y="2971800"/>
            <a:ext cx="530352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63840" y="2971800"/>
            <a:ext cx="530352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463040" y="5029200"/>
            <a:ext cx="9235440" cy="73152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Lead = (Qty / Speed) × 0.1 × (1 + 2 × Ds)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 i="0">
                <a:solidFill>
                  <a:srgbClr val="5B6570"/>
                </a:solidFill>
                <a:latin typeface="Calibri"/>
              </a:rPr>
              <a:t>Example: Ds = 0.2 Inflates Predicted Time By 40%. Features: Speed 20–100 m/min, Quantity 100–10,000, Ds 0–0.5, 100-Tree Random Forest, Evaluated Vs Static-Mean And No-Ds Baselines.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F98"/>
                </a:solidFill>
                <a:latin typeface="Calibri"/>
              </a:rPr>
              <a:t>19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4E4C"/>
                </a:solidFill>
                <a:latin typeface="Georgia"/>
              </a:rPr>
              <a:t>Four-Point Inspection Grading (Fig. 3.6)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1005840" cy="50292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463040"/>
            <a:ext cx="32004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Calibrate Pixels To Inches (Fixed Geometry)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2121408"/>
            <a:ext cx="0" cy="146304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80560" y="2286000"/>
            <a:ext cx="32004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Measure Fault Length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944368"/>
            <a:ext cx="0" cy="146304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5349240" y="3108960"/>
            <a:ext cx="1463040" cy="9144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50" b="1" i="0">
                <a:solidFill>
                  <a:srgbClr val="1F2937"/>
                </a:solidFill>
                <a:latin typeface="Calibri"/>
              </a:rPr>
              <a:t>Length?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80560"/>
            <a:ext cx="25603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50" b="0" i="0">
                <a:solidFill>
                  <a:srgbClr val="1F2937"/>
                </a:solidFill>
                <a:latin typeface="Calibri"/>
              </a:rPr>
              <a:t>Under 3 In
1 Point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920239" y="4041648"/>
            <a:ext cx="3840481" cy="420624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10712" y="4480560"/>
            <a:ext cx="25603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50" b="0" i="0">
                <a:solidFill>
                  <a:srgbClr val="1F2937"/>
                </a:solidFill>
                <a:latin typeface="Calibri"/>
              </a:rPr>
              <a:t>3 To 6 In
2 Points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4690872" y="4041648"/>
            <a:ext cx="1298448" cy="420624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81344" y="4480560"/>
            <a:ext cx="25603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50" b="0" i="0">
                <a:solidFill>
                  <a:srgbClr val="1F2937"/>
                </a:solidFill>
                <a:latin typeface="Calibri"/>
              </a:rPr>
              <a:t>6 To 9 In
3 Points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7920" y="4041648"/>
            <a:ext cx="1243584" cy="420624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51976" y="4480560"/>
            <a:ext cx="25603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50" b="0" i="0">
                <a:solidFill>
                  <a:srgbClr val="1F2937"/>
                </a:solidFill>
                <a:latin typeface="Calibri"/>
              </a:rPr>
              <a:t>Over 9 In Or
Hole Over 1 In
4 Points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46520" y="4041648"/>
            <a:ext cx="3785616" cy="420624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800600" y="544068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50" b="0" i="0">
                <a:solidFill>
                  <a:srgbClr val="1F2937"/>
                </a:solidFill>
                <a:latin typeface="Calibri"/>
              </a:rPr>
              <a:t>Roll Grade From Total + Length + Weight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20239" y="5276088"/>
            <a:ext cx="0" cy="118872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90872" y="5276088"/>
            <a:ext cx="0" cy="118872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61504" y="5276088"/>
            <a:ext cx="0" cy="118872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232136" y="5276088"/>
            <a:ext cx="0" cy="118872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920240" y="5394960"/>
            <a:ext cx="8311896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80760" y="5394960"/>
            <a:ext cx="0" cy="27432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F98"/>
                </a:solidFill>
                <a:latin typeface="Calibri"/>
              </a:rPr>
              <a:t>20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4E4C"/>
                </a:solidFill>
                <a:latin typeface="Georgia"/>
              </a:rPr>
              <a:t>Standards &amp;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1005840" cy="50292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520440" cy="82296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847088"/>
            <a:ext cx="475488" cy="475488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810512"/>
            <a:ext cx="2468880" cy="22402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4E4C"/>
                </a:solidFill>
                <a:latin typeface="Calibri"/>
              </a:rPr>
              <a:t>Software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Reusable Packages, Central Configuration, Version Control With Reviewable Manifests, Seeded Deterministic Training, COCO / YOLO Interchange Formats.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155448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59" y="1554480"/>
            <a:ext cx="3520440" cy="82296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07992" y="1847088"/>
            <a:ext cx="475488" cy="475488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810512"/>
            <a:ext cx="2468880" cy="22402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4E4C"/>
                </a:solidFill>
                <a:latin typeface="Calibri"/>
              </a:rPr>
              <a:t>Hardware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Fixed-Geometry Calibration For Grading, Jetson-Class Edge Device With TensorRT, Factory-Safe Power Envelope.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55448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79" y="1554480"/>
            <a:ext cx="3520440" cy="82296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11311" y="1847088"/>
            <a:ext cx="475488" cy="475488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59" y="1810512"/>
            <a:ext cx="2468880" cy="22402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4E4C"/>
                </a:solidFill>
                <a:latin typeface="Calibri"/>
              </a:rPr>
              <a:t>Communication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REST File Handoff To The MES And Dashboard Over HTTP; No Proprietary Protocols.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F98"/>
                </a:solidFill>
                <a:latin typeface="Calibri"/>
              </a:rPr>
              <a:t>21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4E4C"/>
                </a:solidFill>
                <a:latin typeface="Georgia"/>
              </a:rPr>
              <a:t>Design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1005840" cy="50292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4937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21040"/>
              </a:tblGrid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Constraint</a:t>
                      </a:r>
                    </a:p>
                  </a:txBody>
                  <a:tcPr anchor="ctr" marL="73152" marR="73152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How We Handle It</a:t>
                      </a:r>
                    </a:p>
                  </a:txBody>
                  <a:tcPr anchor="ctr" marL="73152" marR="73152">
                    <a:solidFill>
                      <a:srgbClr val="144E4C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Economic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Zero Software Cost; ROI Via Reduced DHU / Chargeback In 2–3 Years At Expected Trial Performance.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Environmental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Small Training Footprint, Low Edge Power Draw, Fewer Faulty Shipments.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Ethical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Cameras Face Fabric, Not Workers; Wrong Labels Are Corrected, Not Ignored; Planning Data Stays Labeled Until Factory Records Take Over.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Health &amp; Safety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Enclosed System Helps Reduce Inspector Eye Strain.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Social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Bangla-Language Labels; Inspectors Trained Toward Supervisor Roles.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Political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No Approvals Required.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Manufacturability &amp; Cost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Computers, Cameras, And Jetson Hardware Are All Moderate-Cost And Readily Available.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7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Sustainability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Open Formats, Maintainable Scripts, An Expandable Dataset.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F98"/>
                </a:solidFill>
                <a:latin typeface="Calibri"/>
              </a:rPr>
              <a:t>22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4E4C"/>
                </a:solidFill>
                <a:latin typeface="Georgia"/>
              </a:rPr>
              <a:t>Estimated Project Budget (Table 4.1)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1005840" cy="50292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8138160" cy="4992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48640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SL</a:t>
                      </a:r>
                    </a:p>
                  </a:txBody>
                  <a:tcPr anchor="ctr" marL="73152" marR="73152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anchor="ctr" marL="73152" marR="73152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Amount (BDT)</a:t>
                      </a:r>
                    </a:p>
                  </a:txBody>
                  <a:tcPr anchor="ctr" marL="73152" marR="73152">
                    <a:solidFill>
                      <a:srgbClr val="144E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Fabric Swatch Collection &amp; Manual Verification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1,500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Industrial Inspection Camera (USB 1080p)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3,500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Fixed-Geometry Mounting Frame / Fixture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Calibration Materials (Ruler, Grid Chart)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Dept. GPU Lab + Free Cloud Compute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Additional GPU Compute Beyond Free Quota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3,000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Cloud Storage For Dataset &amp; Hash Manifests (1 Yr)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2,400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Existing Laptops / PCs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ML Libraries (YOLO, OpenCV, Scikit-Learn)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Dev Tools &amp; Version Control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Internet Connectivity &amp; Dataset Transfer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1,500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Documentation, Printing, Binding, Presentation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2,500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44000" y="2743200"/>
            <a:ext cx="2468880" cy="1371600"/>
          </a:xfrm>
          <a:prstGeom prst="roundRect">
            <a:avLst/>
          </a:prstGeom>
          <a:solidFill>
            <a:srgbClr val="D9A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1F2937"/>
                </a:solidFill>
                <a:latin typeface="Calibri"/>
              </a:rPr>
              <a:t>Estimation Total
16,000 BDT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F98"/>
                </a:solidFill>
                <a:latin typeface="Calibri"/>
              </a:rPr>
              <a:t>23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4E4C"/>
                </a:solidFill>
                <a:latin typeface="Georgia"/>
              </a:rPr>
              <a:t>Project Plan (Fig. 5.1)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1005840" cy="50292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120640"/>
                <a:gridCol w="2011680"/>
                <a:gridCol w="30175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Sprint</a:t>
                      </a:r>
                    </a:p>
                  </a:txBody>
                  <a:tcPr anchor="ctr" marL="73152" marR="73152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 anchor="ctr" marL="73152" marR="73152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Weeks</a:t>
                      </a:r>
                    </a:p>
                  </a:txBody>
                  <a:tcPr anchor="ctr" marL="73152" marR="73152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anchor="ctr" marL="73152" marR="73152">
                    <a:solidFill>
                      <a:srgbClr val="144E4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S1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Data Preparation And Requirements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1–2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Riya, Labib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S2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Setup And Preprocessing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3–4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Zahin, Riya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S3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Defect Detection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5–6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Zahin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S4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Anomaly Detection And Metadata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7–8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Amin, Niloy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S5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Lead-Time Prediction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9–10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Zahin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S6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Dashboard Development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11–12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Niloy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S7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Deployment, Testing And Documentation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13–14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Labib, Murad, Riya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S8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Final Integration And Presentation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15–16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5B6570"/>
                </a:solidFill>
                <a:latin typeface="Calibri"/>
              </a:rPr>
              <a:t>Audit / Split (Done) → Reproduction → Segmentation → Anomaly → Planning → Edge → Write-Up, Over 32 Weeks.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F98"/>
                </a:solidFill>
                <a:latin typeface="Calibri"/>
              </a:rPr>
              <a:t>24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4E4C"/>
                </a:solidFill>
                <a:latin typeface="Georgia"/>
              </a:rPr>
              <a:t>Complex Engineering Problem Mapping (Table 4.2)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1005840" cy="50292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38160"/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anchor="ctr" marL="73152" marR="73152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Our Problem</a:t>
                      </a:r>
                    </a:p>
                  </a:txBody>
                  <a:tcPr anchor="ctr" marL="73152" marR="73152">
                    <a:solidFill>
                      <a:srgbClr val="144E4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Depth Of Knowledge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Vision, Detection / Segmentation, Anomaly Detection, Ensemble ML, Manufacturing Systems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Conflicting Requirements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Accuracy Vs. FPS Vs. Edge Power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Data Complexity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~2 GB Heterogeneous Images + Planning Features + Noisy Labels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Practical Impact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QC Accuracy And Delivery Reliability For Export Orders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Scalability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Few-Shot Branch For New Fabrics; Per-Line Replication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F98"/>
                </a:solidFill>
                <a:latin typeface="Calibri"/>
              </a:rPr>
              <a:t>25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4E4C"/>
                </a:solidFill>
                <a:latin typeface="Georgia"/>
              </a:rPr>
              <a:t>Task Allocation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1005840" cy="50292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77240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 anchor="ctr" marL="73152" marR="73152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Primary Responsibility</a:t>
                      </a:r>
                    </a:p>
                  </a:txBody>
                  <a:tcPr anchor="ctr" marL="73152" marR="73152">
                    <a:solidFill>
                      <a:srgbClr val="144E4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Abdullah Al Fahim Zahin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Baseline Reproduction, YOLO Model Training And Evaluation, Lead-Time Prediction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Nafiz Imtiaz Labib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Dataset Collection And Auditing, Dataset Split And Preparation, Edge Deployment And Validation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MST Riya Akter Satu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Requirement Analysis, Image Preprocessing, Documentation And Report Writing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Mohammed Amin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Few-Shot Anomaly Detection Using PatchCore / DINOv2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Fahim Ferdous Niloy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Metadata Bridge, Defect Density Score (Ds) Calculation, Rolling Average, Planner Dashboard Development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Md. Mostafizur Rahman Murad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Testing And Evaluation</a:t>
                      </a:r>
                    </a:p>
                  </a:txBody>
                  <a:tcPr anchor="ctr" marL="73152" marR="73152">
                    <a:solidFill>
                      <a:srgbClr val="EFEA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F98"/>
                </a:solidFill>
                <a:latin typeface="Calibri"/>
              </a:rPr>
              <a:t>26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4E4C"/>
                </a:solidFill>
                <a:latin typeface="Georgia"/>
              </a:rPr>
              <a:t>Conclusion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1005840" cy="50292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9496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394960" cy="82296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755648"/>
            <a:ext cx="475488" cy="475488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719072"/>
            <a:ext cx="4343400" cy="2514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4E4C"/>
                </a:solidFill>
                <a:latin typeface="Calibri"/>
              </a:rPr>
              <a:t>Summary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Reviewed 20 Works, Fixed Requirements, Chose The Detect → Segment → Anomaly → Predict Methodology.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Audited The Dataset: Hashed Every Image, Removed 17 Duplicates, Quarantined 12 Files, Confirmed 2,081 Train / 468 Test With Zero Overlap.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That Audit Supports Every Number That Follows.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463040"/>
            <a:ext cx="539496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45352" y="1463040"/>
            <a:ext cx="5394960" cy="82296"/>
          </a:xfrm>
          <a:prstGeom prst="round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01384" y="1755648"/>
            <a:ext cx="475488" cy="475488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1719072"/>
            <a:ext cx="4343400" cy="2514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4E4C"/>
                </a:solidFill>
                <a:latin typeface="Calibri"/>
              </a:rPr>
              <a:t>Future Work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Relabel Quarantine Using A pHash Sweep.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Gather Roll-ID-Disciplined V2 Factory Data.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Build A Bangla Dashboard For Planners.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Benchmark Against Isl-Knit And FabricSpotDefect.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570"/>
                </a:solidFill>
                <a:latin typeface="Calibri"/>
              </a:rPr>
              <a:t>Submit Results To A Conference.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 i="0">
                <a:solidFill>
                  <a:srgbClr val="5B6570"/>
                </a:solidFill>
                <a:latin typeface="Calibri"/>
              </a:rPr>
              <a:t>Limitations: Pilot Localization Is Estimated, Not Measured; Planning Labels Are Synthetic; 1,994 Files Lack Group IDs; Minority Classes Are Thin; Industrial Validation Is Pending.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F98"/>
                </a:solidFill>
                <a:latin typeface="Calibri"/>
              </a:rPr>
              <a:t>27 /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10642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44E4C"/>
                </a:solidFill>
                <a:latin typeface="Georgia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i="0">
                <a:solidFill>
                  <a:srgbClr val="5B6570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8A8F98"/>
                </a:solidFill>
                <a:latin typeface="Calibri"/>
              </a:rPr>
              <a:t>Defect-to-Delivery — Fabric Defect Detection &amp; Lead-Time Prediction  |  FYDP-I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