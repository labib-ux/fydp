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85" r:id="rId36"/>
    <p:sldId id="266" r:id="rId17"/>
    <p:sldId id="281" r:id="rId32"/>
    <p:sldId id="267" r:id="rId18"/>
    <p:sldId id="268" r:id="rId19"/>
    <p:sldId id="269" r:id="rId20"/>
    <p:sldId id="270" r:id="rId21"/>
    <p:sldId id="271" r:id="rId22"/>
    <p:sldId id="272" r:id="rId23"/>
    <p:sldId id="273" r:id="rId24"/>
    <p:sldId id="287" r:id="rId38"/>
    <p:sldId id="288" r:id="rId39"/>
    <p:sldId id="274" r:id="rId25"/>
    <p:sldId id="275" r:id="rId26"/>
    <p:sldId id="276" r:id="rId27"/>
    <p:sldId id="277" r:id="rId28"/>
    <p:sldId id="278" r:id="rId29"/>
    <p:sldId id="279" r:id="rId30"/>
    <p:sldId id="286" r:id="rId37"/>
    <p:sldId id="280" r:id="rId31"/>
    <p:sldId id="282" r:id="rId33"/>
    <p:sldId id="283" r:id="rId34"/>
    <p:sldId id="289" r:id="rId40"/>
    <p:sldId id="290" r:id="rId41"/>
    <p:sldId id="284" r:id="rId35"/>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2.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30.xml"/><Relationship Id="rId32" Type="http://schemas.openxmlformats.org/officeDocument/2006/relationships/slide" Target="slides/slide13.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5.xml"/><Relationship Id="rId36" Type="http://schemas.openxmlformats.org/officeDocument/2006/relationships/slide" Target="slides/slide11.xml"/><Relationship Id="rId37" Type="http://schemas.openxmlformats.org/officeDocument/2006/relationships/slide" Target="slides/slide29.xml"/><Relationship Id="rId38" Type="http://schemas.openxmlformats.org/officeDocument/2006/relationships/slide" Target="slides/slide21.xml"/><Relationship Id="rId39" Type="http://schemas.openxmlformats.org/officeDocument/2006/relationships/slide" Target="slides/slide22.xml"/><Relationship Id="rId40" Type="http://schemas.openxmlformats.org/officeDocument/2006/relationships/slide" Target="slides/slide33.xml"/><Relationship Id="rId41"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7EF"/>
        </a:solidFill>
        <a:effectLst/>
      </p:bgPr>
    </p:bg>
    <p:spTree>
      <p:nvGrpSpPr>
        <p:cNvPr id="1" name=""/>
        <p:cNvGrpSpPr/>
        <p:nvPr/>
      </p:nvGrpSpPr>
      <p:grpSpPr/>
      <p:sp>
        <p:nvSpPr>
          <p:cNvPr id="2" name="TextBox 1"/>
          <p:cNvSpPr txBox="1"/>
          <p:nvPr/>
        </p:nvSpPr>
        <p:spPr>
          <a:xfrm>
            <a:off x="548640" y="6419088"/>
            <a:ext cx="9144000" cy="274320"/>
          </a:xfrm>
          <a:prstGeom prst="rect">
            <a:avLst/>
          </a:prstGeom>
          <a:noFill/>
        </p:spPr>
        <p:txBody>
          <a:bodyPr wrap="square">
            <a:spAutoFit/>
          </a:bodyPr>
          <a:lstStyle/>
          <a:p>
            <a:pPr algn="l"/>
            <a:r>
              <a:rPr sz="900" b="0" i="0">
                <a:solidFill>
                  <a:srgbClr val="8A8F98"/>
                </a:solidFill>
                <a:latin typeface="Calibri"/>
              </a:rPr>
              <a:t>Defect-to-Delivery  |  FYDP-I  •  Group: 262-034</a:t>
            </a:r>
          </a:p>
        </p:txBody>
      </p:sp>
      <p:sp>
        <p:nvSpPr>
          <p:cNvPr id="3" name="TextBox 2"/>
          <p:cNvSpPr txBox="1"/>
          <p:nvPr/>
        </p:nvSpPr>
        <p:spPr>
          <a:xfrm>
            <a:off x="10972800" y="6419088"/>
            <a:ext cx="640080" cy="274320"/>
          </a:xfrm>
          <a:prstGeom prst="rect">
            <a:avLst/>
          </a:prstGeom>
          <a:noFill/>
        </p:spPr>
        <p:txBody>
          <a:bodyPr wrap="none">
            <a:spAutoFit/>
          </a:bodyPr>
          <a:lstStyle/>
          <a:p>
            <a:pPr algn="r"/>
            <a:r>
              <a:rPr sz="900">
                <a:solidFill>
                  <a:srgbClr val="8A8F98"/>
                </a:solidFill>
                <a:latin typeface="Calibri"/>
              </a:rPr>
              <a:t>1 / 35</a:t>
            </a:r>
          </a:p>
        </p:txBody>
      </p:sp>
      <p:sp>
        <p:nvSpPr>
          <p:cNvPr id="4" name="Rectangle 3"/>
          <p:cNvSpPr/>
          <p:nvPr/>
        </p:nvSpPr>
        <p:spPr>
          <a:xfrm>
            <a:off x="0" y="0"/>
            <a:ext cx="12188952" cy="64008"/>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0080"/>
            <a:ext cx="11064240" cy="365760"/>
          </a:xfrm>
          <a:prstGeom prst="rect">
            <a:avLst/>
          </a:prstGeom>
          <a:noFill/>
        </p:spPr>
        <p:txBody>
          <a:bodyPr wrap="square" anchor="ctr">
            <a:spAutoFit/>
          </a:bodyPr>
          <a:lstStyle/>
          <a:p>
            <a:pPr algn="ctr"/>
            <a:r>
              <a:rPr sz="1500" b="1" i="0">
                <a:solidFill>
                  <a:srgbClr val="5B6570"/>
                </a:solidFill>
                <a:latin typeface="Calibri"/>
              </a:rPr>
              <a:t>FYDP-I  •  Textile &amp; RMG Quality Intelligence</a:t>
            </a:r>
          </a:p>
        </p:txBody>
      </p:sp>
      <p:sp>
        <p:nvSpPr>
          <p:cNvPr id="6" name="TextBox 5"/>
          <p:cNvSpPr txBox="1"/>
          <p:nvPr/>
        </p:nvSpPr>
        <p:spPr>
          <a:xfrm>
            <a:off x="548640" y="1143000"/>
            <a:ext cx="11064240" cy="1188720"/>
          </a:xfrm>
          <a:prstGeom prst="rect">
            <a:avLst/>
          </a:prstGeom>
          <a:noFill/>
        </p:spPr>
        <p:txBody>
          <a:bodyPr wrap="square" anchor="ctr">
            <a:spAutoFit/>
          </a:bodyPr>
          <a:lstStyle/>
          <a:p>
            <a:pPr algn="ctr"/>
            <a:r>
              <a:rPr sz="5400" b="1" i="0">
                <a:solidFill>
                  <a:srgbClr val="144E4C"/>
                </a:solidFill>
                <a:latin typeface="Georgia"/>
              </a:rPr>
              <a:t>Defect-to-Delivery</a:t>
            </a:r>
          </a:p>
        </p:txBody>
      </p:sp>
      <p:sp>
        <p:nvSpPr>
          <p:cNvPr id="7" name="TextBox 6"/>
          <p:cNvSpPr txBox="1"/>
          <p:nvPr/>
        </p:nvSpPr>
        <p:spPr>
          <a:xfrm>
            <a:off x="1463040" y="2514600"/>
            <a:ext cx="9235440" cy="1005840"/>
          </a:xfrm>
          <a:prstGeom prst="rect">
            <a:avLst/>
          </a:prstGeom>
          <a:noFill/>
        </p:spPr>
        <p:txBody>
          <a:bodyPr wrap="square" anchor="ctr">
            <a:spAutoFit/>
          </a:bodyPr>
          <a:lstStyle/>
          <a:p>
            <a:pPr algn="ctr"/>
            <a:r>
              <a:rPr sz="2000" b="0" i="0">
                <a:solidFill>
                  <a:srgbClr val="1F2937"/>
                </a:solidFill>
                <a:latin typeface="Calibri"/>
              </a:rPr>
              <a:t>Fabric Defect Detection and Leadtime Prediction</a:t>
            </a:r>
          </a:p>
        </p:txBody>
      </p:sp>
      <p:sp>
        <p:nvSpPr>
          <p:cNvPr id="8" name="TextBox 7"/>
          <p:cNvSpPr txBox="1"/>
          <p:nvPr/>
        </p:nvSpPr>
        <p:spPr>
          <a:xfrm>
            <a:off x="548640" y="3977639"/>
            <a:ext cx="11064240" cy="1188720"/>
          </a:xfrm>
          <a:prstGeom prst="rect">
            <a:avLst/>
          </a:prstGeom>
          <a:noFill/>
        </p:spPr>
        <p:txBody>
          <a:bodyPr wrap="square" anchor="ctr">
            <a:spAutoFit/>
          </a:bodyPr>
          <a:lstStyle/>
          <a:p>
            <a:pPr algn="ctr"/>
            <a:r>
              <a:rPr sz="1500" b="0" i="0">
                <a:solidFill>
                  <a:srgbClr val="5B6570"/>
                </a:solidFill>
                <a:latin typeface="Calibri"/>
              </a:rPr>
              <a:t>Group: 262-034
Department Of Computer Science And Engineering
United International University (UIU), Dhaka, Bangladesh</a:t>
            </a:r>
          </a:p>
        </p:txBody>
      </p:sp>
      <p:sp>
        <p:nvSpPr>
          <p:cNvPr id="9" name="TextBox 8"/>
          <p:cNvSpPr txBox="1"/>
          <p:nvPr/>
        </p:nvSpPr>
        <p:spPr>
          <a:xfrm>
            <a:off x="548640" y="5486400"/>
            <a:ext cx="11064240" cy="457200"/>
          </a:xfrm>
          <a:prstGeom prst="rect">
            <a:avLst/>
          </a:prstGeom>
          <a:noFill/>
        </p:spPr>
        <p:txBody>
          <a:bodyPr wrap="square" anchor="ctr">
            <a:spAutoFit/>
          </a:bodyPr>
          <a:lstStyle/>
          <a:p>
            <a:pPr algn="ctr"/>
            <a:r>
              <a:rPr sz="1400" b="1" i="0">
                <a:solidFill>
                  <a:srgbClr val="144E4C"/>
                </a:solidFill>
                <a:latin typeface="Calibri"/>
              </a:rPr>
              <a:t>RIYA  •  ZAHIN  •  LABIB  •  AMIN  •  MURAD  •  NILOY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7EF"/>
        </a:solidFill>
        <a:effectLst/>
      </p:bgPr>
    </p:bg>
    <p:spTree>
      <p:nvGrpSpPr>
        <p:cNvPr id="1" name=""/>
        <p:cNvGrpSpPr/>
        <p:nvPr/>
      </p:nvGrpSpPr>
      <p:grpSpPr/>
      <p:sp>
        <p:nvSpPr>
          <p:cNvPr id="2" name="TextBox 1"/>
          <p:cNvSpPr txBox="1"/>
          <p:nvPr/>
        </p:nvSpPr>
        <p:spPr>
          <a:xfrm>
            <a:off x="548640" y="6419088"/>
            <a:ext cx="9144000" cy="274320"/>
          </a:xfrm>
          <a:prstGeom prst="rect">
            <a:avLst/>
          </a:prstGeom>
          <a:noFill/>
        </p:spPr>
        <p:txBody>
          <a:bodyPr wrap="square">
            <a:spAutoFit/>
          </a:bodyPr>
          <a:lstStyle/>
          <a:p>
            <a:pPr algn="l"/>
            <a:r>
              <a:rPr sz="900" b="0" i="0">
                <a:solidFill>
                  <a:srgbClr val="8A8F98"/>
                </a:solidFill>
                <a:latin typeface="Calibri"/>
              </a:rPr>
              <a:t>Defect-to-Delivery  |  FYDP-I  •  Group: 262-034</a:t>
            </a:r>
          </a:p>
        </p:txBody>
      </p:sp>
      <p:sp>
        <p:nvSpPr>
          <p:cNvPr id="3" name="TextBox 2"/>
          <p:cNvSpPr txBox="1"/>
          <p:nvPr/>
        </p:nvSpPr>
        <p:spPr>
          <a:xfrm>
            <a:off x="10972800" y="6419088"/>
            <a:ext cx="640080" cy="274320"/>
          </a:xfrm>
          <a:prstGeom prst="rect">
            <a:avLst/>
          </a:prstGeom>
          <a:noFill/>
        </p:spPr>
        <p:txBody>
          <a:bodyPr wrap="none">
            <a:spAutoFit/>
          </a:bodyPr>
          <a:lstStyle/>
          <a:p>
            <a:pPr algn="r"/>
            <a:r>
              <a:rPr sz="900">
                <a:solidFill>
                  <a:srgbClr val="8A8F98"/>
                </a:solidFill>
                <a:latin typeface="Calibri"/>
              </a:rPr>
              <a:t>2 / 35</a:t>
            </a:r>
          </a:p>
        </p:txBody>
      </p:sp>
      <p:sp>
        <p:nvSpPr>
          <p:cNvPr id="4" name="Rectangle 3"/>
          <p:cNvSpPr/>
          <p:nvPr/>
        </p:nvSpPr>
        <p:spPr>
          <a:xfrm>
            <a:off x="0" y="0"/>
            <a:ext cx="12188952" cy="64008"/>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20040"/>
            <a:ext cx="11064240" cy="822960"/>
          </a:xfrm>
          <a:prstGeom prst="rect">
            <a:avLst/>
          </a:prstGeom>
          <a:noFill/>
        </p:spPr>
        <p:txBody>
          <a:bodyPr wrap="square">
            <a:spAutoFit/>
          </a:bodyPr>
          <a:lstStyle/>
          <a:p>
            <a:pPr algn="l"/>
            <a:r>
              <a:rPr sz="3400" b="1" i="0">
                <a:solidFill>
                  <a:srgbClr val="144E4C"/>
                </a:solidFill>
                <a:latin typeface="Georgia"/>
              </a:rPr>
              <a:t>Supervisor, Course Teacher &amp; Team</a:t>
            </a:r>
          </a:p>
        </p:txBody>
      </p:sp>
      <p:sp>
        <p:nvSpPr>
          <p:cNvPr id="6" name="Rectangle 5"/>
          <p:cNvSpPr/>
          <p:nvPr/>
        </p:nvSpPr>
        <p:spPr>
          <a:xfrm>
            <a:off x="566928" y="1078992"/>
            <a:ext cx="1005840" cy="50292"/>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1417320"/>
            <a:ext cx="2834640" cy="1554480"/>
          </a:xfrm>
          <a:prstGeom prst="roundRect">
            <a:avLst>
              <a:gd name="adj" fmla="val 6000"/>
            </a:avLst>
          </a:prstGeom>
          <a:solidFill>
            <a:srgbClr val="FFFFFF"/>
          </a:solidFill>
          <a:ln w="15875">
            <a:solidFill>
              <a:srgbClr val="D8D2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 y="1417320"/>
            <a:ext cx="2834640" cy="82296"/>
          </a:xfrm>
          <a:prstGeom prst="round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04672" y="1709928"/>
            <a:ext cx="475488" cy="475488"/>
          </a:xfrm>
          <a:prstGeom prst="ellipse">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44E4C"/>
                </a:solidFill>
                <a:latin typeface="Calibri"/>
              </a:rPr>
              <a:t>★</a:t>
            </a:r>
          </a:p>
        </p:txBody>
      </p:sp>
      <p:sp>
        <p:nvSpPr>
          <p:cNvPr id="10" name="TextBox 9"/>
          <p:cNvSpPr txBox="1"/>
          <p:nvPr/>
        </p:nvSpPr>
        <p:spPr>
          <a:xfrm>
            <a:off x="1417319" y="1673352"/>
            <a:ext cx="1783080" cy="1143000"/>
          </a:xfrm>
          <a:prstGeom prst="rect">
            <a:avLst/>
          </a:prstGeom>
          <a:noFill/>
        </p:spPr>
        <p:txBody>
          <a:bodyPr wrap="square">
            <a:normAutofit/>
          </a:bodyPr>
          <a:lstStyle/>
          <a:p>
            <a:pPr algn="l">
              <a:spcAft>
                <a:spcPts val="600"/>
              </a:spcAft>
            </a:pPr>
            <a:r>
              <a:rPr sz="1400" b="1" i="0">
                <a:solidFill>
                  <a:srgbClr val="144E4C"/>
                </a:solidFill>
                <a:latin typeface="Calibri"/>
              </a:rPr>
              <a:t>Supervisor</a:t>
            </a:r>
          </a:p>
          <a:p>
            <a:pPr algn="l">
              <a:spcBef>
                <a:spcPts val="0"/>
              </a:spcBef>
              <a:spcAft>
                <a:spcPts val="300"/>
              </a:spcAft>
            </a:pPr>
            <a:r>
              <a:rPr sz="1150" b="0" i="0">
                <a:solidFill>
                  <a:srgbClr val="5B6570"/>
                </a:solidFill>
                <a:latin typeface="Calibri"/>
              </a:rPr>
              <a:t>Mr. Md. Tarek Hasan</a:t>
            </a:r>
          </a:p>
          <a:p>
            <a:pPr algn="l">
              <a:spcBef>
                <a:spcPts val="0"/>
              </a:spcBef>
              <a:spcAft>
                <a:spcPts val="300"/>
              </a:spcAft>
            </a:pPr>
            <a:r>
              <a:rPr sz="1150" b="0" i="0">
                <a:solidFill>
                  <a:srgbClr val="5B6570"/>
                </a:solidFill>
                <a:latin typeface="Calibri"/>
              </a:rPr>
              <a:t>Assistant Professor, Dept. Of CSE, UIU</a:t>
            </a:r>
          </a:p>
        </p:txBody>
      </p:sp>
      <p:sp>
        <p:nvSpPr>
          <p:cNvPr id="11" name="Rounded Rectangle 10"/>
          <p:cNvSpPr/>
          <p:nvPr/>
        </p:nvSpPr>
        <p:spPr>
          <a:xfrm>
            <a:off x="3657600" y="1417320"/>
            <a:ext cx="2834640" cy="1554480"/>
          </a:xfrm>
          <a:prstGeom prst="roundRect">
            <a:avLst>
              <a:gd name="adj" fmla="val 6000"/>
            </a:avLst>
          </a:prstGeom>
          <a:solidFill>
            <a:srgbClr val="FFFFFF"/>
          </a:solidFill>
          <a:ln w="15875">
            <a:solidFill>
              <a:srgbClr val="D8D2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657600" y="1417320"/>
            <a:ext cx="2834640" cy="82296"/>
          </a:xfrm>
          <a:prstGeom prst="round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913632" y="1709928"/>
            <a:ext cx="475488" cy="475488"/>
          </a:xfrm>
          <a:prstGeom prst="ellipse">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44E4C"/>
                </a:solidFill>
                <a:latin typeface="Calibri"/>
              </a:rPr>
              <a:t>✎</a:t>
            </a:r>
          </a:p>
        </p:txBody>
      </p:sp>
      <p:sp>
        <p:nvSpPr>
          <p:cNvPr id="14" name="TextBox 13"/>
          <p:cNvSpPr txBox="1"/>
          <p:nvPr/>
        </p:nvSpPr>
        <p:spPr>
          <a:xfrm>
            <a:off x="4526280" y="1673352"/>
            <a:ext cx="1783080" cy="1143000"/>
          </a:xfrm>
          <a:prstGeom prst="rect">
            <a:avLst/>
          </a:prstGeom>
          <a:noFill/>
        </p:spPr>
        <p:txBody>
          <a:bodyPr wrap="square">
            <a:normAutofit/>
          </a:bodyPr>
          <a:lstStyle/>
          <a:p>
            <a:pPr algn="l">
              <a:spcAft>
                <a:spcPts val="600"/>
              </a:spcAft>
            </a:pPr>
            <a:r>
              <a:rPr sz="1400" b="1" i="0">
                <a:solidFill>
                  <a:srgbClr val="144E4C"/>
                </a:solidFill>
                <a:latin typeface="Calibri"/>
              </a:rPr>
              <a:t>Course Teacher</a:t>
            </a:r>
          </a:p>
          <a:p>
            <a:pPr algn="l">
              <a:spcBef>
                <a:spcPts val="0"/>
              </a:spcBef>
              <a:spcAft>
                <a:spcPts val="300"/>
              </a:spcAft>
            </a:pPr>
            <a:r>
              <a:rPr sz="1150" b="0" i="0">
                <a:solidFill>
                  <a:srgbClr val="5B6570"/>
                </a:solidFill>
                <a:latin typeface="Calibri"/>
              </a:rPr>
              <a:t>Dr. Mohammad Nurul Huda</a:t>
            </a:r>
          </a:p>
          <a:p>
            <a:pPr algn="l">
              <a:spcBef>
                <a:spcPts val="0"/>
              </a:spcBef>
              <a:spcAft>
                <a:spcPts val="300"/>
              </a:spcAft>
            </a:pPr>
            <a:r>
              <a:rPr sz="1150" b="0" i="0">
                <a:solidFill>
                  <a:srgbClr val="5B6570"/>
                </a:solidFill>
                <a:latin typeface="Calibri"/>
              </a:rPr>
              <a:t>Professor, Dept. Of CSE, UIU</a:t>
            </a:r>
          </a:p>
        </p:txBody>
      </p:sp>
      <p:sp>
        <p:nvSpPr>
          <p:cNvPr id="15" name="Rounded Rectangle 14"/>
          <p:cNvSpPr/>
          <p:nvPr/>
        </p:nvSpPr>
        <p:spPr>
          <a:xfrm>
            <a:off x="548640" y="3108960"/>
            <a:ext cx="3520440" cy="1417320"/>
          </a:xfrm>
          <a:prstGeom prst="roundRect">
            <a:avLst>
              <a:gd name="adj" fmla="val 6000"/>
            </a:avLst>
          </a:prstGeom>
          <a:solidFill>
            <a:srgbClr val="FFFFFF"/>
          </a:solidFill>
          <a:ln w="15875">
            <a:solidFill>
              <a:srgbClr val="D8D2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48640" y="3108960"/>
            <a:ext cx="3520440" cy="82296"/>
          </a:xfrm>
          <a:prstGeom prst="round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04672" y="3401568"/>
            <a:ext cx="475488" cy="475488"/>
          </a:xfrm>
          <a:prstGeom prst="ellipse">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44E4C"/>
                </a:solidFill>
                <a:latin typeface="Calibri"/>
              </a:rPr>
              <a:t>1</a:t>
            </a:r>
          </a:p>
        </p:txBody>
      </p:sp>
      <p:sp>
        <p:nvSpPr>
          <p:cNvPr id="18" name="TextBox 17"/>
          <p:cNvSpPr txBox="1"/>
          <p:nvPr/>
        </p:nvSpPr>
        <p:spPr>
          <a:xfrm>
            <a:off x="1417319" y="3364991"/>
            <a:ext cx="2468880" cy="1005840"/>
          </a:xfrm>
          <a:prstGeom prst="rect">
            <a:avLst/>
          </a:prstGeom>
          <a:noFill/>
        </p:spPr>
        <p:txBody>
          <a:bodyPr wrap="square">
            <a:normAutofit/>
          </a:bodyPr>
          <a:lstStyle/>
          <a:p>
            <a:pPr algn="l">
              <a:spcAft>
                <a:spcPts val="600"/>
              </a:spcAft>
            </a:pPr>
            <a:r>
              <a:rPr sz="1350" b="1" i="0">
                <a:solidFill>
                  <a:srgbClr val="144E4C"/>
                </a:solidFill>
                <a:latin typeface="Calibri"/>
              </a:rPr>
              <a:t>Abdullah Al Fahim Zahin</a:t>
            </a:r>
          </a:p>
          <a:p>
            <a:pPr algn="l">
              <a:spcBef>
                <a:spcPts val="0"/>
              </a:spcBef>
              <a:spcAft>
                <a:spcPts val="300"/>
              </a:spcAft>
            </a:pPr>
            <a:r>
              <a:rPr sz="1100" b="0" i="0">
                <a:solidFill>
                  <a:srgbClr val="5B6570"/>
                </a:solidFill>
                <a:latin typeface="Calibri"/>
              </a:rPr>
              <a:t>0112310314</a:t>
            </a:r>
          </a:p>
          <a:p>
            <a:pPr algn="l">
              <a:spcBef>
                <a:spcPts val="0"/>
              </a:spcBef>
              <a:spcAft>
                <a:spcPts val="300"/>
              </a:spcAft>
            </a:pPr>
            <a:r>
              <a:rPr sz="1100" b="0" i="0">
                <a:solidFill>
                  <a:srgbClr val="5B6570"/>
                </a:solidFill>
                <a:latin typeface="Calibri"/>
              </a:rPr>
              <a:t>Baseline Reproduction, YOLO Training &amp; Lead-Time Model</a:t>
            </a:r>
          </a:p>
        </p:txBody>
      </p:sp>
      <p:sp>
        <p:nvSpPr>
          <p:cNvPr id="19" name="Rounded Rectangle 18"/>
          <p:cNvSpPr/>
          <p:nvPr/>
        </p:nvSpPr>
        <p:spPr>
          <a:xfrm>
            <a:off x="4251959" y="3108960"/>
            <a:ext cx="3520440" cy="1417320"/>
          </a:xfrm>
          <a:prstGeom prst="roundRect">
            <a:avLst>
              <a:gd name="adj" fmla="val 6000"/>
            </a:avLst>
          </a:prstGeom>
          <a:solidFill>
            <a:srgbClr val="FFFFFF"/>
          </a:solidFill>
          <a:ln w="15875">
            <a:solidFill>
              <a:srgbClr val="D8D2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251959" y="3108960"/>
            <a:ext cx="3520440" cy="82296"/>
          </a:xfrm>
          <a:prstGeom prst="round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507992" y="3401568"/>
            <a:ext cx="475488" cy="475488"/>
          </a:xfrm>
          <a:prstGeom prst="ellipse">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44E4C"/>
                </a:solidFill>
                <a:latin typeface="Calibri"/>
              </a:rPr>
              <a:t>2</a:t>
            </a:r>
          </a:p>
        </p:txBody>
      </p:sp>
      <p:sp>
        <p:nvSpPr>
          <p:cNvPr id="22" name="TextBox 21"/>
          <p:cNvSpPr txBox="1"/>
          <p:nvPr/>
        </p:nvSpPr>
        <p:spPr>
          <a:xfrm>
            <a:off x="5120640" y="3364991"/>
            <a:ext cx="2468880" cy="1005840"/>
          </a:xfrm>
          <a:prstGeom prst="rect">
            <a:avLst/>
          </a:prstGeom>
          <a:noFill/>
        </p:spPr>
        <p:txBody>
          <a:bodyPr wrap="square">
            <a:normAutofit/>
          </a:bodyPr>
          <a:lstStyle/>
          <a:p>
            <a:pPr algn="l">
              <a:spcAft>
                <a:spcPts val="600"/>
              </a:spcAft>
            </a:pPr>
            <a:r>
              <a:rPr sz="1350" b="1" i="0">
                <a:solidFill>
                  <a:srgbClr val="144E4C"/>
                </a:solidFill>
                <a:latin typeface="Calibri"/>
              </a:rPr>
              <a:t>Nafiz Imtiaz Labib</a:t>
            </a:r>
          </a:p>
          <a:p>
            <a:pPr algn="l">
              <a:spcBef>
                <a:spcPts val="0"/>
              </a:spcBef>
              <a:spcAft>
                <a:spcPts val="300"/>
              </a:spcAft>
            </a:pPr>
            <a:r>
              <a:rPr sz="1100" b="0" i="0">
                <a:solidFill>
                  <a:srgbClr val="5B6570"/>
                </a:solidFill>
                <a:latin typeface="Calibri"/>
              </a:rPr>
              <a:t>0112310422</a:t>
            </a:r>
          </a:p>
          <a:p>
            <a:pPr algn="l">
              <a:spcBef>
                <a:spcPts val="0"/>
              </a:spcBef>
              <a:spcAft>
                <a:spcPts val="300"/>
              </a:spcAft>
            </a:pPr>
            <a:r>
              <a:rPr sz="1100" b="0" i="0">
                <a:solidFill>
                  <a:srgbClr val="5B6570"/>
                </a:solidFill>
                <a:latin typeface="Calibri"/>
              </a:rPr>
              <a:t>Dataset Audit, Split &amp; Edge Deployment</a:t>
            </a:r>
          </a:p>
        </p:txBody>
      </p:sp>
      <p:sp>
        <p:nvSpPr>
          <p:cNvPr id="23" name="Rounded Rectangle 22"/>
          <p:cNvSpPr/>
          <p:nvPr/>
        </p:nvSpPr>
        <p:spPr>
          <a:xfrm>
            <a:off x="7955279" y="3108960"/>
            <a:ext cx="3520440" cy="1417320"/>
          </a:xfrm>
          <a:prstGeom prst="roundRect">
            <a:avLst>
              <a:gd name="adj" fmla="val 6000"/>
            </a:avLst>
          </a:prstGeom>
          <a:solidFill>
            <a:srgbClr val="FFFFFF"/>
          </a:solidFill>
          <a:ln w="15875">
            <a:solidFill>
              <a:srgbClr val="D8D2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955279" y="3108960"/>
            <a:ext cx="3520440" cy="82296"/>
          </a:xfrm>
          <a:prstGeom prst="round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211311" y="3401568"/>
            <a:ext cx="475488" cy="475488"/>
          </a:xfrm>
          <a:prstGeom prst="ellipse">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44E4C"/>
                </a:solidFill>
                <a:latin typeface="Calibri"/>
              </a:rPr>
              <a:t>3</a:t>
            </a:r>
          </a:p>
        </p:txBody>
      </p:sp>
      <p:sp>
        <p:nvSpPr>
          <p:cNvPr id="26" name="TextBox 25"/>
          <p:cNvSpPr txBox="1"/>
          <p:nvPr/>
        </p:nvSpPr>
        <p:spPr>
          <a:xfrm>
            <a:off x="8823959" y="3364991"/>
            <a:ext cx="2468880" cy="1005840"/>
          </a:xfrm>
          <a:prstGeom prst="rect">
            <a:avLst/>
          </a:prstGeom>
          <a:noFill/>
        </p:spPr>
        <p:txBody>
          <a:bodyPr wrap="square">
            <a:normAutofit/>
          </a:bodyPr>
          <a:lstStyle/>
          <a:p>
            <a:pPr algn="l">
              <a:spcAft>
                <a:spcPts val="600"/>
              </a:spcAft>
            </a:pPr>
            <a:r>
              <a:rPr sz="1350" b="1" i="0">
                <a:solidFill>
                  <a:srgbClr val="144E4C"/>
                </a:solidFill>
                <a:latin typeface="Calibri"/>
              </a:rPr>
              <a:t>Ms. Riya Akter Satu</a:t>
            </a:r>
          </a:p>
          <a:p>
            <a:pPr algn="l">
              <a:spcBef>
                <a:spcPts val="0"/>
              </a:spcBef>
              <a:spcAft>
                <a:spcPts val="300"/>
              </a:spcAft>
            </a:pPr>
            <a:r>
              <a:rPr sz="1100" b="0" i="0">
                <a:solidFill>
                  <a:srgbClr val="5B6570"/>
                </a:solidFill>
                <a:latin typeface="Calibri"/>
              </a:rPr>
              <a:t>0112310147</a:t>
            </a:r>
          </a:p>
          <a:p>
            <a:pPr algn="l">
              <a:spcBef>
                <a:spcPts val="0"/>
              </a:spcBef>
              <a:spcAft>
                <a:spcPts val="300"/>
              </a:spcAft>
            </a:pPr>
            <a:r>
              <a:rPr sz="1100" b="0" i="0">
                <a:solidFill>
                  <a:srgbClr val="5B6570"/>
                </a:solidFill>
                <a:latin typeface="Calibri"/>
              </a:rPr>
              <a:t>Requirement Analysis, Preprocessing &amp; Report Writing</a:t>
            </a:r>
          </a:p>
        </p:txBody>
      </p:sp>
      <p:sp>
        <p:nvSpPr>
          <p:cNvPr id="27" name="Rounded Rectangle 26"/>
          <p:cNvSpPr/>
          <p:nvPr/>
        </p:nvSpPr>
        <p:spPr>
          <a:xfrm>
            <a:off x="548640" y="4590288"/>
            <a:ext cx="3520440" cy="1417320"/>
          </a:xfrm>
          <a:prstGeom prst="roundRect">
            <a:avLst>
              <a:gd name="adj" fmla="val 6000"/>
            </a:avLst>
          </a:prstGeom>
          <a:solidFill>
            <a:srgbClr val="FFFFFF"/>
          </a:solidFill>
          <a:ln w="15875">
            <a:solidFill>
              <a:srgbClr val="D8D2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48640" y="4590288"/>
            <a:ext cx="3520440" cy="82296"/>
          </a:xfrm>
          <a:prstGeom prst="round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04672" y="4882896"/>
            <a:ext cx="475488" cy="475488"/>
          </a:xfrm>
          <a:prstGeom prst="ellipse">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44E4C"/>
                </a:solidFill>
                <a:latin typeface="Calibri"/>
              </a:rPr>
              <a:t>4</a:t>
            </a:r>
          </a:p>
        </p:txBody>
      </p:sp>
      <p:sp>
        <p:nvSpPr>
          <p:cNvPr id="30" name="TextBox 29"/>
          <p:cNvSpPr txBox="1"/>
          <p:nvPr/>
        </p:nvSpPr>
        <p:spPr>
          <a:xfrm>
            <a:off x="1417319" y="4846320"/>
            <a:ext cx="2468880" cy="1005840"/>
          </a:xfrm>
          <a:prstGeom prst="rect">
            <a:avLst/>
          </a:prstGeom>
          <a:noFill/>
        </p:spPr>
        <p:txBody>
          <a:bodyPr wrap="square">
            <a:normAutofit/>
          </a:bodyPr>
          <a:lstStyle/>
          <a:p>
            <a:pPr algn="l">
              <a:spcAft>
                <a:spcPts val="600"/>
              </a:spcAft>
            </a:pPr>
            <a:r>
              <a:rPr sz="1350" b="1" i="0">
                <a:solidFill>
                  <a:srgbClr val="144E4C"/>
                </a:solidFill>
                <a:latin typeface="Calibri"/>
              </a:rPr>
              <a:t>Mohammad Amin</a:t>
            </a:r>
          </a:p>
          <a:p>
            <a:pPr algn="l">
              <a:spcBef>
                <a:spcPts val="0"/>
              </a:spcBef>
              <a:spcAft>
                <a:spcPts val="300"/>
              </a:spcAft>
            </a:pPr>
            <a:r>
              <a:rPr sz="1100" b="0" i="0">
                <a:solidFill>
                  <a:srgbClr val="5B6570"/>
                </a:solidFill>
                <a:latin typeface="Calibri"/>
              </a:rPr>
              <a:t>0112310412</a:t>
            </a:r>
          </a:p>
          <a:p>
            <a:pPr algn="l">
              <a:spcBef>
                <a:spcPts val="0"/>
              </a:spcBef>
              <a:spcAft>
                <a:spcPts val="300"/>
              </a:spcAft>
            </a:pPr>
            <a:r>
              <a:rPr sz="1100" b="0" i="0">
                <a:solidFill>
                  <a:srgbClr val="5B6570"/>
                </a:solidFill>
                <a:latin typeface="Calibri"/>
              </a:rPr>
              <a:t>Few-Shot Anomaly Detection (PatchCore / DINOv2)</a:t>
            </a:r>
          </a:p>
        </p:txBody>
      </p:sp>
      <p:sp>
        <p:nvSpPr>
          <p:cNvPr id="31" name="Rounded Rectangle 30"/>
          <p:cNvSpPr/>
          <p:nvPr/>
        </p:nvSpPr>
        <p:spPr>
          <a:xfrm>
            <a:off x="4251959" y="4590288"/>
            <a:ext cx="3520440" cy="1417320"/>
          </a:xfrm>
          <a:prstGeom prst="roundRect">
            <a:avLst>
              <a:gd name="adj" fmla="val 6000"/>
            </a:avLst>
          </a:prstGeom>
          <a:solidFill>
            <a:srgbClr val="FFFFFF"/>
          </a:solidFill>
          <a:ln w="15875">
            <a:solidFill>
              <a:srgbClr val="D8D2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4251959" y="4590288"/>
            <a:ext cx="3520440" cy="82296"/>
          </a:xfrm>
          <a:prstGeom prst="round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4507992" y="4882896"/>
            <a:ext cx="475488" cy="475488"/>
          </a:xfrm>
          <a:prstGeom prst="ellipse">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44E4C"/>
                </a:solidFill>
                <a:latin typeface="Calibri"/>
              </a:rPr>
              <a:t>5</a:t>
            </a:r>
          </a:p>
        </p:txBody>
      </p:sp>
      <p:sp>
        <p:nvSpPr>
          <p:cNvPr id="34" name="TextBox 33"/>
          <p:cNvSpPr txBox="1"/>
          <p:nvPr/>
        </p:nvSpPr>
        <p:spPr>
          <a:xfrm>
            <a:off x="5120640" y="4846320"/>
            <a:ext cx="2468880" cy="1005840"/>
          </a:xfrm>
          <a:prstGeom prst="rect">
            <a:avLst/>
          </a:prstGeom>
          <a:noFill/>
        </p:spPr>
        <p:txBody>
          <a:bodyPr wrap="square">
            <a:normAutofit/>
          </a:bodyPr>
          <a:lstStyle/>
          <a:p>
            <a:pPr algn="l">
              <a:spcAft>
                <a:spcPts val="600"/>
              </a:spcAft>
            </a:pPr>
            <a:r>
              <a:rPr sz="1350" b="1" i="0">
                <a:solidFill>
                  <a:srgbClr val="144E4C"/>
                </a:solidFill>
                <a:latin typeface="Calibri"/>
              </a:rPr>
              <a:t>Fahim Ferdous Niloy</a:t>
            </a:r>
          </a:p>
          <a:p>
            <a:pPr algn="l">
              <a:spcBef>
                <a:spcPts val="0"/>
              </a:spcBef>
              <a:spcAft>
                <a:spcPts val="300"/>
              </a:spcAft>
            </a:pPr>
            <a:r>
              <a:rPr sz="1100" b="0" i="0">
                <a:solidFill>
                  <a:srgbClr val="5B6570"/>
                </a:solidFill>
                <a:latin typeface="Calibri"/>
              </a:rPr>
              <a:t>0112310307</a:t>
            </a:r>
          </a:p>
          <a:p>
            <a:pPr algn="l">
              <a:spcBef>
                <a:spcPts val="0"/>
              </a:spcBef>
              <a:spcAft>
                <a:spcPts val="300"/>
              </a:spcAft>
            </a:pPr>
            <a:r>
              <a:rPr sz="1100" b="0" i="0">
                <a:solidFill>
                  <a:srgbClr val="5B6570"/>
                </a:solidFill>
                <a:latin typeface="Calibri"/>
              </a:rPr>
              <a:t>Metadata Bridge, Defect Density Score &amp; Dashboard</a:t>
            </a:r>
          </a:p>
        </p:txBody>
      </p:sp>
      <p:sp>
        <p:nvSpPr>
          <p:cNvPr id="35" name="Rounded Rectangle 34"/>
          <p:cNvSpPr/>
          <p:nvPr/>
        </p:nvSpPr>
        <p:spPr>
          <a:xfrm>
            <a:off x="7955279" y="4590288"/>
            <a:ext cx="3520440" cy="1417320"/>
          </a:xfrm>
          <a:prstGeom prst="roundRect">
            <a:avLst>
              <a:gd name="adj" fmla="val 6000"/>
            </a:avLst>
          </a:prstGeom>
          <a:solidFill>
            <a:srgbClr val="FFFFFF"/>
          </a:solidFill>
          <a:ln w="15875">
            <a:solidFill>
              <a:srgbClr val="D8D2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7955279" y="4590288"/>
            <a:ext cx="3520440" cy="82296"/>
          </a:xfrm>
          <a:prstGeom prst="round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211311" y="4882896"/>
            <a:ext cx="475488" cy="475488"/>
          </a:xfrm>
          <a:prstGeom prst="ellipse">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44E4C"/>
                </a:solidFill>
                <a:latin typeface="Calibri"/>
              </a:rPr>
              <a:t>6</a:t>
            </a:r>
          </a:p>
        </p:txBody>
      </p:sp>
      <p:sp>
        <p:nvSpPr>
          <p:cNvPr id="38" name="TextBox 37"/>
          <p:cNvSpPr txBox="1"/>
          <p:nvPr/>
        </p:nvSpPr>
        <p:spPr>
          <a:xfrm>
            <a:off x="8823959" y="4846320"/>
            <a:ext cx="2468880" cy="1005840"/>
          </a:xfrm>
          <a:prstGeom prst="rect">
            <a:avLst/>
          </a:prstGeom>
          <a:noFill/>
        </p:spPr>
        <p:txBody>
          <a:bodyPr wrap="square">
            <a:normAutofit/>
          </a:bodyPr>
          <a:lstStyle/>
          <a:p>
            <a:pPr algn="l">
              <a:spcAft>
                <a:spcPts val="600"/>
              </a:spcAft>
            </a:pPr>
            <a:r>
              <a:rPr sz="1350" b="1" i="0">
                <a:solidFill>
                  <a:srgbClr val="144E4C"/>
                </a:solidFill>
                <a:latin typeface="Calibri"/>
              </a:rPr>
              <a:t>Mustafizur Rahman Murad</a:t>
            </a:r>
          </a:p>
          <a:p>
            <a:pPr algn="l">
              <a:spcBef>
                <a:spcPts val="0"/>
              </a:spcBef>
              <a:spcAft>
                <a:spcPts val="300"/>
              </a:spcAft>
            </a:pPr>
            <a:r>
              <a:rPr sz="1100" b="0" i="0">
                <a:solidFill>
                  <a:srgbClr val="5B6570"/>
                </a:solidFill>
                <a:latin typeface="Calibri"/>
              </a:rPr>
              <a:t>0112310426</a:t>
            </a:r>
          </a:p>
          <a:p>
            <a:pPr algn="l">
              <a:spcBef>
                <a:spcPts val="0"/>
              </a:spcBef>
              <a:spcAft>
                <a:spcPts val="300"/>
              </a:spcAft>
            </a:pPr>
            <a:r>
              <a:rPr sz="1100" b="0" i="0">
                <a:solidFill>
                  <a:srgbClr val="5B6570"/>
                </a:solidFill>
                <a:latin typeface="Calibri"/>
              </a:rPr>
              <a:t>Testing &amp; Evaluation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7EF"/>
        </a:solidFill>
        <a:effectLst/>
      </p:bgPr>
    </p:bg>
    <p:spTree>
      <p:nvGrpSpPr>
        <p:cNvPr id="1" name=""/>
        <p:cNvGrpSpPr/>
        <p:nvPr/>
      </p:nvGrpSpPr>
      <p:grpSpPr/>
      <p:sp>
        <p:nvSpPr>
          <p:cNvPr id="2" name="TextBox 1"/>
          <p:cNvSpPr txBox="1"/>
          <p:nvPr/>
        </p:nvSpPr>
        <p:spPr>
          <a:xfrm>
            <a:off x="548640" y="6419088"/>
            <a:ext cx="9144000" cy="274320"/>
          </a:xfrm>
          <a:prstGeom prst="rect">
            <a:avLst/>
          </a:prstGeom>
          <a:noFill/>
        </p:spPr>
        <p:txBody>
          <a:bodyPr wrap="square">
            <a:spAutoFit/>
          </a:bodyPr>
          <a:lstStyle/>
          <a:p>
            <a:pPr algn="l"/>
            <a:r>
              <a:rPr sz="900" b="0" i="0">
                <a:solidFill>
                  <a:srgbClr val="8A8F98"/>
                </a:solidFill>
                <a:latin typeface="Calibri"/>
              </a:rPr>
              <a:t>Defect-to-Delivery  |  FYDP-I  •  Group: 262-034</a:t>
            </a:r>
          </a:p>
        </p:txBody>
      </p:sp>
      <p:sp>
        <p:nvSpPr>
          <p:cNvPr id="3" name="TextBox 2"/>
          <p:cNvSpPr txBox="1"/>
          <p:nvPr/>
        </p:nvSpPr>
        <p:spPr>
          <a:xfrm>
            <a:off x="10972800" y="6419088"/>
            <a:ext cx="640080" cy="274320"/>
          </a:xfrm>
          <a:prstGeom prst="rect">
            <a:avLst/>
          </a:prstGeom>
          <a:noFill/>
        </p:spPr>
        <p:txBody>
          <a:bodyPr wrap="none">
            <a:spAutoFit/>
          </a:bodyPr>
          <a:lstStyle/>
          <a:p>
            <a:pPr algn="r"/>
            <a:r>
              <a:rPr sz="900">
                <a:solidFill>
                  <a:srgbClr val="8A8F98"/>
                </a:solidFill>
                <a:latin typeface="Calibri"/>
              </a:rPr>
              <a:t>3 / 35</a:t>
            </a:r>
          </a:p>
        </p:txBody>
      </p:sp>
      <p:sp>
        <p:nvSpPr>
          <p:cNvPr id="4" name="Rectangle 3"/>
          <p:cNvSpPr/>
          <p:nvPr/>
        </p:nvSpPr>
        <p:spPr>
          <a:xfrm>
            <a:off x="0" y="0"/>
            <a:ext cx="12188952" cy="64008"/>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20040"/>
            <a:ext cx="11064240" cy="822960"/>
          </a:xfrm>
          <a:prstGeom prst="rect">
            <a:avLst/>
          </a:prstGeom>
          <a:noFill/>
        </p:spPr>
        <p:txBody>
          <a:bodyPr wrap="square">
            <a:spAutoFit/>
          </a:bodyPr>
          <a:lstStyle/>
          <a:p>
            <a:pPr algn="l"/>
            <a:r>
              <a:rPr sz="3400" b="1" i="0">
                <a:solidFill>
                  <a:srgbClr val="144E4C"/>
                </a:solidFill>
                <a:latin typeface="Georgia"/>
              </a:rPr>
              <a:t>Agenda</a:t>
            </a:r>
          </a:p>
        </p:txBody>
      </p:sp>
      <p:sp>
        <p:nvSpPr>
          <p:cNvPr id="6" name="Rectangle 5"/>
          <p:cNvSpPr/>
          <p:nvPr/>
        </p:nvSpPr>
        <p:spPr>
          <a:xfrm>
            <a:off x="566928" y="1078992"/>
            <a:ext cx="1005840" cy="50292"/>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1737360"/>
            <a:ext cx="3383280" cy="1005840"/>
          </a:xfrm>
          <a:prstGeom prst="roundRect">
            <a:avLst/>
          </a:prstGeom>
          <a:solidFill>
            <a:srgbClr val="FFFFFF"/>
          </a:solidFill>
          <a:ln w="15875">
            <a:solidFill>
              <a:srgbClr val="D8D2C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8A6204"/>
                </a:solidFill>
                <a:latin typeface="Calibri"/>
              </a:rPr>
              <a:t>1.  </a:t>
            </a:r>
            <a:r>
              <a:rPr sz="1600" b="1">
                <a:solidFill>
                  <a:srgbClr val="144E4C"/>
                </a:solidFill>
                <a:latin typeface="Calibri"/>
              </a:rPr>
              <a:t>Problem &amp; Motivation</a:t>
            </a:r>
          </a:p>
        </p:txBody>
      </p:sp>
      <p:sp>
        <p:nvSpPr>
          <p:cNvPr id="8" name="Rounded Rectangle 7"/>
          <p:cNvSpPr/>
          <p:nvPr/>
        </p:nvSpPr>
        <p:spPr>
          <a:xfrm>
            <a:off x="4526280" y="1737360"/>
            <a:ext cx="3383280" cy="1005840"/>
          </a:xfrm>
          <a:prstGeom prst="roundRect">
            <a:avLst/>
          </a:prstGeom>
          <a:solidFill>
            <a:srgbClr val="FFFFFF"/>
          </a:solidFill>
          <a:ln w="15875">
            <a:solidFill>
              <a:srgbClr val="D8D2C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8A6204"/>
                </a:solidFill>
                <a:latin typeface="Calibri"/>
              </a:rPr>
              <a:t>2.  </a:t>
            </a:r>
            <a:r>
              <a:rPr sz="1600" b="1">
                <a:solidFill>
                  <a:srgbClr val="144E4C"/>
                </a:solidFill>
                <a:latin typeface="Calibri"/>
              </a:rPr>
              <a:t>Objectives &amp; Methodology</a:t>
            </a:r>
          </a:p>
        </p:txBody>
      </p:sp>
      <p:sp>
        <p:nvSpPr>
          <p:cNvPr id="9" name="Rounded Rectangle 8"/>
          <p:cNvSpPr/>
          <p:nvPr/>
        </p:nvSpPr>
        <p:spPr>
          <a:xfrm>
            <a:off x="8229600" y="1737360"/>
            <a:ext cx="3383280" cy="1005840"/>
          </a:xfrm>
          <a:prstGeom prst="roundRect">
            <a:avLst/>
          </a:prstGeom>
          <a:solidFill>
            <a:srgbClr val="FFFFFF"/>
          </a:solidFill>
          <a:ln w="15875">
            <a:solidFill>
              <a:srgbClr val="D8D2C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8A6204"/>
                </a:solidFill>
                <a:latin typeface="Calibri"/>
              </a:rPr>
              <a:t>3.  </a:t>
            </a:r>
            <a:r>
              <a:rPr sz="1600" b="1">
                <a:solidFill>
                  <a:srgbClr val="144E4C"/>
                </a:solidFill>
                <a:latin typeface="Calibri"/>
              </a:rPr>
              <a:t>Literature Review &amp; Gap Analysis</a:t>
            </a:r>
          </a:p>
        </p:txBody>
      </p:sp>
      <p:sp>
        <p:nvSpPr>
          <p:cNvPr id="10" name="Rounded Rectangle 9"/>
          <p:cNvSpPr/>
          <p:nvPr/>
        </p:nvSpPr>
        <p:spPr>
          <a:xfrm>
            <a:off x="822960" y="3154680"/>
            <a:ext cx="3383280" cy="1005840"/>
          </a:xfrm>
          <a:prstGeom prst="roundRect">
            <a:avLst/>
          </a:prstGeom>
          <a:solidFill>
            <a:srgbClr val="FFFFFF"/>
          </a:solidFill>
          <a:ln w="15875">
            <a:solidFill>
              <a:srgbClr val="D8D2C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8A6204"/>
                </a:solidFill>
                <a:latin typeface="Calibri"/>
              </a:rPr>
              <a:t>4.  </a:t>
            </a:r>
            <a:r>
              <a:rPr sz="1600" b="1">
                <a:solidFill>
                  <a:srgbClr val="144E4C"/>
                </a:solidFill>
                <a:latin typeface="Calibri"/>
              </a:rPr>
              <a:t>Requirement Analysis &amp; Dataset Audit</a:t>
            </a:r>
          </a:p>
        </p:txBody>
      </p:sp>
      <p:sp>
        <p:nvSpPr>
          <p:cNvPr id="11" name="Rounded Rectangle 10"/>
          <p:cNvSpPr/>
          <p:nvPr/>
        </p:nvSpPr>
        <p:spPr>
          <a:xfrm>
            <a:off x="4526280" y="3154680"/>
            <a:ext cx="3383280" cy="1005840"/>
          </a:xfrm>
          <a:prstGeom prst="roundRect">
            <a:avLst/>
          </a:prstGeom>
          <a:solidFill>
            <a:srgbClr val="FFFFFF"/>
          </a:solidFill>
          <a:ln w="15875">
            <a:solidFill>
              <a:srgbClr val="D8D2C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8A6204"/>
                </a:solidFill>
                <a:latin typeface="Calibri"/>
              </a:rPr>
              <a:t>5.  </a:t>
            </a:r>
            <a:r>
              <a:rPr sz="1600" b="1">
                <a:solidFill>
                  <a:srgbClr val="144E4C"/>
                </a:solidFill>
                <a:latin typeface="Calibri"/>
              </a:rPr>
              <a:t>System Design &amp; Diagrams</a:t>
            </a:r>
          </a:p>
        </p:txBody>
      </p:sp>
      <p:sp>
        <p:nvSpPr>
          <p:cNvPr id="12" name="Rounded Rectangle 11"/>
          <p:cNvSpPr/>
          <p:nvPr/>
        </p:nvSpPr>
        <p:spPr>
          <a:xfrm>
            <a:off x="8229600" y="3154680"/>
            <a:ext cx="3383280" cy="1005840"/>
          </a:xfrm>
          <a:prstGeom prst="roundRect">
            <a:avLst/>
          </a:prstGeom>
          <a:solidFill>
            <a:srgbClr val="FFFFFF"/>
          </a:solidFill>
          <a:ln w="15875">
            <a:solidFill>
              <a:srgbClr val="D8D2C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8A6204"/>
                </a:solidFill>
                <a:latin typeface="Calibri"/>
              </a:rPr>
              <a:t>6.  </a:t>
            </a:r>
            <a:r>
              <a:rPr sz="1600" b="1">
                <a:solidFill>
                  <a:srgbClr val="144E4C"/>
                </a:solidFill>
                <a:latin typeface="Calibri"/>
              </a:rPr>
              <a:t>Standards, Constraints, Budget &amp; Plan</a:t>
            </a:r>
          </a:p>
        </p:txBody>
      </p:sp>
      <p:sp>
        <p:nvSpPr>
          <p:cNvPr id="13" name="Rounded Rectangle 12"/>
          <p:cNvSpPr/>
          <p:nvPr/>
        </p:nvSpPr>
        <p:spPr>
          <a:xfrm>
            <a:off x="822960" y="4572000"/>
            <a:ext cx="3383280" cy="1005840"/>
          </a:xfrm>
          <a:prstGeom prst="roundRect">
            <a:avLst/>
          </a:prstGeom>
          <a:solidFill>
            <a:srgbClr val="FFFFFF"/>
          </a:solidFill>
          <a:ln w="15875">
            <a:solidFill>
              <a:srgbClr val="D8D2C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8A6204"/>
                </a:solidFill>
                <a:latin typeface="Calibri"/>
              </a:rPr>
              <a:t>7.  </a:t>
            </a:r>
            <a:r>
              <a:rPr sz="1600" b="1">
                <a:solidFill>
                  <a:srgbClr val="144E4C"/>
                </a:solidFill>
                <a:latin typeface="Calibri"/>
              </a:rPr>
              <a:t>Conclusion &amp; Future Work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7EF"/>
        </a:solidFill>
        <a:effectLst/>
      </p:bgPr>
    </p:bg>
    <p:spTree>
      <p:nvGrpSpPr>
        <p:cNvPr id="1" name=""/>
        <p:cNvGrpSpPr/>
        <p:nvPr/>
      </p:nvGrpSpPr>
      <p:grpSpPr/>
      <p:sp>
        <p:nvSpPr>
          <p:cNvPr id="2" name="TextBox 1"/>
          <p:cNvSpPr txBox="1"/>
          <p:nvPr/>
        </p:nvSpPr>
        <p:spPr>
          <a:xfrm>
            <a:off x="548640" y="6419088"/>
            <a:ext cx="9144000" cy="274320"/>
          </a:xfrm>
          <a:prstGeom prst="rect">
            <a:avLst/>
          </a:prstGeom>
          <a:noFill/>
        </p:spPr>
        <p:txBody>
          <a:bodyPr wrap="square">
            <a:spAutoFit/>
          </a:bodyPr>
          <a:lstStyle/>
          <a:p>
            <a:pPr algn="l"/>
            <a:r>
              <a:rPr sz="900" b="0" i="0">
                <a:solidFill>
                  <a:srgbClr val="8A8F98"/>
                </a:solidFill>
                <a:latin typeface="Calibri"/>
              </a:rPr>
              <a:t>Defect-to-Delivery  |  FYDP-I  •  Group: 262-034</a:t>
            </a:r>
          </a:p>
        </p:txBody>
      </p:sp>
      <p:sp>
        <p:nvSpPr>
          <p:cNvPr id="3" name="TextBox 2"/>
          <p:cNvSpPr txBox="1"/>
          <p:nvPr/>
        </p:nvSpPr>
        <p:spPr>
          <a:xfrm>
            <a:off x="10972800" y="6419088"/>
            <a:ext cx="640080" cy="274320"/>
          </a:xfrm>
          <a:prstGeom prst="rect">
            <a:avLst/>
          </a:prstGeom>
          <a:noFill/>
        </p:spPr>
        <p:txBody>
          <a:bodyPr wrap="none">
            <a:spAutoFit/>
          </a:bodyPr>
          <a:lstStyle/>
          <a:p>
            <a:pPr algn="r"/>
            <a:r>
              <a:rPr sz="900">
                <a:solidFill>
                  <a:srgbClr val="8A8F98"/>
                </a:solidFill>
                <a:latin typeface="Calibri"/>
              </a:rPr>
              <a:t>4 / 35</a:t>
            </a:r>
          </a:p>
        </p:txBody>
      </p:sp>
      <p:sp>
        <p:nvSpPr>
          <p:cNvPr id="4" name="Rectangle 3"/>
          <p:cNvSpPr/>
          <p:nvPr/>
        </p:nvSpPr>
        <p:spPr>
          <a:xfrm>
            <a:off x="0" y="0"/>
            <a:ext cx="12188952" cy="64008"/>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20040"/>
            <a:ext cx="11064240" cy="822960"/>
          </a:xfrm>
          <a:prstGeom prst="rect">
            <a:avLst/>
          </a:prstGeom>
          <a:noFill/>
        </p:spPr>
        <p:txBody>
          <a:bodyPr wrap="square">
            <a:spAutoFit/>
          </a:bodyPr>
          <a:lstStyle/>
          <a:p>
            <a:pPr algn="l"/>
            <a:r>
              <a:rPr sz="3400" b="1" i="0">
                <a:solidFill>
                  <a:srgbClr val="144E4C"/>
                </a:solidFill>
                <a:latin typeface="Georgia"/>
              </a:rPr>
              <a:t>Problem Definition</a:t>
            </a:r>
          </a:p>
        </p:txBody>
      </p:sp>
      <p:sp>
        <p:nvSpPr>
          <p:cNvPr id="6" name="Rectangle 5"/>
          <p:cNvSpPr/>
          <p:nvPr/>
        </p:nvSpPr>
        <p:spPr>
          <a:xfrm>
            <a:off x="566928" y="1078992"/>
            <a:ext cx="1005840" cy="50292"/>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463040"/>
            <a:ext cx="11064240" cy="3108960"/>
          </a:xfrm>
          <a:prstGeom prst="rect">
            <a:avLst/>
          </a:prstGeom>
          <a:noFill/>
        </p:spPr>
        <p:txBody>
          <a:bodyPr wrap="square">
            <a:spAutoFit/>
          </a:bodyPr>
          <a:lstStyle/>
          <a:p>
            <a:pPr algn="l">
              <a:spcBef>
                <a:spcPts val="0"/>
              </a:spcBef>
              <a:spcAft>
                <a:spcPts val="800"/>
              </a:spcAft>
            </a:pPr>
            <a:r>
              <a:rPr sz="1700" b="0" i="0">
                <a:solidFill>
                  <a:srgbClr val="1F2937"/>
                </a:solidFill>
                <a:latin typeface="Calibri"/>
              </a:rPr>
              <a:t>▪  Fabric Inspection In Most Bangladeshi RMG Factories Is Manual — Slow, Inconsistent, And Dependent On Inspector Experience And Fatigue.</a:t>
            </a:r>
          </a:p>
          <a:p>
            <a:pPr algn="l">
              <a:spcBef>
                <a:spcPts val="0"/>
              </a:spcBef>
              <a:spcAft>
                <a:spcPts val="800"/>
              </a:spcAft>
            </a:pPr>
            <a:r>
              <a:rPr sz="1700" b="0" i="0">
                <a:solidFill>
                  <a:srgbClr val="1F2937"/>
                </a:solidFill>
                <a:latin typeface="Calibri"/>
              </a:rPr>
              <a:t>▪  Production Planning Runs On Fixed Lead-Time Tables That Never Look At Real-Time Fabric Quality.</a:t>
            </a:r>
          </a:p>
          <a:p>
            <a:pPr algn="l">
              <a:spcBef>
                <a:spcPts val="0"/>
              </a:spcBef>
              <a:spcAft>
                <a:spcPts val="800"/>
              </a:spcAft>
            </a:pPr>
            <a:r>
              <a:rPr sz="1700" b="0" i="0">
                <a:solidFill>
                  <a:srgbClr val="1F2937"/>
                </a:solidFill>
                <a:latin typeface="Calibri"/>
              </a:rPr>
              <a:t>▪  Vision (Inspection) And Planning (Scheduling) Live In Two Disconnected Systems — Nobody Turns “How Many Defects” Into “How Many Hours.”</a:t>
            </a:r>
          </a:p>
          <a:p>
            <a:pPr algn="l">
              <a:spcBef>
                <a:spcPts val="0"/>
              </a:spcBef>
              <a:spcAft>
                <a:spcPts val="800"/>
              </a:spcAft>
            </a:pPr>
            <a:r>
              <a:rPr sz="1700" b="0" i="0">
                <a:solidFill>
                  <a:srgbClr val="1F2937"/>
                </a:solidFill>
                <a:latin typeface="Calibri"/>
              </a:rPr>
              <a:t>▪  This Gap Threatens Delivery Reliability And Cost Control In Bangladesh’s Largest Export Sector.</a:t>
            </a:r>
          </a:p>
        </p:txBody>
      </p:sp>
      <p:sp>
        <p:nvSpPr>
          <p:cNvPr id="8" name="Rounded Rectangle 7"/>
          <p:cNvSpPr/>
          <p:nvPr/>
        </p:nvSpPr>
        <p:spPr>
          <a:xfrm>
            <a:off x="548640" y="5074920"/>
            <a:ext cx="11064240" cy="777240"/>
          </a:xfrm>
          <a:prstGeom prst="roundRect">
            <a:avLst>
              <a:gd name="adj" fmla="val 12000"/>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144E4C"/>
                </a:solidFill>
                <a:latin typeface="Calibri"/>
              </a:rPr>
              <a:t>No System Links Defect Severity To Production Lead Time — Yet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7EF"/>
        </a:solidFill>
        <a:effectLst/>
      </p:bgPr>
    </p:bg>
    <p:spTree>
      <p:nvGrpSpPr>
        <p:cNvPr id="1" name=""/>
        <p:cNvGrpSpPr/>
        <p:nvPr/>
      </p:nvGrpSpPr>
      <p:grpSpPr/>
      <p:sp>
        <p:nvSpPr>
          <p:cNvPr id="2" name="TextBox 1"/>
          <p:cNvSpPr txBox="1"/>
          <p:nvPr/>
        </p:nvSpPr>
        <p:spPr>
          <a:xfrm>
            <a:off x="548640" y="6419088"/>
            <a:ext cx="9144000" cy="274320"/>
          </a:xfrm>
          <a:prstGeom prst="rect">
            <a:avLst/>
          </a:prstGeom>
          <a:noFill/>
        </p:spPr>
        <p:txBody>
          <a:bodyPr wrap="square">
            <a:spAutoFit/>
          </a:bodyPr>
          <a:lstStyle/>
          <a:p>
            <a:pPr algn="l"/>
            <a:r>
              <a:rPr sz="900" b="0" i="0">
                <a:solidFill>
                  <a:srgbClr val="8A8F98"/>
                </a:solidFill>
                <a:latin typeface="Calibri"/>
              </a:rPr>
              <a:t>Defect-to-Delivery  |  FYDP-I  •  Group: 262-034</a:t>
            </a:r>
          </a:p>
        </p:txBody>
      </p:sp>
      <p:sp>
        <p:nvSpPr>
          <p:cNvPr id="3" name="TextBox 2"/>
          <p:cNvSpPr txBox="1"/>
          <p:nvPr/>
        </p:nvSpPr>
        <p:spPr>
          <a:xfrm>
            <a:off x="10972800" y="6419088"/>
            <a:ext cx="640080" cy="274320"/>
          </a:xfrm>
          <a:prstGeom prst="rect">
            <a:avLst/>
          </a:prstGeom>
          <a:noFill/>
        </p:spPr>
        <p:txBody>
          <a:bodyPr wrap="none">
            <a:spAutoFit/>
          </a:bodyPr>
          <a:lstStyle/>
          <a:p>
            <a:pPr algn="r"/>
            <a:r>
              <a:rPr sz="900">
                <a:solidFill>
                  <a:srgbClr val="8A8F98"/>
                </a:solidFill>
                <a:latin typeface="Calibri"/>
              </a:rPr>
              <a:t>5 / 35</a:t>
            </a:r>
          </a:p>
        </p:txBody>
      </p:sp>
      <p:sp>
        <p:nvSpPr>
          <p:cNvPr id="4" name="Rectangle 3"/>
          <p:cNvSpPr/>
          <p:nvPr/>
        </p:nvSpPr>
        <p:spPr>
          <a:xfrm>
            <a:off x="0" y="0"/>
            <a:ext cx="12188952" cy="64008"/>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20040"/>
            <a:ext cx="11064240" cy="822960"/>
          </a:xfrm>
          <a:prstGeom prst="rect">
            <a:avLst/>
          </a:prstGeom>
          <a:noFill/>
        </p:spPr>
        <p:txBody>
          <a:bodyPr wrap="square">
            <a:spAutoFit/>
          </a:bodyPr>
          <a:lstStyle/>
          <a:p>
            <a:pPr algn="l"/>
            <a:r>
              <a:rPr sz="3400" b="1" i="0">
                <a:solidFill>
                  <a:srgbClr val="144E4C"/>
                </a:solidFill>
                <a:latin typeface="Georgia"/>
              </a:rPr>
              <a:t>Motivation</a:t>
            </a:r>
          </a:p>
        </p:txBody>
      </p:sp>
      <p:sp>
        <p:nvSpPr>
          <p:cNvPr id="6" name="Rectangle 5"/>
          <p:cNvSpPr/>
          <p:nvPr/>
        </p:nvSpPr>
        <p:spPr>
          <a:xfrm>
            <a:off x="566928" y="1078992"/>
            <a:ext cx="1005840" cy="50292"/>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463040"/>
            <a:ext cx="11064240" cy="4206240"/>
          </a:xfrm>
          <a:prstGeom prst="rect">
            <a:avLst/>
          </a:prstGeom>
          <a:noFill/>
        </p:spPr>
        <p:txBody>
          <a:bodyPr wrap="square">
            <a:spAutoFit/>
          </a:bodyPr>
          <a:lstStyle/>
          <a:p>
            <a:pPr algn="l">
              <a:spcBef>
                <a:spcPts val="0"/>
              </a:spcBef>
              <a:spcAft>
                <a:spcPts val="800"/>
              </a:spcAft>
            </a:pPr>
            <a:r>
              <a:rPr sz="1650" b="0" i="0">
                <a:solidFill>
                  <a:srgbClr val="1F2937"/>
                </a:solidFill>
                <a:latin typeface="Calibri"/>
              </a:rPr>
              <a:t>▪  A Tired Inspector Logs Defects By Eye At Shift-End, While The Planner Beside Them Quotes Delivery Dates From A Table Printed Last Year — Real Quality Signal Disappears Between The Inspection Board And The Planning Desk.</a:t>
            </a:r>
          </a:p>
          <a:p>
            <a:pPr algn="l">
              <a:spcBef>
                <a:spcPts val="0"/>
              </a:spcBef>
              <a:spcAft>
                <a:spcPts val="800"/>
              </a:spcAft>
            </a:pPr>
            <a:r>
              <a:rPr sz="1650" b="0" i="0">
                <a:solidFill>
                  <a:srgbClr val="1F2937"/>
                </a:solidFill>
                <a:latin typeface="Calibri"/>
              </a:rPr>
              <a:t>▪  A Closed Defect → Hours Loop Generalizes Beyond Textiles: Predictive Maintenance, Waste Estimation, Any Line Where Visible Quality Affects Completion Time.</a:t>
            </a:r>
          </a:p>
          <a:p>
            <a:pPr algn="l">
              <a:spcBef>
                <a:spcPts val="0"/>
              </a:spcBef>
              <a:spcAft>
                <a:spcPts val="800"/>
              </a:spcAft>
            </a:pPr>
            <a:r>
              <a:rPr sz="1650" b="0" i="0">
                <a:solidFill>
                  <a:srgbClr val="1F2937"/>
                </a:solidFill>
                <a:latin typeface="Calibri"/>
              </a:rPr>
              <a:t>▪  Pilot Work: 2,578 Factory Images Scanned, 2,549 Usable After Audit; Hashing Found 17 Exact Duplicates And 12 Cross-Labeled Files Quarantined After Visual Verification.</a:t>
            </a:r>
          </a:p>
          <a:p>
            <a:pPr algn="l">
              <a:spcBef>
                <a:spcPts val="0"/>
              </a:spcBef>
              <a:spcAft>
                <a:spcPts val="800"/>
              </a:spcAft>
            </a:pPr>
            <a:r>
              <a:rPr sz="1650" b="0" i="0">
                <a:solidFill>
                  <a:srgbClr val="1F2937"/>
                </a:solidFill>
                <a:latin typeface="Calibri"/>
              </a:rPr>
              <a:t>▪  A Prior Split Reported 98% Class Accuracy — The Report Treats This As A Reference Upper Bound, Not A Reproduced Result (Report Table 6.1).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7EF"/>
        </a:solidFill>
        <a:effectLst/>
      </p:bgPr>
    </p:bg>
    <p:spTree>
      <p:nvGrpSpPr>
        <p:cNvPr id="1" name=""/>
        <p:cNvGrpSpPr/>
        <p:nvPr/>
      </p:nvGrpSpPr>
      <p:grpSpPr/>
      <p:sp>
        <p:nvSpPr>
          <p:cNvPr id="2" name="TextBox 1"/>
          <p:cNvSpPr txBox="1"/>
          <p:nvPr/>
        </p:nvSpPr>
        <p:spPr>
          <a:xfrm>
            <a:off x="548640" y="6419088"/>
            <a:ext cx="9144000" cy="274320"/>
          </a:xfrm>
          <a:prstGeom prst="rect">
            <a:avLst/>
          </a:prstGeom>
          <a:noFill/>
        </p:spPr>
        <p:txBody>
          <a:bodyPr wrap="square">
            <a:spAutoFit/>
          </a:bodyPr>
          <a:lstStyle/>
          <a:p>
            <a:pPr algn="l"/>
            <a:r>
              <a:rPr sz="900" b="0" i="0">
                <a:solidFill>
                  <a:srgbClr val="8A8F98"/>
                </a:solidFill>
                <a:latin typeface="Calibri"/>
              </a:rPr>
              <a:t>Defect-to-Delivery  |  FYDP-I  •  Group: 262-034</a:t>
            </a:r>
          </a:p>
        </p:txBody>
      </p:sp>
      <p:sp>
        <p:nvSpPr>
          <p:cNvPr id="3" name="TextBox 2"/>
          <p:cNvSpPr txBox="1"/>
          <p:nvPr/>
        </p:nvSpPr>
        <p:spPr>
          <a:xfrm>
            <a:off x="10972800" y="6419088"/>
            <a:ext cx="640080" cy="274320"/>
          </a:xfrm>
          <a:prstGeom prst="rect">
            <a:avLst/>
          </a:prstGeom>
          <a:noFill/>
        </p:spPr>
        <p:txBody>
          <a:bodyPr wrap="none">
            <a:spAutoFit/>
          </a:bodyPr>
          <a:lstStyle/>
          <a:p>
            <a:pPr algn="r"/>
            <a:r>
              <a:rPr sz="900">
                <a:solidFill>
                  <a:srgbClr val="8A8F98"/>
                </a:solidFill>
                <a:latin typeface="Calibri"/>
              </a:rPr>
              <a:t>6 / 35</a:t>
            </a:r>
          </a:p>
        </p:txBody>
      </p:sp>
      <p:sp>
        <p:nvSpPr>
          <p:cNvPr id="4" name="Rectangle 3"/>
          <p:cNvSpPr/>
          <p:nvPr/>
        </p:nvSpPr>
        <p:spPr>
          <a:xfrm>
            <a:off x="0" y="0"/>
            <a:ext cx="12188952" cy="64008"/>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20040"/>
            <a:ext cx="11064240" cy="822960"/>
          </a:xfrm>
          <a:prstGeom prst="rect">
            <a:avLst/>
          </a:prstGeom>
          <a:noFill/>
        </p:spPr>
        <p:txBody>
          <a:bodyPr wrap="square">
            <a:spAutoFit/>
          </a:bodyPr>
          <a:lstStyle/>
          <a:p>
            <a:pPr algn="l"/>
            <a:r>
              <a:rPr sz="3400" b="1" i="0">
                <a:solidFill>
                  <a:srgbClr val="144E4C"/>
                </a:solidFill>
                <a:latin typeface="Georgia"/>
              </a:rPr>
              <a:t>Objectives</a:t>
            </a:r>
          </a:p>
        </p:txBody>
      </p:sp>
      <p:sp>
        <p:nvSpPr>
          <p:cNvPr id="6" name="Rectangle 5"/>
          <p:cNvSpPr/>
          <p:nvPr/>
        </p:nvSpPr>
        <p:spPr>
          <a:xfrm>
            <a:off x="566928" y="1078992"/>
            <a:ext cx="1005840" cy="50292"/>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40080" y="1554480"/>
            <a:ext cx="502920" cy="502920"/>
          </a:xfrm>
          <a:prstGeom prst="ellipse">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i="0">
                <a:solidFill>
                  <a:srgbClr val="FFFFFF"/>
                </a:solidFill>
                <a:latin typeface="Calibri"/>
              </a:rPr>
              <a:t>1</a:t>
            </a:r>
          </a:p>
        </p:txBody>
      </p:sp>
      <p:sp>
        <p:nvSpPr>
          <p:cNvPr id="8" name="TextBox 7"/>
          <p:cNvSpPr txBox="1"/>
          <p:nvPr/>
        </p:nvSpPr>
        <p:spPr>
          <a:xfrm>
            <a:off x="1371600" y="1481328"/>
            <a:ext cx="10241280" cy="822960"/>
          </a:xfrm>
          <a:prstGeom prst="rect">
            <a:avLst/>
          </a:prstGeom>
          <a:noFill/>
        </p:spPr>
        <p:txBody>
          <a:bodyPr wrap="square">
            <a:spAutoFit/>
          </a:bodyPr>
          <a:lstStyle/>
          <a:p>
            <a:pPr algn="l">
              <a:spcBef>
                <a:spcPts val="0"/>
              </a:spcBef>
              <a:spcAft>
                <a:spcPts val="800"/>
              </a:spcAft>
            </a:pPr>
            <a:r>
              <a:rPr sz="1600" b="0" i="0">
                <a:solidFill>
                  <a:srgbClr val="1F2937"/>
                </a:solidFill>
                <a:latin typeface="Calibri"/>
              </a:rPr>
              <a:t>Build An Audited 6-Class Fabric Image Dataset With Hash Inventory, Quarantine Ledger, And Group-Aware Split Manifest.</a:t>
            </a:r>
          </a:p>
        </p:txBody>
      </p:sp>
      <p:sp>
        <p:nvSpPr>
          <p:cNvPr id="9" name="Oval 8"/>
          <p:cNvSpPr/>
          <p:nvPr/>
        </p:nvSpPr>
        <p:spPr>
          <a:xfrm>
            <a:off x="640080" y="2487168"/>
            <a:ext cx="502920" cy="502920"/>
          </a:xfrm>
          <a:prstGeom prst="ellipse">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i="0">
                <a:solidFill>
                  <a:srgbClr val="FFFFFF"/>
                </a:solidFill>
                <a:latin typeface="Calibri"/>
              </a:rPr>
              <a:t>2</a:t>
            </a:r>
          </a:p>
        </p:txBody>
      </p:sp>
      <p:sp>
        <p:nvSpPr>
          <p:cNvPr id="10" name="TextBox 9"/>
          <p:cNvSpPr txBox="1"/>
          <p:nvPr/>
        </p:nvSpPr>
        <p:spPr>
          <a:xfrm>
            <a:off x="1371600" y="2414015"/>
            <a:ext cx="10241280" cy="822960"/>
          </a:xfrm>
          <a:prstGeom prst="rect">
            <a:avLst/>
          </a:prstGeom>
          <a:noFill/>
        </p:spPr>
        <p:txBody>
          <a:bodyPr wrap="square">
            <a:spAutoFit/>
          </a:bodyPr>
          <a:lstStyle/>
          <a:p>
            <a:pPr algn="l">
              <a:spcBef>
                <a:spcPts val="0"/>
              </a:spcBef>
              <a:spcAft>
                <a:spcPts val="800"/>
              </a:spcAft>
            </a:pPr>
            <a:r>
              <a:rPr sz="1600" b="0" i="0">
                <a:solidFill>
                  <a:srgbClr val="1F2937"/>
                </a:solidFill>
                <a:latin typeface="Calibri"/>
              </a:rPr>
              <a:t>Train A YOLOv11-Seg Detector For Defect Type + Pixel-True Area, Tracked With mAP.</a:t>
            </a:r>
          </a:p>
        </p:txBody>
      </p:sp>
      <p:sp>
        <p:nvSpPr>
          <p:cNvPr id="11" name="Oval 10"/>
          <p:cNvSpPr/>
          <p:nvPr/>
        </p:nvSpPr>
        <p:spPr>
          <a:xfrm>
            <a:off x="640080" y="3419856"/>
            <a:ext cx="502920" cy="502920"/>
          </a:xfrm>
          <a:prstGeom prst="ellipse">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i="0">
                <a:solidFill>
                  <a:srgbClr val="FFFFFF"/>
                </a:solidFill>
                <a:latin typeface="Calibri"/>
              </a:rPr>
              <a:t>3</a:t>
            </a:r>
          </a:p>
        </p:txBody>
      </p:sp>
      <p:sp>
        <p:nvSpPr>
          <p:cNvPr id="12" name="TextBox 11"/>
          <p:cNvSpPr txBox="1"/>
          <p:nvPr/>
        </p:nvSpPr>
        <p:spPr>
          <a:xfrm>
            <a:off x="1371600" y="3346704"/>
            <a:ext cx="10241280" cy="822960"/>
          </a:xfrm>
          <a:prstGeom prst="rect">
            <a:avLst/>
          </a:prstGeom>
          <a:noFill/>
        </p:spPr>
        <p:txBody>
          <a:bodyPr wrap="square">
            <a:spAutoFit/>
          </a:bodyPr>
          <a:lstStyle/>
          <a:p>
            <a:pPr algn="l">
              <a:spcBef>
                <a:spcPts val="0"/>
              </a:spcBef>
              <a:spcAft>
                <a:spcPts val="800"/>
              </a:spcAft>
            </a:pPr>
            <a:r>
              <a:rPr sz="1600" b="0" i="0">
                <a:solidFill>
                  <a:srgbClr val="1F2937"/>
                </a:solidFill>
                <a:latin typeface="Calibri"/>
              </a:rPr>
              <a:t>Train A Random Forest Lead-Time Predictor From Speed, Quantity And Defect Density Score (Ds), Tracked With MAE / RMSE / R².</a:t>
            </a:r>
          </a:p>
        </p:txBody>
      </p:sp>
      <p:sp>
        <p:nvSpPr>
          <p:cNvPr id="13" name="Oval 12"/>
          <p:cNvSpPr/>
          <p:nvPr/>
        </p:nvSpPr>
        <p:spPr>
          <a:xfrm>
            <a:off x="640080" y="4352544"/>
            <a:ext cx="502920" cy="502920"/>
          </a:xfrm>
          <a:prstGeom prst="ellipse">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i="0">
                <a:solidFill>
                  <a:srgbClr val="FFFFFF"/>
                </a:solidFill>
                <a:latin typeface="Calibri"/>
              </a:rPr>
              <a:t>4</a:t>
            </a:r>
          </a:p>
        </p:txBody>
      </p:sp>
      <p:sp>
        <p:nvSpPr>
          <p:cNvPr id="14" name="TextBox 13"/>
          <p:cNvSpPr txBox="1"/>
          <p:nvPr/>
        </p:nvSpPr>
        <p:spPr>
          <a:xfrm>
            <a:off x="1371600" y="4279392"/>
            <a:ext cx="10241280" cy="822960"/>
          </a:xfrm>
          <a:prstGeom prst="rect">
            <a:avLst/>
          </a:prstGeom>
          <a:noFill/>
        </p:spPr>
        <p:txBody>
          <a:bodyPr wrap="square">
            <a:spAutoFit/>
          </a:bodyPr>
          <a:lstStyle/>
          <a:p>
            <a:pPr algn="l">
              <a:spcBef>
                <a:spcPts val="0"/>
              </a:spcBef>
              <a:spcAft>
                <a:spcPts val="800"/>
              </a:spcAft>
            </a:pPr>
            <a:r>
              <a:rPr sz="1600" b="0" i="0">
                <a:solidFill>
                  <a:srgbClr val="1F2937"/>
                </a:solidFill>
                <a:latin typeface="Calibri"/>
              </a:rPr>
              <a:t>Fuse Both Into One Real-Time Closed-Loop Framework With A Planner Dashboard.</a:t>
            </a:r>
          </a:p>
        </p:txBody>
      </p:sp>
      <p:sp>
        <p:nvSpPr>
          <p:cNvPr id="15" name="Oval 14"/>
          <p:cNvSpPr/>
          <p:nvPr/>
        </p:nvSpPr>
        <p:spPr>
          <a:xfrm>
            <a:off x="640080" y="5285232"/>
            <a:ext cx="502920" cy="502920"/>
          </a:xfrm>
          <a:prstGeom prst="ellipse">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i="0">
                <a:solidFill>
                  <a:srgbClr val="FFFFFF"/>
                </a:solidFill>
                <a:latin typeface="Calibri"/>
              </a:rPr>
              <a:t>5</a:t>
            </a:r>
          </a:p>
        </p:txBody>
      </p:sp>
      <p:sp>
        <p:nvSpPr>
          <p:cNvPr id="16" name="TextBox 15"/>
          <p:cNvSpPr txBox="1"/>
          <p:nvPr/>
        </p:nvSpPr>
        <p:spPr>
          <a:xfrm>
            <a:off x="1371600" y="5212080"/>
            <a:ext cx="10241280" cy="822960"/>
          </a:xfrm>
          <a:prstGeom prst="rect">
            <a:avLst/>
          </a:prstGeom>
          <a:noFill/>
        </p:spPr>
        <p:txBody>
          <a:bodyPr wrap="square">
            <a:spAutoFit/>
          </a:bodyPr>
          <a:lstStyle/>
          <a:p>
            <a:pPr algn="l">
              <a:spcBef>
                <a:spcPts val="0"/>
              </a:spcBef>
              <a:spcAft>
                <a:spcPts val="800"/>
              </a:spcAft>
            </a:pPr>
            <a:r>
              <a:rPr sz="1600" b="0" i="0">
                <a:solidFill>
                  <a:srgbClr val="1F2937"/>
                </a:solidFill>
                <a:latin typeface="Calibri"/>
              </a:rPr>
              <a:t>Prove Every Number On Disjoint Data — The Same Swatch Family Never Appears On Both Sides.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7EF"/>
        </a:solidFill>
        <a:effectLst/>
      </p:bgPr>
    </p:bg>
    <p:spTree>
      <p:nvGrpSpPr>
        <p:cNvPr id="1" name=""/>
        <p:cNvGrpSpPr/>
        <p:nvPr/>
      </p:nvGrpSpPr>
      <p:grpSpPr/>
      <p:sp>
        <p:nvSpPr>
          <p:cNvPr id="2" name="TextBox 1"/>
          <p:cNvSpPr txBox="1"/>
          <p:nvPr/>
        </p:nvSpPr>
        <p:spPr>
          <a:xfrm>
            <a:off x="548640" y="6419088"/>
            <a:ext cx="9144000" cy="274320"/>
          </a:xfrm>
          <a:prstGeom prst="rect">
            <a:avLst/>
          </a:prstGeom>
          <a:noFill/>
        </p:spPr>
        <p:txBody>
          <a:bodyPr wrap="square">
            <a:spAutoFit/>
          </a:bodyPr>
          <a:lstStyle/>
          <a:p>
            <a:pPr algn="l"/>
            <a:r>
              <a:rPr sz="900" b="0" i="0">
                <a:solidFill>
                  <a:srgbClr val="8A8F98"/>
                </a:solidFill>
                <a:latin typeface="Calibri"/>
              </a:rPr>
              <a:t>Defect-to-Delivery  |  FYDP-I  •  Group: 262-034</a:t>
            </a:r>
          </a:p>
        </p:txBody>
      </p:sp>
      <p:sp>
        <p:nvSpPr>
          <p:cNvPr id="3" name="TextBox 2"/>
          <p:cNvSpPr txBox="1"/>
          <p:nvPr/>
        </p:nvSpPr>
        <p:spPr>
          <a:xfrm>
            <a:off x="10972800" y="6419088"/>
            <a:ext cx="640080" cy="274320"/>
          </a:xfrm>
          <a:prstGeom prst="rect">
            <a:avLst/>
          </a:prstGeom>
          <a:noFill/>
        </p:spPr>
        <p:txBody>
          <a:bodyPr wrap="none">
            <a:spAutoFit/>
          </a:bodyPr>
          <a:lstStyle/>
          <a:p>
            <a:pPr algn="r"/>
            <a:r>
              <a:rPr sz="900">
                <a:solidFill>
                  <a:srgbClr val="8A8F98"/>
                </a:solidFill>
                <a:latin typeface="Calibri"/>
              </a:rPr>
              <a:t>7 / 35</a:t>
            </a:r>
          </a:p>
        </p:txBody>
      </p:sp>
      <p:sp>
        <p:nvSpPr>
          <p:cNvPr id="4" name="Rectangle 3"/>
          <p:cNvSpPr/>
          <p:nvPr/>
        </p:nvSpPr>
        <p:spPr>
          <a:xfrm>
            <a:off x="0" y="0"/>
            <a:ext cx="12188952" cy="64008"/>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20040"/>
            <a:ext cx="11064240" cy="822960"/>
          </a:xfrm>
          <a:prstGeom prst="rect">
            <a:avLst/>
          </a:prstGeom>
          <a:noFill/>
        </p:spPr>
        <p:txBody>
          <a:bodyPr wrap="square">
            <a:spAutoFit/>
          </a:bodyPr>
          <a:lstStyle/>
          <a:p>
            <a:pPr algn="l"/>
            <a:r>
              <a:rPr sz="3400" b="1" i="0">
                <a:solidFill>
                  <a:srgbClr val="144E4C"/>
                </a:solidFill>
                <a:latin typeface="Georgia"/>
              </a:rPr>
              <a:t>Methodology</a:t>
            </a:r>
          </a:p>
        </p:txBody>
      </p:sp>
      <p:sp>
        <p:nvSpPr>
          <p:cNvPr id="6" name="Rectangle 5"/>
          <p:cNvSpPr/>
          <p:nvPr/>
        </p:nvSpPr>
        <p:spPr>
          <a:xfrm>
            <a:off x="566928" y="1078992"/>
            <a:ext cx="1005840" cy="50292"/>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1463040"/>
            <a:ext cx="3520440" cy="1920240"/>
          </a:xfrm>
          <a:prstGeom prst="roundRect">
            <a:avLst>
              <a:gd name="adj" fmla="val 6000"/>
            </a:avLst>
          </a:prstGeom>
          <a:solidFill>
            <a:srgbClr val="FFFFFF"/>
          </a:solidFill>
          <a:ln w="15875">
            <a:solidFill>
              <a:srgbClr val="D8D2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 y="1463040"/>
            <a:ext cx="3520440" cy="82296"/>
          </a:xfrm>
          <a:prstGeom prst="round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04672" y="1755648"/>
            <a:ext cx="475488" cy="475488"/>
          </a:xfrm>
          <a:prstGeom prst="ellipse">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44E4C"/>
                </a:solidFill>
                <a:latin typeface="Calibri"/>
              </a:rPr>
              <a:t>1</a:t>
            </a:r>
          </a:p>
        </p:txBody>
      </p:sp>
      <p:sp>
        <p:nvSpPr>
          <p:cNvPr id="10" name="TextBox 9"/>
          <p:cNvSpPr txBox="1"/>
          <p:nvPr/>
        </p:nvSpPr>
        <p:spPr>
          <a:xfrm>
            <a:off x="1417319" y="1719072"/>
            <a:ext cx="2468880" cy="1508760"/>
          </a:xfrm>
          <a:prstGeom prst="rect">
            <a:avLst/>
          </a:prstGeom>
          <a:noFill/>
        </p:spPr>
        <p:txBody>
          <a:bodyPr wrap="square">
            <a:normAutofit/>
          </a:bodyPr>
          <a:lstStyle/>
          <a:p>
            <a:pPr algn="l">
              <a:spcAft>
                <a:spcPts val="600"/>
              </a:spcAft>
            </a:pPr>
            <a:r>
              <a:rPr sz="1600" b="1" i="0">
                <a:solidFill>
                  <a:srgbClr val="144E4C"/>
                </a:solidFill>
                <a:latin typeface="Calibri"/>
              </a:rPr>
              <a:t>Detect</a:t>
            </a:r>
          </a:p>
          <a:p>
            <a:pPr algn="l">
              <a:spcBef>
                <a:spcPts val="0"/>
              </a:spcBef>
              <a:spcAft>
                <a:spcPts val="300"/>
              </a:spcAft>
            </a:pPr>
            <a:r>
              <a:rPr sz="1350" b="0" i="0">
                <a:solidFill>
                  <a:srgbClr val="5B6570"/>
                </a:solidFill>
                <a:latin typeface="Calibri"/>
              </a:rPr>
              <a:t>YOLO-Family Detectors (YOLOv11-Seg Target); OpenCV Thresholding / Contours For Area Measurement.</a:t>
            </a:r>
          </a:p>
        </p:txBody>
      </p:sp>
      <p:sp>
        <p:nvSpPr>
          <p:cNvPr id="11" name="Rounded Rectangle 10"/>
          <p:cNvSpPr/>
          <p:nvPr/>
        </p:nvSpPr>
        <p:spPr>
          <a:xfrm>
            <a:off x="4251959" y="1463040"/>
            <a:ext cx="3520440" cy="1920240"/>
          </a:xfrm>
          <a:prstGeom prst="roundRect">
            <a:avLst>
              <a:gd name="adj" fmla="val 6000"/>
            </a:avLst>
          </a:prstGeom>
          <a:solidFill>
            <a:srgbClr val="FFFFFF"/>
          </a:solidFill>
          <a:ln w="15875">
            <a:solidFill>
              <a:srgbClr val="D8D2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251959" y="1463040"/>
            <a:ext cx="3520440" cy="82296"/>
          </a:xfrm>
          <a:prstGeom prst="round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507992" y="1755648"/>
            <a:ext cx="475488" cy="475488"/>
          </a:xfrm>
          <a:prstGeom prst="ellipse">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44E4C"/>
                </a:solidFill>
                <a:latin typeface="Calibri"/>
              </a:rPr>
              <a:t>2</a:t>
            </a:r>
          </a:p>
        </p:txBody>
      </p:sp>
      <p:sp>
        <p:nvSpPr>
          <p:cNvPr id="14" name="TextBox 13"/>
          <p:cNvSpPr txBox="1"/>
          <p:nvPr/>
        </p:nvSpPr>
        <p:spPr>
          <a:xfrm>
            <a:off x="5120640" y="1719072"/>
            <a:ext cx="2468880" cy="1508760"/>
          </a:xfrm>
          <a:prstGeom prst="rect">
            <a:avLst/>
          </a:prstGeom>
          <a:noFill/>
        </p:spPr>
        <p:txBody>
          <a:bodyPr wrap="square">
            <a:normAutofit/>
          </a:bodyPr>
          <a:lstStyle/>
          <a:p>
            <a:pPr algn="l">
              <a:spcAft>
                <a:spcPts val="600"/>
              </a:spcAft>
            </a:pPr>
            <a:r>
              <a:rPr sz="1600" b="1" i="0">
                <a:solidFill>
                  <a:srgbClr val="144E4C"/>
                </a:solidFill>
                <a:latin typeface="Calibri"/>
              </a:rPr>
              <a:t>Segment</a:t>
            </a:r>
          </a:p>
          <a:p>
            <a:pPr algn="l">
              <a:spcBef>
                <a:spcPts val="0"/>
              </a:spcBef>
              <a:spcAft>
                <a:spcPts val="300"/>
              </a:spcAft>
            </a:pPr>
            <a:r>
              <a:rPr sz="1350" b="0" i="0">
                <a:solidFill>
                  <a:srgbClr val="5B6570"/>
                </a:solidFill>
                <a:latin typeface="Calibri"/>
              </a:rPr>
              <a:t>Instance Masks For Accurate Stain / Pulled-Thread Area Vs Over-Estimating Boxes; Mask IoU Ablation.</a:t>
            </a:r>
          </a:p>
        </p:txBody>
      </p:sp>
      <p:sp>
        <p:nvSpPr>
          <p:cNvPr id="15" name="Rounded Rectangle 14"/>
          <p:cNvSpPr/>
          <p:nvPr/>
        </p:nvSpPr>
        <p:spPr>
          <a:xfrm>
            <a:off x="7955279" y="1463040"/>
            <a:ext cx="3520440" cy="1920240"/>
          </a:xfrm>
          <a:prstGeom prst="roundRect">
            <a:avLst>
              <a:gd name="adj" fmla="val 6000"/>
            </a:avLst>
          </a:prstGeom>
          <a:solidFill>
            <a:srgbClr val="FFFFFF"/>
          </a:solidFill>
          <a:ln w="15875">
            <a:solidFill>
              <a:srgbClr val="D8D2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955279" y="1463040"/>
            <a:ext cx="3520440" cy="82296"/>
          </a:xfrm>
          <a:prstGeom prst="round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11311" y="1755648"/>
            <a:ext cx="475488" cy="475488"/>
          </a:xfrm>
          <a:prstGeom prst="ellipse">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44E4C"/>
                </a:solidFill>
                <a:latin typeface="Calibri"/>
              </a:rPr>
              <a:t>3</a:t>
            </a:r>
          </a:p>
        </p:txBody>
      </p:sp>
      <p:sp>
        <p:nvSpPr>
          <p:cNvPr id="18" name="TextBox 17"/>
          <p:cNvSpPr txBox="1"/>
          <p:nvPr/>
        </p:nvSpPr>
        <p:spPr>
          <a:xfrm>
            <a:off x="8823959" y="1719072"/>
            <a:ext cx="2468880" cy="1508760"/>
          </a:xfrm>
          <a:prstGeom prst="rect">
            <a:avLst/>
          </a:prstGeom>
          <a:noFill/>
        </p:spPr>
        <p:txBody>
          <a:bodyPr wrap="square">
            <a:normAutofit/>
          </a:bodyPr>
          <a:lstStyle/>
          <a:p>
            <a:pPr algn="l">
              <a:spcAft>
                <a:spcPts val="600"/>
              </a:spcAft>
            </a:pPr>
            <a:r>
              <a:rPr sz="1600" b="1" i="0">
                <a:solidFill>
                  <a:srgbClr val="144E4C"/>
                </a:solidFill>
                <a:latin typeface="Calibri"/>
              </a:rPr>
              <a:t>Catch Unknowns</a:t>
            </a:r>
          </a:p>
          <a:p>
            <a:pPr algn="l">
              <a:spcBef>
                <a:spcPts val="0"/>
              </a:spcBef>
              <a:spcAft>
                <a:spcPts val="300"/>
              </a:spcAft>
            </a:pPr>
            <a:r>
              <a:rPr sz="1350" b="0" i="0">
                <a:solidFill>
                  <a:srgbClr val="5B6570"/>
                </a:solidFill>
                <a:latin typeface="Calibri"/>
              </a:rPr>
              <a:t>Few-Shot Anomaly Detection (PatchCore / DINOv2 Family) Trained Only On Good Fabric.</a:t>
            </a:r>
          </a:p>
        </p:txBody>
      </p:sp>
      <p:sp>
        <p:nvSpPr>
          <p:cNvPr id="19" name="Rounded Rectangle 18"/>
          <p:cNvSpPr/>
          <p:nvPr/>
        </p:nvSpPr>
        <p:spPr>
          <a:xfrm>
            <a:off x="548640" y="3611880"/>
            <a:ext cx="3520440" cy="1920240"/>
          </a:xfrm>
          <a:prstGeom prst="roundRect">
            <a:avLst>
              <a:gd name="adj" fmla="val 6000"/>
            </a:avLst>
          </a:prstGeom>
          <a:solidFill>
            <a:srgbClr val="FFFFFF"/>
          </a:solidFill>
          <a:ln w="15875">
            <a:solidFill>
              <a:srgbClr val="D8D2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48640" y="3611880"/>
            <a:ext cx="3520440" cy="82296"/>
          </a:xfrm>
          <a:prstGeom prst="round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04672" y="3904488"/>
            <a:ext cx="475488" cy="475488"/>
          </a:xfrm>
          <a:prstGeom prst="ellipse">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44E4C"/>
                </a:solidFill>
                <a:latin typeface="Calibri"/>
              </a:rPr>
              <a:t>4</a:t>
            </a:r>
          </a:p>
        </p:txBody>
      </p:sp>
      <p:sp>
        <p:nvSpPr>
          <p:cNvPr id="22" name="TextBox 21"/>
          <p:cNvSpPr txBox="1"/>
          <p:nvPr/>
        </p:nvSpPr>
        <p:spPr>
          <a:xfrm>
            <a:off x="1417319" y="3867912"/>
            <a:ext cx="2468880" cy="1508760"/>
          </a:xfrm>
          <a:prstGeom prst="rect">
            <a:avLst/>
          </a:prstGeom>
          <a:noFill/>
        </p:spPr>
        <p:txBody>
          <a:bodyPr wrap="square">
            <a:normAutofit/>
          </a:bodyPr>
          <a:lstStyle/>
          <a:p>
            <a:pPr algn="l">
              <a:spcAft>
                <a:spcPts val="600"/>
              </a:spcAft>
            </a:pPr>
            <a:r>
              <a:rPr sz="1600" b="1" i="0">
                <a:solidFill>
                  <a:srgbClr val="144E4C"/>
                </a:solidFill>
                <a:latin typeface="Calibri"/>
              </a:rPr>
              <a:t>Predict</a:t>
            </a:r>
          </a:p>
          <a:p>
            <a:pPr algn="l">
              <a:spcBef>
                <a:spcPts val="0"/>
              </a:spcBef>
              <a:spcAft>
                <a:spcPts val="300"/>
              </a:spcAft>
            </a:pPr>
            <a:r>
              <a:rPr sz="1350" b="0" i="0">
                <a:solidFill>
                  <a:srgbClr val="5B6570"/>
                </a:solidFill>
                <a:latin typeface="Calibri"/>
              </a:rPr>
              <a:t>Random Forest Regression On Speed, Quantity, Ds Ablated Against XGBoost And MLP.</a:t>
            </a:r>
          </a:p>
        </p:txBody>
      </p:sp>
      <p:sp>
        <p:nvSpPr>
          <p:cNvPr id="23" name="Rounded Rectangle 22"/>
          <p:cNvSpPr/>
          <p:nvPr/>
        </p:nvSpPr>
        <p:spPr>
          <a:xfrm>
            <a:off x="4251959" y="3611880"/>
            <a:ext cx="3520440" cy="1920240"/>
          </a:xfrm>
          <a:prstGeom prst="roundRect">
            <a:avLst>
              <a:gd name="adj" fmla="val 6000"/>
            </a:avLst>
          </a:prstGeom>
          <a:solidFill>
            <a:srgbClr val="FFFFFF"/>
          </a:solidFill>
          <a:ln w="15875">
            <a:solidFill>
              <a:srgbClr val="D8D2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251959" y="3611880"/>
            <a:ext cx="3520440" cy="82296"/>
          </a:xfrm>
          <a:prstGeom prst="round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507992" y="3904488"/>
            <a:ext cx="475488" cy="475488"/>
          </a:xfrm>
          <a:prstGeom prst="ellipse">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44E4C"/>
                </a:solidFill>
                <a:latin typeface="Calibri"/>
              </a:rPr>
              <a:t>5</a:t>
            </a:r>
          </a:p>
        </p:txBody>
      </p:sp>
      <p:sp>
        <p:nvSpPr>
          <p:cNvPr id="26" name="TextBox 25"/>
          <p:cNvSpPr txBox="1"/>
          <p:nvPr/>
        </p:nvSpPr>
        <p:spPr>
          <a:xfrm>
            <a:off x="5120640" y="3867912"/>
            <a:ext cx="2468880" cy="1508760"/>
          </a:xfrm>
          <a:prstGeom prst="rect">
            <a:avLst/>
          </a:prstGeom>
          <a:noFill/>
        </p:spPr>
        <p:txBody>
          <a:bodyPr wrap="square">
            <a:normAutofit/>
          </a:bodyPr>
          <a:lstStyle/>
          <a:p>
            <a:pPr algn="l">
              <a:spcAft>
                <a:spcPts val="600"/>
              </a:spcAft>
            </a:pPr>
            <a:r>
              <a:rPr sz="1600" b="1" i="0">
                <a:solidFill>
                  <a:srgbClr val="144E4C"/>
                </a:solidFill>
                <a:latin typeface="Calibri"/>
              </a:rPr>
              <a:t>Smooth</a:t>
            </a:r>
          </a:p>
          <a:p>
            <a:pPr algn="l">
              <a:spcBef>
                <a:spcPts val="0"/>
              </a:spcBef>
              <a:spcAft>
                <a:spcPts val="300"/>
              </a:spcAft>
            </a:pPr>
            <a:r>
              <a:rPr sz="1350" b="0" i="0">
                <a:solidFill>
                  <a:srgbClr val="5B6570"/>
                </a:solidFill>
                <a:latin typeface="Calibri"/>
              </a:rPr>
              <a:t>Rolling-Average Ds Over The Last 10 Frames To Filter False Positives.</a:t>
            </a:r>
          </a:p>
        </p:txBody>
      </p:sp>
      <p:sp>
        <p:nvSpPr>
          <p:cNvPr id="27" name="Rounded Rectangle 26"/>
          <p:cNvSpPr/>
          <p:nvPr/>
        </p:nvSpPr>
        <p:spPr>
          <a:xfrm>
            <a:off x="7955279" y="3611880"/>
            <a:ext cx="3520440" cy="1920240"/>
          </a:xfrm>
          <a:prstGeom prst="roundRect">
            <a:avLst>
              <a:gd name="adj" fmla="val 6000"/>
            </a:avLst>
          </a:prstGeom>
          <a:solidFill>
            <a:srgbClr val="FFFFFF"/>
          </a:solidFill>
          <a:ln w="15875">
            <a:solidFill>
              <a:srgbClr val="D8D2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955279" y="3611880"/>
            <a:ext cx="3520440" cy="82296"/>
          </a:xfrm>
          <a:prstGeom prst="round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211311" y="3904488"/>
            <a:ext cx="475488" cy="475488"/>
          </a:xfrm>
          <a:prstGeom prst="ellipse">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44E4C"/>
                </a:solidFill>
                <a:latin typeface="Calibri"/>
              </a:rPr>
              <a:t>6</a:t>
            </a:r>
          </a:p>
        </p:txBody>
      </p:sp>
      <p:sp>
        <p:nvSpPr>
          <p:cNvPr id="30" name="TextBox 29"/>
          <p:cNvSpPr txBox="1"/>
          <p:nvPr/>
        </p:nvSpPr>
        <p:spPr>
          <a:xfrm>
            <a:off x="8823959" y="3867912"/>
            <a:ext cx="2468880" cy="1508760"/>
          </a:xfrm>
          <a:prstGeom prst="rect">
            <a:avLst/>
          </a:prstGeom>
          <a:noFill/>
        </p:spPr>
        <p:txBody>
          <a:bodyPr wrap="square">
            <a:normAutofit/>
          </a:bodyPr>
          <a:lstStyle/>
          <a:p>
            <a:pPr algn="l">
              <a:spcAft>
                <a:spcPts val="600"/>
              </a:spcAft>
            </a:pPr>
            <a:r>
              <a:rPr sz="1600" b="1" i="0">
                <a:solidFill>
                  <a:srgbClr val="144E4C"/>
                </a:solidFill>
                <a:latin typeface="Calibri"/>
              </a:rPr>
              <a:t>Deploy</a:t>
            </a:r>
          </a:p>
          <a:p>
            <a:pPr algn="l">
              <a:spcBef>
                <a:spcPts val="0"/>
              </a:spcBef>
              <a:spcAft>
                <a:spcPts val="300"/>
              </a:spcAft>
            </a:pPr>
            <a:r>
              <a:rPr sz="1350" b="0" i="0">
                <a:solidFill>
                  <a:srgbClr val="5B6570"/>
                </a:solidFill>
                <a:latin typeface="Calibri"/>
              </a:rPr>
              <a:t>Python, Ultralytics YOLO, OpenCV, Scikit-Learn On Jetson-Class Edge With TensorRT.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7EF"/>
        </a:solidFill>
        <a:effectLst/>
      </p:bgPr>
    </p:bg>
    <p:spTree>
      <p:nvGrpSpPr>
        <p:cNvPr id="1" name=""/>
        <p:cNvGrpSpPr/>
        <p:nvPr/>
      </p:nvGrpSpPr>
      <p:grpSpPr/>
      <p:sp>
        <p:nvSpPr>
          <p:cNvPr id="2" name="TextBox 1"/>
          <p:cNvSpPr txBox="1"/>
          <p:nvPr/>
        </p:nvSpPr>
        <p:spPr>
          <a:xfrm>
            <a:off x="548640" y="6419088"/>
            <a:ext cx="9144000" cy="274320"/>
          </a:xfrm>
          <a:prstGeom prst="rect">
            <a:avLst/>
          </a:prstGeom>
          <a:noFill/>
        </p:spPr>
        <p:txBody>
          <a:bodyPr wrap="square">
            <a:spAutoFit/>
          </a:bodyPr>
          <a:lstStyle/>
          <a:p>
            <a:pPr algn="l"/>
            <a:r>
              <a:rPr sz="900" b="0" i="0">
                <a:solidFill>
                  <a:srgbClr val="8A8F98"/>
                </a:solidFill>
                <a:latin typeface="Calibri"/>
              </a:rPr>
              <a:t>Defect-to-Delivery  |  FYDP-I  •  Group: 262-034</a:t>
            </a:r>
          </a:p>
        </p:txBody>
      </p:sp>
      <p:sp>
        <p:nvSpPr>
          <p:cNvPr id="3" name="TextBox 2"/>
          <p:cNvSpPr txBox="1"/>
          <p:nvPr/>
        </p:nvSpPr>
        <p:spPr>
          <a:xfrm>
            <a:off x="10972800" y="6419088"/>
            <a:ext cx="640080" cy="274320"/>
          </a:xfrm>
          <a:prstGeom prst="rect">
            <a:avLst/>
          </a:prstGeom>
          <a:noFill/>
        </p:spPr>
        <p:txBody>
          <a:bodyPr wrap="none">
            <a:spAutoFit/>
          </a:bodyPr>
          <a:lstStyle/>
          <a:p>
            <a:pPr algn="r"/>
            <a:r>
              <a:rPr sz="900">
                <a:solidFill>
                  <a:srgbClr val="8A8F98"/>
                </a:solidFill>
                <a:latin typeface="Calibri"/>
              </a:rPr>
              <a:t>8 / 35</a:t>
            </a:r>
          </a:p>
        </p:txBody>
      </p:sp>
      <p:sp>
        <p:nvSpPr>
          <p:cNvPr id="4" name="Rectangle 3"/>
          <p:cNvSpPr/>
          <p:nvPr/>
        </p:nvSpPr>
        <p:spPr>
          <a:xfrm>
            <a:off x="0" y="0"/>
            <a:ext cx="12188952" cy="64008"/>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20040"/>
            <a:ext cx="11064240" cy="822960"/>
          </a:xfrm>
          <a:prstGeom prst="rect">
            <a:avLst/>
          </a:prstGeom>
          <a:noFill/>
        </p:spPr>
        <p:txBody>
          <a:bodyPr wrap="square">
            <a:spAutoFit/>
          </a:bodyPr>
          <a:lstStyle/>
          <a:p>
            <a:pPr algn="l"/>
            <a:r>
              <a:rPr sz="3400" b="1" i="0">
                <a:solidFill>
                  <a:srgbClr val="144E4C"/>
                </a:solidFill>
                <a:latin typeface="Georgia"/>
              </a:rPr>
              <a:t>Related Work — Fabric Defect Datasets</a:t>
            </a:r>
          </a:p>
        </p:txBody>
      </p:sp>
      <p:sp>
        <p:nvSpPr>
          <p:cNvPr id="6" name="Rectangle 5"/>
          <p:cNvSpPr/>
          <p:nvPr/>
        </p:nvSpPr>
        <p:spPr>
          <a:xfrm>
            <a:off x="566928" y="1078992"/>
            <a:ext cx="1005840" cy="50292"/>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463040"/>
          <a:ext cx="11064240" cy="4608576"/>
        </p:xfrm>
        <a:graphic>
          <a:graphicData uri="http://schemas.openxmlformats.org/drawingml/2006/table">
            <a:tbl>
              <a:tblPr firstRow="1" bandRow="1">
                <a:tableStyleId>{5C22544A-7EE6-4342-B048-85BDC9FD1C3A}</a:tableStyleId>
              </a:tblPr>
              <a:tblGrid>
                <a:gridCol w="3108960"/>
                <a:gridCol w="5120640"/>
                <a:gridCol w="2834640"/>
              </a:tblGrid>
              <a:tr h="658368">
                <a:tc>
                  <a:txBody>
                    <a:bodyPr/>
                    <a:lstStyle/>
                    <a:p>
                      <a:pPr algn="ctr"/>
                      <a:r>
                        <a:rPr sz="1350" b="1" i="0">
                          <a:solidFill>
                            <a:srgbClr val="FFFFFF"/>
                          </a:solidFill>
                          <a:latin typeface="Calibri"/>
                        </a:rPr>
                        <a:t>Source</a:t>
                      </a:r>
                    </a:p>
                  </a:txBody>
                  <a:tcPr anchor="ctr" marL="73152" marR="73152">
                    <a:solidFill>
                      <a:srgbClr val="144E4C"/>
                    </a:solidFill>
                  </a:tcPr>
                </a:tc>
                <a:tc>
                  <a:txBody>
                    <a:bodyPr/>
                    <a:lstStyle/>
                    <a:p>
                      <a:pPr algn="ctr"/>
                      <a:r>
                        <a:rPr sz="1350" b="1" i="0">
                          <a:solidFill>
                            <a:srgbClr val="FFFFFF"/>
                          </a:solidFill>
                          <a:latin typeface="Calibri"/>
                        </a:rPr>
                        <a:t>Scale / Description</a:t>
                      </a:r>
                    </a:p>
                  </a:txBody>
                  <a:tcPr anchor="ctr" marL="73152" marR="73152">
                    <a:solidFill>
                      <a:srgbClr val="144E4C"/>
                    </a:solidFill>
                  </a:tcPr>
                </a:tc>
                <a:tc>
                  <a:txBody>
                    <a:bodyPr/>
                    <a:lstStyle/>
                    <a:p>
                      <a:pPr algn="ctr"/>
                      <a:r>
                        <a:rPr sz="1350" b="1" i="0">
                          <a:solidFill>
                            <a:srgbClr val="FFFFFF"/>
                          </a:solidFill>
                          <a:latin typeface="Calibri"/>
                        </a:rPr>
                        <a:t>Notes</a:t>
                      </a:r>
                    </a:p>
                  </a:txBody>
                  <a:tcPr anchor="ctr" marL="73152" marR="73152">
                    <a:solidFill>
                      <a:srgbClr val="144E4C"/>
                    </a:solidFill>
                  </a:tcPr>
                </a:tc>
              </a:tr>
              <a:tr h="658368">
                <a:tc>
                  <a:txBody>
                    <a:bodyPr/>
                    <a:lstStyle/>
                    <a:p>
                      <a:pPr algn="ctr"/>
                      <a:r>
                        <a:rPr sz="1250" b="0" i="0">
                          <a:solidFill>
                            <a:srgbClr val="1F2937"/>
                          </a:solidFill>
                          <a:latin typeface="Calibri"/>
                        </a:rPr>
                        <a:t>Isl-Knit (Heliyon 2024, BUTEX)</a:t>
                      </a:r>
                    </a:p>
                  </a:txBody>
                  <a:tcPr anchor="ctr" marL="73152" marR="73152">
                    <a:solidFill>
                      <a:srgbClr val="FFFFFF"/>
                    </a:solidFill>
                  </a:tcPr>
                </a:tc>
                <a:tc>
                  <a:txBody>
                    <a:bodyPr/>
                    <a:lstStyle/>
                    <a:p>
                      <a:pPr algn="ctr"/>
                      <a:r>
                        <a:rPr sz="1250" b="0" i="0">
                          <a:solidFill>
                            <a:srgbClr val="1F2937"/>
                          </a:solidFill>
                          <a:latin typeface="Calibri"/>
                        </a:rPr>
                        <a:t>3,375 Knit-Fault Images, 7 Classes, Bangladeshi Dyeing Factories</a:t>
                      </a:r>
                    </a:p>
                  </a:txBody>
                  <a:tcPr anchor="ctr" marL="73152" marR="73152">
                    <a:solidFill>
                      <a:srgbClr val="FFFFFF"/>
                    </a:solidFill>
                  </a:tcPr>
                </a:tc>
                <a:tc>
                  <a:txBody>
                    <a:bodyPr/>
                    <a:lstStyle/>
                    <a:p>
                      <a:pPr algn="ctr"/>
                      <a:r>
                        <a:rPr sz="1250" b="0" i="0">
                          <a:solidFill>
                            <a:srgbClr val="1F2937"/>
                          </a:solidFill>
                          <a:latin typeface="Calibri"/>
                        </a:rPr>
                        <a:t>YOLOv5 + 4-Point Raspberry-Pi Prototype</a:t>
                      </a:r>
                    </a:p>
                  </a:txBody>
                  <a:tcPr anchor="ctr" marL="73152" marR="73152">
                    <a:solidFill>
                      <a:srgbClr val="FFFFFF"/>
                    </a:solidFill>
                  </a:tcPr>
                </a:tc>
              </a:tr>
              <a:tr h="658368">
                <a:tc>
                  <a:txBody>
                    <a:bodyPr/>
                    <a:lstStyle/>
                    <a:p>
                      <a:pPr algn="ctr"/>
                      <a:r>
                        <a:rPr sz="1250" b="0" i="0">
                          <a:solidFill>
                            <a:srgbClr val="1F2937"/>
                          </a:solidFill>
                          <a:latin typeface="Calibri"/>
                        </a:rPr>
                        <a:t>FabricSpotDefect (IUB 2024)</a:t>
                      </a:r>
                    </a:p>
                  </a:txBody>
                  <a:tcPr anchor="ctr" marL="73152" marR="73152">
                    <a:solidFill>
                      <a:srgbClr val="EFEAD9"/>
                    </a:solidFill>
                  </a:tcPr>
                </a:tc>
                <a:tc>
                  <a:txBody>
                    <a:bodyPr/>
                    <a:lstStyle/>
                    <a:p>
                      <a:pPr algn="ctr"/>
                      <a:r>
                        <a:rPr sz="1250" b="0" i="0">
                          <a:solidFill>
                            <a:srgbClr val="1F2937"/>
                          </a:solidFill>
                          <a:latin typeface="Calibri"/>
                        </a:rPr>
                        <a:t>1,014 Images, 3,288 Spot Annotations</a:t>
                      </a:r>
                    </a:p>
                  </a:txBody>
                  <a:tcPr anchor="ctr" marL="73152" marR="73152">
                    <a:solidFill>
                      <a:srgbClr val="EFEAD9"/>
                    </a:solidFill>
                  </a:tcPr>
                </a:tc>
                <a:tc>
                  <a:txBody>
                    <a:bodyPr/>
                    <a:lstStyle/>
                    <a:p>
                      <a:pPr algn="ctr"/>
                      <a:r>
                        <a:rPr sz="1250" b="0" i="0">
                          <a:solidFill>
                            <a:srgbClr val="1F2937"/>
                          </a:solidFill>
                          <a:latin typeface="Calibri"/>
                        </a:rPr>
                        <a:t>COCO + YOLOv8</a:t>
                      </a:r>
                    </a:p>
                  </a:txBody>
                  <a:tcPr anchor="ctr" marL="73152" marR="73152">
                    <a:solidFill>
                      <a:srgbClr val="EFEAD9"/>
                    </a:solidFill>
                  </a:tcPr>
                </a:tc>
              </a:tr>
              <a:tr h="658368">
                <a:tc>
                  <a:txBody>
                    <a:bodyPr/>
                    <a:lstStyle/>
                    <a:p>
                      <a:pPr algn="ctr"/>
                      <a:r>
                        <a:rPr sz="1250" b="0" i="0">
                          <a:solidFill>
                            <a:srgbClr val="1F2937"/>
                          </a:solidFill>
                          <a:latin typeface="Calibri"/>
                        </a:rPr>
                        <a:t>ZJU-Leaper</a:t>
                      </a:r>
                    </a:p>
                  </a:txBody>
                  <a:tcPr anchor="ctr" marL="73152" marR="73152">
                    <a:solidFill>
                      <a:srgbClr val="FFFFFF"/>
                    </a:solidFill>
                  </a:tcPr>
                </a:tc>
                <a:tc>
                  <a:txBody>
                    <a:bodyPr/>
                    <a:lstStyle/>
                    <a:p>
                      <a:pPr algn="ctr"/>
                      <a:r>
                        <a:rPr sz="1250" b="0" i="0">
                          <a:solidFill>
                            <a:srgbClr val="1F2937"/>
                          </a:solidFill>
                          <a:latin typeface="Calibri"/>
                        </a:rPr>
                        <a:t>98,777 Woven-Fabric Images</a:t>
                      </a:r>
                    </a:p>
                  </a:txBody>
                  <a:tcPr anchor="ctr" marL="73152" marR="73152">
                    <a:solidFill>
                      <a:srgbClr val="FFFFFF"/>
                    </a:solidFill>
                  </a:tcPr>
                </a:tc>
                <a:tc>
                  <a:txBody>
                    <a:bodyPr/>
                    <a:lstStyle/>
                    <a:p>
                      <a:pPr algn="ctr"/>
                      <a:r>
                        <a:rPr sz="1250" b="0" i="0">
                          <a:solidFill>
                            <a:srgbClr val="1F2937"/>
                          </a:solidFill>
                          <a:latin typeface="Calibri"/>
                        </a:rPr>
                        <a:t>Large-Scale Supervised Benchmark</a:t>
                      </a:r>
                    </a:p>
                  </a:txBody>
                  <a:tcPr anchor="ctr" marL="73152" marR="73152">
                    <a:solidFill>
                      <a:srgbClr val="FFFFFF"/>
                    </a:solidFill>
                  </a:tcPr>
                </a:tc>
              </a:tr>
              <a:tr h="658368">
                <a:tc>
                  <a:txBody>
                    <a:bodyPr/>
                    <a:lstStyle/>
                    <a:p>
                      <a:pPr algn="ctr"/>
                      <a:r>
                        <a:rPr sz="1250" b="0" i="0">
                          <a:solidFill>
                            <a:srgbClr val="1F2937"/>
                          </a:solidFill>
                          <a:latin typeface="Calibri"/>
                        </a:rPr>
                        <a:t>Tianchi</a:t>
                      </a:r>
                    </a:p>
                  </a:txBody>
                  <a:tcPr anchor="ctr" marL="73152" marR="73152">
                    <a:solidFill>
                      <a:srgbClr val="EFEAD9"/>
                    </a:solidFill>
                  </a:tcPr>
                </a:tc>
                <a:tc>
                  <a:txBody>
                    <a:bodyPr/>
                    <a:lstStyle/>
                    <a:p>
                      <a:pPr algn="ctr"/>
                      <a:r>
                        <a:rPr sz="1250" b="0" i="0">
                          <a:solidFill>
                            <a:srgbClr val="1F2937"/>
                          </a:solidFill>
                          <a:latin typeface="Calibri"/>
                        </a:rPr>
                        <a:t>20 Defect Types</a:t>
                      </a:r>
                    </a:p>
                  </a:txBody>
                  <a:tcPr anchor="ctr" marL="73152" marR="73152">
                    <a:solidFill>
                      <a:srgbClr val="EFEAD9"/>
                    </a:solidFill>
                  </a:tcPr>
                </a:tc>
                <a:tc>
                  <a:txBody>
                    <a:bodyPr/>
                    <a:lstStyle/>
                    <a:p>
                      <a:pPr algn="ctr"/>
                      <a:r>
                        <a:rPr sz="1250" b="0" i="0">
                          <a:solidFill>
                            <a:srgbClr val="1F2937"/>
                          </a:solidFill>
                          <a:latin typeface="Calibri"/>
                        </a:rPr>
                        <a:t>Industry Benchmark</a:t>
                      </a:r>
                    </a:p>
                  </a:txBody>
                  <a:tcPr anchor="ctr" marL="73152" marR="73152">
                    <a:solidFill>
                      <a:srgbClr val="EFEAD9"/>
                    </a:solidFill>
                  </a:tcPr>
                </a:tc>
              </a:tr>
              <a:tr h="658368">
                <a:tc>
                  <a:txBody>
                    <a:bodyPr/>
                    <a:lstStyle/>
                    <a:p>
                      <a:pPr algn="ctr"/>
                      <a:r>
                        <a:rPr sz="1250" b="0" i="0">
                          <a:solidFill>
                            <a:srgbClr val="1F2937"/>
                          </a:solidFill>
                          <a:latin typeface="Calibri"/>
                        </a:rPr>
                        <a:t>MVTec AD / VisA</a:t>
                      </a:r>
                    </a:p>
                  </a:txBody>
                  <a:tcPr anchor="ctr" marL="73152" marR="73152">
                    <a:solidFill>
                      <a:srgbClr val="FFFFFF"/>
                    </a:solidFill>
                  </a:tcPr>
                </a:tc>
                <a:tc>
                  <a:txBody>
                    <a:bodyPr/>
                    <a:lstStyle/>
                    <a:p>
                      <a:pPr algn="ctr"/>
                      <a:r>
                        <a:rPr sz="1250" b="0" i="0">
                          <a:solidFill>
                            <a:srgbClr val="1F2937"/>
                          </a:solidFill>
                          <a:latin typeface="Calibri"/>
                        </a:rPr>
                        <a:t>Anomaly-Detection Standard Sets</a:t>
                      </a:r>
                    </a:p>
                  </a:txBody>
                  <a:tcPr anchor="ctr" marL="73152" marR="73152">
                    <a:solidFill>
                      <a:srgbClr val="FFFFFF"/>
                    </a:solidFill>
                  </a:tcPr>
                </a:tc>
                <a:tc>
                  <a:txBody>
                    <a:bodyPr/>
                    <a:lstStyle/>
                    <a:p>
                      <a:pPr algn="ctr"/>
                      <a:r>
                        <a:rPr sz="1250" b="0" i="0">
                          <a:solidFill>
                            <a:srgbClr val="1F2937"/>
                          </a:solidFill>
                          <a:latin typeface="Calibri"/>
                        </a:rPr>
                        <a:t>Used For Our Few-Shot Branch</a:t>
                      </a:r>
                    </a:p>
                  </a:txBody>
                  <a:tcPr anchor="ctr" marL="73152" marR="73152">
                    <a:solidFill>
                      <a:srgbClr val="FFFFFF"/>
                    </a:solidFill>
                  </a:tcPr>
                </a:tc>
              </a:tr>
              <a:tr h="658368">
                <a:tc>
                  <a:txBody>
                    <a:bodyPr/>
                    <a:lstStyle/>
                    <a:p>
                      <a:pPr algn="ctr"/>
                      <a:r>
                        <a:rPr sz="1250" b="0" i="0">
                          <a:solidFill>
                            <a:srgbClr val="1F2937"/>
                          </a:solidFill>
                          <a:latin typeface="Calibri"/>
                        </a:rPr>
                        <a:t>Our Pilot Corpus</a:t>
                      </a:r>
                    </a:p>
                  </a:txBody>
                  <a:tcPr anchor="ctr" marL="73152" marR="73152">
                    <a:solidFill>
                      <a:srgbClr val="EFEAD9"/>
                    </a:solidFill>
                  </a:tcPr>
                </a:tc>
                <a:tc>
                  <a:txBody>
                    <a:bodyPr/>
                    <a:lstStyle/>
                    <a:p>
                      <a:pPr algn="ctr"/>
                      <a:r>
                        <a:rPr sz="1250" b="0" i="0">
                          <a:solidFill>
                            <a:srgbClr val="1F2937"/>
                          </a:solidFill>
                          <a:latin typeface="Calibri"/>
                        </a:rPr>
                        <a:t>2,578 Images, 6 Classes, Per-File Hashes</a:t>
                      </a:r>
                    </a:p>
                  </a:txBody>
                  <a:tcPr anchor="ctr" marL="73152" marR="73152">
                    <a:solidFill>
                      <a:srgbClr val="EFEAD9"/>
                    </a:solidFill>
                  </a:tcPr>
                </a:tc>
                <a:tc>
                  <a:txBody>
                    <a:bodyPr/>
                    <a:lstStyle/>
                    <a:p>
                      <a:pPr algn="ctr"/>
                      <a:r>
                        <a:rPr sz="1250" b="0" i="0">
                          <a:solidFill>
                            <a:srgbClr val="1F2937"/>
                          </a:solidFill>
                          <a:latin typeface="Calibri"/>
                        </a:rPr>
                        <a:t>Audited, Group-Aware Split</a:t>
                      </a:r>
                    </a:p>
                  </a:txBody>
                  <a:tcPr anchor="ctr" marL="73152" marR="73152">
                    <a:solidFill>
                      <a:srgbClr val="EFEAD9"/>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7EF"/>
        </a:solidFill>
        <a:effectLst/>
      </p:bgPr>
    </p:bg>
    <p:spTree>
      <p:nvGrpSpPr>
        <p:cNvPr id="1" name=""/>
        <p:cNvGrpSpPr/>
        <p:nvPr/>
      </p:nvGrpSpPr>
      <p:grpSpPr/>
      <p:sp>
        <p:nvSpPr>
          <p:cNvPr id="2" name="TextBox 1"/>
          <p:cNvSpPr txBox="1"/>
          <p:nvPr/>
        </p:nvSpPr>
        <p:spPr>
          <a:xfrm>
            <a:off x="548640" y="6419088"/>
            <a:ext cx="9144000" cy="274320"/>
          </a:xfrm>
          <a:prstGeom prst="rect">
            <a:avLst/>
          </a:prstGeom>
          <a:noFill/>
        </p:spPr>
        <p:txBody>
          <a:bodyPr wrap="square">
            <a:spAutoFit/>
          </a:bodyPr>
          <a:lstStyle/>
          <a:p>
            <a:pPr algn="l"/>
            <a:r>
              <a:rPr sz="900" b="0" i="0">
                <a:solidFill>
                  <a:srgbClr val="8A8F98"/>
                </a:solidFill>
                <a:latin typeface="Calibri"/>
              </a:rPr>
              <a:t>Defect-to-Delivery  |  FYDP-I  •  Group: 262-034</a:t>
            </a:r>
          </a:p>
        </p:txBody>
      </p:sp>
      <p:sp>
        <p:nvSpPr>
          <p:cNvPr id="3" name="TextBox 2"/>
          <p:cNvSpPr txBox="1"/>
          <p:nvPr/>
        </p:nvSpPr>
        <p:spPr>
          <a:xfrm>
            <a:off x="10972800" y="6419088"/>
            <a:ext cx="640080" cy="274320"/>
          </a:xfrm>
          <a:prstGeom prst="rect">
            <a:avLst/>
          </a:prstGeom>
          <a:noFill/>
        </p:spPr>
        <p:txBody>
          <a:bodyPr wrap="none">
            <a:spAutoFit/>
          </a:bodyPr>
          <a:lstStyle/>
          <a:p>
            <a:pPr algn="r"/>
            <a:r>
              <a:rPr sz="900">
                <a:solidFill>
                  <a:srgbClr val="8A8F98"/>
                </a:solidFill>
                <a:latin typeface="Calibri"/>
              </a:rPr>
              <a:t>9 / 35</a:t>
            </a:r>
          </a:p>
        </p:txBody>
      </p:sp>
      <p:sp>
        <p:nvSpPr>
          <p:cNvPr id="4" name="Rectangle 3"/>
          <p:cNvSpPr/>
          <p:nvPr/>
        </p:nvSpPr>
        <p:spPr>
          <a:xfrm>
            <a:off x="0" y="0"/>
            <a:ext cx="12188952" cy="64008"/>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20040"/>
            <a:ext cx="11064240" cy="822960"/>
          </a:xfrm>
          <a:prstGeom prst="rect">
            <a:avLst/>
          </a:prstGeom>
          <a:noFill/>
        </p:spPr>
        <p:txBody>
          <a:bodyPr wrap="square">
            <a:spAutoFit/>
          </a:bodyPr>
          <a:lstStyle/>
          <a:p>
            <a:pPr algn="l"/>
            <a:r>
              <a:rPr sz="3400" b="1" i="0">
                <a:solidFill>
                  <a:srgbClr val="144E4C"/>
                </a:solidFill>
                <a:latin typeface="Georgia"/>
              </a:rPr>
              <a:t>Related Work — Detection, Anomaly &amp; Planning</a:t>
            </a:r>
          </a:p>
        </p:txBody>
      </p:sp>
      <p:sp>
        <p:nvSpPr>
          <p:cNvPr id="6" name="Rectangle 5"/>
          <p:cNvSpPr/>
          <p:nvPr/>
        </p:nvSpPr>
        <p:spPr>
          <a:xfrm>
            <a:off x="566928" y="1078992"/>
            <a:ext cx="1005840" cy="50292"/>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1463040"/>
            <a:ext cx="1737360" cy="685800"/>
          </a:xfrm>
          <a:prstGeom prst="round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i="0">
                <a:solidFill>
                  <a:srgbClr val="144E4C"/>
                </a:solidFill>
                <a:latin typeface="Calibri"/>
              </a:rPr>
              <a:t>Detection</a:t>
            </a:r>
          </a:p>
        </p:txBody>
      </p:sp>
      <p:sp>
        <p:nvSpPr>
          <p:cNvPr id="8" name="TextBox 7"/>
          <p:cNvSpPr txBox="1"/>
          <p:nvPr/>
        </p:nvSpPr>
        <p:spPr>
          <a:xfrm>
            <a:off x="2560320" y="1353312"/>
            <a:ext cx="9052560" cy="1005840"/>
          </a:xfrm>
          <a:prstGeom prst="rect">
            <a:avLst/>
          </a:prstGeom>
          <a:noFill/>
        </p:spPr>
        <p:txBody>
          <a:bodyPr wrap="square">
            <a:spAutoFit/>
          </a:bodyPr>
          <a:lstStyle/>
          <a:p>
            <a:pPr algn="l">
              <a:spcBef>
                <a:spcPts val="0"/>
              </a:spcBef>
              <a:spcAft>
                <a:spcPts val="800"/>
              </a:spcAft>
            </a:pPr>
            <a:r>
              <a:rPr sz="1450" b="0" i="0">
                <a:solidFill>
                  <a:srgbClr val="1F2937"/>
                </a:solidFill>
                <a:latin typeface="Calibri"/>
              </a:rPr>
              <a:t>YOLOv1–v11 Fabric Review (2025) Finds YOLOv11 Strongest On Small / Occluded Defects; Fab-ASLKS (+5% mAP50 On Tianchi); Fab-ME (+3.3%, 59.4% Over 20 Classes); FabricMamba For Edge.</a:t>
            </a:r>
          </a:p>
        </p:txBody>
      </p:sp>
      <p:sp>
        <p:nvSpPr>
          <p:cNvPr id="9" name="Rounded Rectangle 8"/>
          <p:cNvSpPr/>
          <p:nvPr/>
        </p:nvSpPr>
        <p:spPr>
          <a:xfrm>
            <a:off x="548640" y="2633472"/>
            <a:ext cx="1737360" cy="685800"/>
          </a:xfrm>
          <a:prstGeom prst="round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i="0">
                <a:solidFill>
                  <a:srgbClr val="144E4C"/>
                </a:solidFill>
                <a:latin typeface="Calibri"/>
              </a:rPr>
              <a:t>Anomaly</a:t>
            </a:r>
          </a:p>
        </p:txBody>
      </p:sp>
      <p:sp>
        <p:nvSpPr>
          <p:cNvPr id="10" name="TextBox 9"/>
          <p:cNvSpPr txBox="1"/>
          <p:nvPr/>
        </p:nvSpPr>
        <p:spPr>
          <a:xfrm>
            <a:off x="2560320" y="2523744"/>
            <a:ext cx="9052560" cy="1005840"/>
          </a:xfrm>
          <a:prstGeom prst="rect">
            <a:avLst/>
          </a:prstGeom>
          <a:noFill/>
        </p:spPr>
        <p:txBody>
          <a:bodyPr wrap="square">
            <a:spAutoFit/>
          </a:bodyPr>
          <a:lstStyle/>
          <a:p>
            <a:pPr algn="l">
              <a:spcBef>
                <a:spcPts val="0"/>
              </a:spcBef>
              <a:spcAft>
                <a:spcPts val="800"/>
              </a:spcAft>
            </a:pPr>
            <a:r>
              <a:rPr sz="1450" b="0" i="0">
                <a:solidFill>
                  <a:srgbClr val="1F2937"/>
                </a:solidFill>
                <a:latin typeface="Calibri"/>
              </a:rPr>
              <a:t>PatchCore (Patch Memory Bank, Strong MVTec Performance), Reverse Distillation (Fast Inference), AnomalyDINO / PatchEAD Detect Defects With A Handful Of Good Samples And No Defect Labels.</a:t>
            </a:r>
          </a:p>
        </p:txBody>
      </p:sp>
      <p:sp>
        <p:nvSpPr>
          <p:cNvPr id="11" name="Rounded Rectangle 10"/>
          <p:cNvSpPr/>
          <p:nvPr/>
        </p:nvSpPr>
        <p:spPr>
          <a:xfrm>
            <a:off x="548640" y="3803904"/>
            <a:ext cx="1737360" cy="685800"/>
          </a:xfrm>
          <a:prstGeom prst="round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i="0">
                <a:solidFill>
                  <a:srgbClr val="144E4C"/>
                </a:solidFill>
                <a:latin typeface="Calibri"/>
              </a:rPr>
              <a:t>Edge</a:t>
            </a:r>
          </a:p>
        </p:txBody>
      </p:sp>
      <p:sp>
        <p:nvSpPr>
          <p:cNvPr id="12" name="TextBox 11"/>
          <p:cNvSpPr txBox="1"/>
          <p:nvPr/>
        </p:nvSpPr>
        <p:spPr>
          <a:xfrm>
            <a:off x="2560320" y="3694176"/>
            <a:ext cx="9052560" cy="1005840"/>
          </a:xfrm>
          <a:prstGeom prst="rect">
            <a:avLst/>
          </a:prstGeom>
          <a:noFill/>
        </p:spPr>
        <p:txBody>
          <a:bodyPr wrap="square">
            <a:spAutoFit/>
          </a:bodyPr>
          <a:lstStyle/>
          <a:p>
            <a:pPr algn="l">
              <a:spcBef>
                <a:spcPts val="0"/>
              </a:spcBef>
              <a:spcAft>
                <a:spcPts val="800"/>
              </a:spcAft>
            </a:pPr>
            <a:r>
              <a:rPr sz="1450" b="0" i="0">
                <a:solidFill>
                  <a:srgbClr val="1F2937"/>
                </a:solidFill>
                <a:latin typeface="Calibri"/>
              </a:rPr>
              <a:t>EfficientDet + Jetson TX2 At 22.7 FPS (2.5× Cloud); YOLOv11 On Orin Nano; YOLOv11 +70% Avg. On NEU-DET Vs Prior Models.</a:t>
            </a:r>
          </a:p>
        </p:txBody>
      </p:sp>
      <p:sp>
        <p:nvSpPr>
          <p:cNvPr id="13" name="Rounded Rectangle 12"/>
          <p:cNvSpPr/>
          <p:nvPr/>
        </p:nvSpPr>
        <p:spPr>
          <a:xfrm>
            <a:off x="548640" y="4974336"/>
            <a:ext cx="1737360" cy="685800"/>
          </a:xfrm>
          <a:prstGeom prst="round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i="0">
                <a:solidFill>
                  <a:srgbClr val="144E4C"/>
                </a:solidFill>
                <a:latin typeface="Calibri"/>
              </a:rPr>
              <a:t>Planning</a:t>
            </a:r>
          </a:p>
        </p:txBody>
      </p:sp>
      <p:sp>
        <p:nvSpPr>
          <p:cNvPr id="14" name="TextBox 13"/>
          <p:cNvSpPr txBox="1"/>
          <p:nvPr/>
        </p:nvSpPr>
        <p:spPr>
          <a:xfrm>
            <a:off x="2560320" y="4864607"/>
            <a:ext cx="9052560" cy="1005840"/>
          </a:xfrm>
          <a:prstGeom prst="rect">
            <a:avLst/>
          </a:prstGeom>
          <a:noFill/>
        </p:spPr>
        <p:txBody>
          <a:bodyPr wrap="square">
            <a:spAutoFit/>
          </a:bodyPr>
          <a:lstStyle/>
          <a:p>
            <a:pPr algn="l">
              <a:spcBef>
                <a:spcPts val="0"/>
              </a:spcBef>
              <a:spcAft>
                <a:spcPts val="800"/>
              </a:spcAft>
            </a:pPr>
            <a:r>
              <a:rPr sz="1450" b="0" i="0">
                <a:solidFill>
                  <a:srgbClr val="1F2937"/>
                </a:solidFill>
                <a:latin typeface="Calibri"/>
              </a:rPr>
              <a:t>No Published Vision–Ds Lead-Time Fusion Exists — This Is Our Gap. Closest Work: CIIS 2024 Wastage Prediction (Own Dataset, 633 Samples); 2025 BD Digital-QC Trials; 2026 Narayanganj Traffic-Light QC Study (94 Lines).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7EF"/>
        </a:solidFill>
        <a:effectLst/>
      </p:bgPr>
    </p:bg>
    <p:spTree>
      <p:nvGrpSpPr>
        <p:cNvPr id="1" name=""/>
        <p:cNvGrpSpPr/>
        <p:nvPr/>
      </p:nvGrpSpPr>
      <p:grpSpPr/>
      <p:sp>
        <p:nvSpPr>
          <p:cNvPr id="2" name="TextBox 1"/>
          <p:cNvSpPr txBox="1"/>
          <p:nvPr/>
        </p:nvSpPr>
        <p:spPr>
          <a:xfrm>
            <a:off x="548640" y="6419088"/>
            <a:ext cx="9144000" cy="274320"/>
          </a:xfrm>
          <a:prstGeom prst="rect">
            <a:avLst/>
          </a:prstGeom>
          <a:noFill/>
        </p:spPr>
        <p:txBody>
          <a:bodyPr wrap="square">
            <a:spAutoFit/>
          </a:bodyPr>
          <a:lstStyle/>
          <a:p>
            <a:pPr algn="l"/>
            <a:r>
              <a:rPr sz="900" b="0" i="0">
                <a:solidFill>
                  <a:srgbClr val="8A8F98"/>
                </a:solidFill>
                <a:latin typeface="Calibri"/>
              </a:rPr>
              <a:t>Defect-to-Delivery  |  FYDP-I  •  Group: 262-034</a:t>
            </a:r>
          </a:p>
        </p:txBody>
      </p:sp>
      <p:sp>
        <p:nvSpPr>
          <p:cNvPr id="3" name="TextBox 2"/>
          <p:cNvSpPr txBox="1"/>
          <p:nvPr/>
        </p:nvSpPr>
        <p:spPr>
          <a:xfrm>
            <a:off x="10972800" y="6419088"/>
            <a:ext cx="640080" cy="274320"/>
          </a:xfrm>
          <a:prstGeom prst="rect">
            <a:avLst/>
          </a:prstGeom>
          <a:noFill/>
        </p:spPr>
        <p:txBody>
          <a:bodyPr wrap="none">
            <a:spAutoFit/>
          </a:bodyPr>
          <a:lstStyle/>
          <a:p>
            <a:pPr algn="r"/>
            <a:r>
              <a:rPr sz="900">
                <a:solidFill>
                  <a:srgbClr val="8A8F98"/>
                </a:solidFill>
                <a:latin typeface="Calibri"/>
              </a:rPr>
              <a:t>10 / 35</a:t>
            </a:r>
          </a:p>
        </p:txBody>
      </p:sp>
      <p:sp>
        <p:nvSpPr>
          <p:cNvPr id="4" name="Rectangle 3"/>
          <p:cNvSpPr/>
          <p:nvPr/>
        </p:nvSpPr>
        <p:spPr>
          <a:xfrm>
            <a:off x="0" y="0"/>
            <a:ext cx="12188952" cy="64008"/>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20040"/>
            <a:ext cx="11064240" cy="822960"/>
          </a:xfrm>
          <a:prstGeom prst="rect">
            <a:avLst/>
          </a:prstGeom>
          <a:noFill/>
        </p:spPr>
        <p:txBody>
          <a:bodyPr wrap="square">
            <a:spAutoFit/>
          </a:bodyPr>
          <a:lstStyle/>
          <a:p>
            <a:pPr algn="l"/>
            <a:r>
              <a:rPr sz="3400" b="1" i="0">
                <a:solidFill>
                  <a:srgbClr val="144E4C"/>
                </a:solidFill>
                <a:latin typeface="Georgia"/>
              </a:rPr>
              <a:t>Literature Analysis (Table 2.1, Selected)</a:t>
            </a:r>
          </a:p>
        </p:txBody>
      </p:sp>
      <p:sp>
        <p:nvSpPr>
          <p:cNvPr id="6" name="Rectangle 5"/>
          <p:cNvSpPr/>
          <p:nvPr/>
        </p:nvSpPr>
        <p:spPr>
          <a:xfrm>
            <a:off x="566928" y="1078992"/>
            <a:ext cx="1005840" cy="50292"/>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417320"/>
          <a:ext cx="11064240" cy="5394960"/>
        </p:xfrm>
        <a:graphic>
          <a:graphicData uri="http://schemas.openxmlformats.org/drawingml/2006/table">
            <a:tbl>
              <a:tblPr firstRow="1" bandRow="1">
                <a:tableStyleId>{5C22544A-7EE6-4342-B048-85BDC9FD1C3A}</a:tableStyleId>
              </a:tblPr>
              <a:tblGrid>
                <a:gridCol w="822960"/>
                <a:gridCol w="4023360"/>
                <a:gridCol w="2651760"/>
                <a:gridCol w="2286000"/>
                <a:gridCol w="1280160"/>
              </a:tblGrid>
              <a:tr h="457200">
                <a:tc>
                  <a:txBody>
                    <a:bodyPr/>
                    <a:lstStyle/>
                    <a:p>
                      <a:pPr algn="ctr"/>
                      <a:r>
                        <a:rPr sz="1300" b="1" i="0">
                          <a:solidFill>
                            <a:srgbClr val="FFFFFF"/>
                          </a:solidFill>
                          <a:latin typeface="Calibri"/>
                        </a:rPr>
                        <a:t>No.</a:t>
                      </a:r>
                    </a:p>
                  </a:txBody>
                  <a:tcPr anchor="ctr" marL="73152" marR="73152">
                    <a:solidFill>
                      <a:srgbClr val="144E4C"/>
                    </a:solidFill>
                  </a:tcPr>
                </a:tc>
                <a:tc>
                  <a:txBody>
                    <a:bodyPr/>
                    <a:lstStyle/>
                    <a:p>
                      <a:pPr algn="ctr"/>
                      <a:r>
                        <a:rPr sz="1300" b="1" i="0">
                          <a:solidFill>
                            <a:srgbClr val="FFFFFF"/>
                          </a:solidFill>
                          <a:latin typeface="Calibri"/>
                        </a:rPr>
                        <a:t>Paper</a:t>
                      </a:r>
                    </a:p>
                  </a:txBody>
                  <a:tcPr anchor="ctr" marL="73152" marR="73152">
                    <a:solidFill>
                      <a:srgbClr val="144E4C"/>
                    </a:solidFill>
                  </a:tcPr>
                </a:tc>
                <a:tc>
                  <a:txBody>
                    <a:bodyPr/>
                    <a:lstStyle/>
                    <a:p>
                      <a:pPr algn="ctr"/>
                      <a:r>
                        <a:rPr sz="1300" b="1" i="0">
                          <a:solidFill>
                            <a:srgbClr val="FFFFFF"/>
                          </a:solidFill>
                          <a:latin typeface="Calibri"/>
                        </a:rPr>
                        <a:t>Method</a:t>
                      </a:r>
                    </a:p>
                  </a:txBody>
                  <a:tcPr anchor="ctr" marL="73152" marR="73152">
                    <a:solidFill>
                      <a:srgbClr val="144E4C"/>
                    </a:solidFill>
                  </a:tcPr>
                </a:tc>
                <a:tc>
                  <a:txBody>
                    <a:bodyPr/>
                    <a:lstStyle/>
                    <a:p>
                      <a:pPr algn="ctr"/>
                      <a:r>
                        <a:rPr sz="1300" b="1" i="0">
                          <a:solidFill>
                            <a:srgbClr val="FFFFFF"/>
                          </a:solidFill>
                          <a:latin typeface="Calibri"/>
                        </a:rPr>
                        <a:t>Dataset</a:t>
                      </a:r>
                    </a:p>
                  </a:txBody>
                  <a:tcPr anchor="ctr" marL="73152" marR="73152">
                    <a:solidFill>
                      <a:srgbClr val="144E4C"/>
                    </a:solidFill>
                  </a:tcPr>
                </a:tc>
                <a:tc>
                  <a:txBody>
                    <a:bodyPr/>
                    <a:lstStyle/>
                    <a:p>
                      <a:pPr algn="ctr"/>
                      <a:r>
                        <a:rPr sz="1300" b="1" i="0">
                          <a:solidFill>
                            <a:srgbClr val="FFFFFF"/>
                          </a:solidFill>
                          <a:latin typeface="Calibri"/>
                        </a:rPr>
                        <a:t>Year</a:t>
                      </a:r>
                    </a:p>
                  </a:txBody>
                  <a:tcPr anchor="ctr" marL="73152" marR="73152">
                    <a:solidFill>
                      <a:srgbClr val="144E4C"/>
                    </a:solidFill>
                  </a:tcPr>
                </a:tc>
              </a:tr>
              <a:tr h="457200">
                <a:tc>
                  <a:txBody>
                    <a:bodyPr/>
                    <a:lstStyle/>
                    <a:p>
                      <a:pPr algn="ctr"/>
                      <a:r>
                        <a:rPr sz="1200" b="0" i="0">
                          <a:solidFill>
                            <a:srgbClr val="1F2937"/>
                          </a:solidFill>
                          <a:latin typeface="Calibri"/>
                        </a:rPr>
                        <a:t>1</a:t>
                      </a:r>
                    </a:p>
                  </a:txBody>
                  <a:tcPr anchor="ctr" marL="73152" marR="73152">
                    <a:solidFill>
                      <a:srgbClr val="FFFFFF"/>
                    </a:solidFill>
                  </a:tcPr>
                </a:tc>
                <a:tc>
                  <a:txBody>
                    <a:bodyPr/>
                    <a:lstStyle/>
                    <a:p>
                      <a:pPr algn="ctr"/>
                      <a:r>
                        <a:rPr sz="1200" b="0" i="0">
                          <a:solidFill>
                            <a:srgbClr val="1F2937"/>
                          </a:solidFill>
                          <a:latin typeface="Calibri"/>
                        </a:rPr>
                        <a:t>Kumar Fabric Survey</a:t>
                      </a:r>
                    </a:p>
                  </a:txBody>
                  <a:tcPr anchor="ctr" marL="73152" marR="73152">
                    <a:solidFill>
                      <a:srgbClr val="FFFFFF"/>
                    </a:solidFill>
                  </a:tcPr>
                </a:tc>
                <a:tc>
                  <a:txBody>
                    <a:bodyPr/>
                    <a:lstStyle/>
                    <a:p>
                      <a:pPr algn="ctr"/>
                      <a:r>
                        <a:rPr sz="1200" b="0" i="0">
                          <a:solidFill>
                            <a:srgbClr val="1F2937"/>
                          </a:solidFill>
                          <a:latin typeface="Calibri"/>
                        </a:rPr>
                        <a:t>Supervised / Classical</a:t>
                      </a:r>
                    </a:p>
                  </a:txBody>
                  <a:tcPr anchor="ctr" marL="73152" marR="73152">
                    <a:solidFill>
                      <a:srgbClr val="FFFFFF"/>
                    </a:solidFill>
                  </a:tcPr>
                </a:tc>
                <a:tc>
                  <a:txBody>
                    <a:bodyPr/>
                    <a:lstStyle/>
                    <a:p>
                      <a:pPr algn="ctr"/>
                      <a:r>
                        <a:rPr sz="1200" b="0" i="0">
                          <a:solidFill>
                            <a:srgbClr val="1F2937"/>
                          </a:solidFill>
                          <a:latin typeface="Calibri"/>
                        </a:rPr>
                        <a:t>Collected</a:t>
                      </a:r>
                    </a:p>
                  </a:txBody>
                  <a:tcPr anchor="ctr" marL="73152" marR="73152">
                    <a:solidFill>
                      <a:srgbClr val="FFFFFF"/>
                    </a:solidFill>
                  </a:tcPr>
                </a:tc>
                <a:tc>
                  <a:txBody>
                    <a:bodyPr/>
                    <a:lstStyle/>
                    <a:p>
                      <a:pPr algn="ctr"/>
                      <a:r>
                        <a:rPr sz="1200" b="0" i="0">
                          <a:solidFill>
                            <a:srgbClr val="1F2937"/>
                          </a:solidFill>
                          <a:latin typeface="Calibri"/>
                        </a:rPr>
                        <a:t>2008</a:t>
                      </a:r>
                    </a:p>
                  </a:txBody>
                  <a:tcPr anchor="ctr" marL="73152" marR="73152">
                    <a:solidFill>
                      <a:srgbClr val="FFFFFF"/>
                    </a:solidFill>
                  </a:tcPr>
                </a:tc>
              </a:tr>
              <a:tr h="457200">
                <a:tc>
                  <a:txBody>
                    <a:bodyPr/>
                    <a:lstStyle/>
                    <a:p>
                      <a:pPr algn="ctr"/>
                      <a:r>
                        <a:rPr sz="1200" b="0" i="0">
                          <a:solidFill>
                            <a:srgbClr val="1F2937"/>
                          </a:solidFill>
                          <a:latin typeface="Calibri"/>
                        </a:rPr>
                        <a:t>2</a:t>
                      </a:r>
                    </a:p>
                  </a:txBody>
                  <a:tcPr anchor="ctr" marL="73152" marR="73152">
                    <a:solidFill>
                      <a:srgbClr val="EFEAD9"/>
                    </a:solidFill>
                  </a:tcPr>
                </a:tc>
                <a:tc>
                  <a:txBody>
                    <a:bodyPr/>
                    <a:lstStyle/>
                    <a:p>
                      <a:pPr algn="ctr"/>
                      <a:r>
                        <a:rPr sz="1200" b="0" i="0">
                          <a:solidFill>
                            <a:srgbClr val="1F2937"/>
                          </a:solidFill>
                          <a:latin typeface="Calibri"/>
                        </a:rPr>
                        <a:t>Isl-Knit + 4-Point (BUTEX)</a:t>
                      </a:r>
                    </a:p>
                  </a:txBody>
                  <a:tcPr anchor="ctr" marL="73152" marR="73152">
                    <a:solidFill>
                      <a:srgbClr val="EFEAD9"/>
                    </a:solidFill>
                  </a:tcPr>
                </a:tc>
                <a:tc>
                  <a:txBody>
                    <a:bodyPr/>
                    <a:lstStyle/>
                    <a:p>
                      <a:pPr algn="ctr"/>
                      <a:r>
                        <a:rPr sz="1200" b="0" i="0">
                          <a:solidFill>
                            <a:srgbClr val="1F2937"/>
                          </a:solidFill>
                          <a:latin typeface="Calibri"/>
                        </a:rPr>
                        <a:t>Supervised (YOLOv5)</a:t>
                      </a:r>
                    </a:p>
                  </a:txBody>
                  <a:tcPr anchor="ctr" marL="73152" marR="73152">
                    <a:solidFill>
                      <a:srgbClr val="EFEAD9"/>
                    </a:solidFill>
                  </a:tcPr>
                </a:tc>
                <a:tc>
                  <a:txBody>
                    <a:bodyPr/>
                    <a:lstStyle/>
                    <a:p>
                      <a:pPr algn="ctr"/>
                      <a:r>
                        <a:rPr sz="1200" b="0" i="0">
                          <a:solidFill>
                            <a:srgbClr val="1F2937"/>
                          </a:solidFill>
                          <a:latin typeface="Calibri"/>
                        </a:rPr>
                        <a:t>Own (3,375)</a:t>
                      </a:r>
                    </a:p>
                  </a:txBody>
                  <a:tcPr anchor="ctr" marL="73152" marR="73152">
                    <a:solidFill>
                      <a:srgbClr val="EFEAD9"/>
                    </a:solidFill>
                  </a:tcPr>
                </a:tc>
                <a:tc>
                  <a:txBody>
                    <a:bodyPr/>
                    <a:lstStyle/>
                    <a:p>
                      <a:pPr algn="ctr"/>
                      <a:r>
                        <a:rPr sz="1200" b="0" i="0">
                          <a:solidFill>
                            <a:srgbClr val="1F2937"/>
                          </a:solidFill>
                          <a:latin typeface="Calibri"/>
                        </a:rPr>
                        <a:t>2024</a:t>
                      </a:r>
                    </a:p>
                  </a:txBody>
                  <a:tcPr anchor="ctr" marL="73152" marR="73152">
                    <a:solidFill>
                      <a:srgbClr val="EFEAD9"/>
                    </a:solidFill>
                  </a:tcPr>
                </a:tc>
              </a:tr>
              <a:tr h="457200">
                <a:tc>
                  <a:txBody>
                    <a:bodyPr/>
                    <a:lstStyle/>
                    <a:p>
                      <a:pPr algn="ctr"/>
                      <a:r>
                        <a:rPr sz="1200" b="0" i="0">
                          <a:solidFill>
                            <a:srgbClr val="1F2937"/>
                          </a:solidFill>
                          <a:latin typeface="Calibri"/>
                        </a:rPr>
                        <a:t>3</a:t>
                      </a:r>
                    </a:p>
                  </a:txBody>
                  <a:tcPr anchor="ctr" marL="73152" marR="73152">
                    <a:solidFill>
                      <a:srgbClr val="FFFFFF"/>
                    </a:solidFill>
                  </a:tcPr>
                </a:tc>
                <a:tc>
                  <a:txBody>
                    <a:bodyPr/>
                    <a:lstStyle/>
                    <a:p>
                      <a:pPr algn="ctr"/>
                      <a:r>
                        <a:rPr sz="1200" b="0" i="0">
                          <a:solidFill>
                            <a:srgbClr val="1F2937"/>
                          </a:solidFill>
                          <a:latin typeface="Calibri"/>
                        </a:rPr>
                        <a:t>FabricSpotDefect (IUB)</a:t>
                      </a:r>
                    </a:p>
                  </a:txBody>
                  <a:tcPr anchor="ctr" marL="73152" marR="73152">
                    <a:solidFill>
                      <a:srgbClr val="FFFFFF"/>
                    </a:solidFill>
                  </a:tcPr>
                </a:tc>
                <a:tc>
                  <a:txBody>
                    <a:bodyPr/>
                    <a:lstStyle/>
                    <a:p>
                      <a:pPr algn="ctr"/>
                      <a:r>
                        <a:rPr sz="1200" b="0" i="0">
                          <a:solidFill>
                            <a:srgbClr val="1F2937"/>
                          </a:solidFill>
                          <a:latin typeface="Calibri"/>
                        </a:rPr>
                        <a:t>Supervised</a:t>
                      </a:r>
                    </a:p>
                  </a:txBody>
                  <a:tcPr anchor="ctr" marL="73152" marR="73152">
                    <a:solidFill>
                      <a:srgbClr val="FFFFFF"/>
                    </a:solidFill>
                  </a:tcPr>
                </a:tc>
                <a:tc>
                  <a:txBody>
                    <a:bodyPr/>
                    <a:lstStyle/>
                    <a:p>
                      <a:pPr algn="ctr"/>
                      <a:r>
                        <a:rPr sz="1200" b="0" i="0">
                          <a:solidFill>
                            <a:srgbClr val="1F2937"/>
                          </a:solidFill>
                          <a:latin typeface="Calibri"/>
                        </a:rPr>
                        <a:t>Own (1,014)</a:t>
                      </a:r>
                    </a:p>
                  </a:txBody>
                  <a:tcPr anchor="ctr" marL="73152" marR="73152">
                    <a:solidFill>
                      <a:srgbClr val="FFFFFF"/>
                    </a:solidFill>
                  </a:tcPr>
                </a:tc>
                <a:tc>
                  <a:txBody>
                    <a:bodyPr/>
                    <a:lstStyle/>
                    <a:p>
                      <a:pPr algn="ctr"/>
                      <a:r>
                        <a:rPr sz="1200" b="0" i="0">
                          <a:solidFill>
                            <a:srgbClr val="1F2937"/>
                          </a:solidFill>
                          <a:latin typeface="Calibri"/>
                        </a:rPr>
                        <a:t>2024</a:t>
                      </a:r>
                    </a:p>
                  </a:txBody>
                  <a:tcPr anchor="ctr" marL="73152" marR="73152">
                    <a:solidFill>
                      <a:srgbClr val="FFFFFF"/>
                    </a:solidFill>
                  </a:tcPr>
                </a:tc>
              </a:tr>
              <a:tr h="457200">
                <a:tc>
                  <a:txBody>
                    <a:bodyPr/>
                    <a:lstStyle/>
                    <a:p>
                      <a:pPr algn="ctr"/>
                      <a:r>
                        <a:rPr sz="1200" b="0" i="0">
                          <a:solidFill>
                            <a:srgbClr val="1F2937"/>
                          </a:solidFill>
                          <a:latin typeface="Calibri"/>
                        </a:rPr>
                        <a:t>4</a:t>
                      </a:r>
                    </a:p>
                  </a:txBody>
                  <a:tcPr anchor="ctr" marL="73152" marR="73152">
                    <a:solidFill>
                      <a:srgbClr val="EFEAD9"/>
                    </a:solidFill>
                  </a:tcPr>
                </a:tc>
                <a:tc>
                  <a:txBody>
                    <a:bodyPr/>
                    <a:lstStyle/>
                    <a:p>
                      <a:pPr algn="ctr"/>
                      <a:r>
                        <a:rPr sz="1200" b="0" i="0">
                          <a:solidFill>
                            <a:srgbClr val="1F2937"/>
                          </a:solidFill>
                          <a:latin typeface="Calibri"/>
                        </a:rPr>
                        <a:t>YOLOv1–v11 Fabric Review</a:t>
                      </a:r>
                    </a:p>
                  </a:txBody>
                  <a:tcPr anchor="ctr" marL="73152" marR="73152">
                    <a:solidFill>
                      <a:srgbClr val="EFEAD9"/>
                    </a:solidFill>
                  </a:tcPr>
                </a:tc>
                <a:tc>
                  <a:txBody>
                    <a:bodyPr/>
                    <a:lstStyle/>
                    <a:p>
                      <a:pPr algn="ctr"/>
                      <a:r>
                        <a:rPr sz="1200" b="0" i="0">
                          <a:solidFill>
                            <a:srgbClr val="1F2937"/>
                          </a:solidFill>
                          <a:latin typeface="Calibri"/>
                        </a:rPr>
                        <a:t>Supervised</a:t>
                      </a:r>
                    </a:p>
                  </a:txBody>
                  <a:tcPr anchor="ctr" marL="73152" marR="73152">
                    <a:solidFill>
                      <a:srgbClr val="EFEAD9"/>
                    </a:solidFill>
                  </a:tcPr>
                </a:tc>
                <a:tc>
                  <a:txBody>
                    <a:bodyPr/>
                    <a:lstStyle/>
                    <a:p>
                      <a:pPr algn="ctr"/>
                      <a:r>
                        <a:rPr sz="1200" b="0" i="0">
                          <a:solidFill>
                            <a:srgbClr val="1F2937"/>
                          </a:solidFill>
                          <a:latin typeface="Calibri"/>
                        </a:rPr>
                        <a:t>Collected</a:t>
                      </a:r>
                    </a:p>
                  </a:txBody>
                  <a:tcPr anchor="ctr" marL="73152" marR="73152">
                    <a:solidFill>
                      <a:srgbClr val="EFEAD9"/>
                    </a:solidFill>
                  </a:tcPr>
                </a:tc>
                <a:tc>
                  <a:txBody>
                    <a:bodyPr/>
                    <a:lstStyle/>
                    <a:p>
                      <a:pPr algn="ctr"/>
                      <a:r>
                        <a:rPr sz="1200" b="0" i="0">
                          <a:solidFill>
                            <a:srgbClr val="1F2937"/>
                          </a:solidFill>
                          <a:latin typeface="Calibri"/>
                        </a:rPr>
                        <a:t>2025</a:t>
                      </a:r>
                    </a:p>
                  </a:txBody>
                  <a:tcPr anchor="ctr" marL="73152" marR="73152">
                    <a:solidFill>
                      <a:srgbClr val="EFEAD9"/>
                    </a:solidFill>
                  </a:tcPr>
                </a:tc>
              </a:tr>
              <a:tr h="457200">
                <a:tc>
                  <a:txBody>
                    <a:bodyPr/>
                    <a:lstStyle/>
                    <a:p>
                      <a:pPr algn="ctr"/>
                      <a:r>
                        <a:rPr sz="1200" b="0" i="0">
                          <a:solidFill>
                            <a:srgbClr val="1F2937"/>
                          </a:solidFill>
                          <a:latin typeface="Calibri"/>
                        </a:rPr>
                        <a:t>5</a:t>
                      </a:r>
                    </a:p>
                  </a:txBody>
                  <a:tcPr anchor="ctr" marL="73152" marR="73152">
                    <a:solidFill>
                      <a:srgbClr val="FFFFFF"/>
                    </a:solidFill>
                  </a:tcPr>
                </a:tc>
                <a:tc>
                  <a:txBody>
                    <a:bodyPr/>
                    <a:lstStyle/>
                    <a:p>
                      <a:pPr algn="ctr"/>
                      <a:r>
                        <a:rPr sz="1200" b="0" i="0">
                          <a:solidFill>
                            <a:srgbClr val="1F2937"/>
                          </a:solidFill>
                          <a:latin typeface="Calibri"/>
                        </a:rPr>
                        <a:t>PatchCore</a:t>
                      </a:r>
                    </a:p>
                  </a:txBody>
                  <a:tcPr anchor="ctr" marL="73152" marR="73152">
                    <a:solidFill>
                      <a:srgbClr val="FFFFFF"/>
                    </a:solidFill>
                  </a:tcPr>
                </a:tc>
                <a:tc>
                  <a:txBody>
                    <a:bodyPr/>
                    <a:lstStyle/>
                    <a:p>
                      <a:pPr algn="ctr"/>
                      <a:r>
                        <a:rPr sz="1200" b="0" i="0">
                          <a:solidFill>
                            <a:srgbClr val="1F2937"/>
                          </a:solidFill>
                          <a:latin typeface="Calibri"/>
                        </a:rPr>
                        <a:t>Unsupervised</a:t>
                      </a:r>
                    </a:p>
                  </a:txBody>
                  <a:tcPr anchor="ctr" marL="73152" marR="73152">
                    <a:solidFill>
                      <a:srgbClr val="FFFFFF"/>
                    </a:solidFill>
                  </a:tcPr>
                </a:tc>
                <a:tc>
                  <a:txBody>
                    <a:bodyPr/>
                    <a:lstStyle/>
                    <a:p>
                      <a:pPr algn="ctr"/>
                      <a:r>
                        <a:rPr sz="1200" b="0" i="0">
                          <a:solidFill>
                            <a:srgbClr val="1F2937"/>
                          </a:solidFill>
                          <a:latin typeface="Calibri"/>
                        </a:rPr>
                        <a:t>MVTec / VisA</a:t>
                      </a:r>
                    </a:p>
                  </a:txBody>
                  <a:tcPr anchor="ctr" marL="73152" marR="73152">
                    <a:solidFill>
                      <a:srgbClr val="FFFFFF"/>
                    </a:solidFill>
                  </a:tcPr>
                </a:tc>
                <a:tc>
                  <a:txBody>
                    <a:bodyPr/>
                    <a:lstStyle/>
                    <a:p>
                      <a:pPr algn="ctr"/>
                      <a:r>
                        <a:rPr sz="1200" b="0" i="0">
                          <a:solidFill>
                            <a:srgbClr val="1F2937"/>
                          </a:solidFill>
                          <a:latin typeface="Calibri"/>
                        </a:rPr>
                        <a:t>2022</a:t>
                      </a:r>
                    </a:p>
                  </a:txBody>
                  <a:tcPr anchor="ctr" marL="73152" marR="73152">
                    <a:solidFill>
                      <a:srgbClr val="FFFFFF"/>
                    </a:solidFill>
                  </a:tcPr>
                </a:tc>
              </a:tr>
              <a:tr h="457200">
                <a:tc>
                  <a:txBody>
                    <a:bodyPr/>
                    <a:lstStyle/>
                    <a:p>
                      <a:pPr algn="ctr"/>
                      <a:r>
                        <a:rPr sz="1200" b="0" i="0">
                          <a:solidFill>
                            <a:srgbClr val="1F2937"/>
                          </a:solidFill>
                          <a:latin typeface="Calibri"/>
                        </a:rPr>
                        <a:t>6</a:t>
                      </a:r>
                    </a:p>
                  </a:txBody>
                  <a:tcPr anchor="ctr" marL="73152" marR="73152">
                    <a:solidFill>
                      <a:srgbClr val="EFEAD9"/>
                    </a:solidFill>
                  </a:tcPr>
                </a:tc>
                <a:tc>
                  <a:txBody>
                    <a:bodyPr/>
                    <a:lstStyle/>
                    <a:p>
                      <a:pPr algn="ctr"/>
                      <a:r>
                        <a:rPr sz="1200" b="0" i="0">
                          <a:solidFill>
                            <a:srgbClr val="1F2937"/>
                          </a:solidFill>
                          <a:latin typeface="Calibri"/>
                        </a:rPr>
                        <a:t>AnomalyDINO</a:t>
                      </a:r>
                    </a:p>
                  </a:txBody>
                  <a:tcPr anchor="ctr" marL="73152" marR="73152">
                    <a:solidFill>
                      <a:srgbClr val="EFEAD9"/>
                    </a:solidFill>
                  </a:tcPr>
                </a:tc>
                <a:tc>
                  <a:txBody>
                    <a:bodyPr/>
                    <a:lstStyle/>
                    <a:p>
                      <a:pPr algn="ctr"/>
                      <a:r>
                        <a:rPr sz="1200" b="0" i="0">
                          <a:solidFill>
                            <a:srgbClr val="1F2937"/>
                          </a:solidFill>
                          <a:latin typeface="Calibri"/>
                        </a:rPr>
                        <a:t>Few-Shot</a:t>
                      </a:r>
                    </a:p>
                  </a:txBody>
                  <a:tcPr anchor="ctr" marL="73152" marR="73152">
                    <a:solidFill>
                      <a:srgbClr val="EFEAD9"/>
                    </a:solidFill>
                  </a:tcPr>
                </a:tc>
                <a:tc>
                  <a:txBody>
                    <a:bodyPr/>
                    <a:lstStyle/>
                    <a:p>
                      <a:pPr algn="ctr"/>
                      <a:r>
                        <a:rPr sz="1200" b="0" i="0">
                          <a:solidFill>
                            <a:srgbClr val="1F2937"/>
                          </a:solidFill>
                          <a:latin typeface="Calibri"/>
                        </a:rPr>
                        <a:t>MVTec</a:t>
                      </a:r>
                    </a:p>
                  </a:txBody>
                  <a:tcPr anchor="ctr" marL="73152" marR="73152">
                    <a:solidFill>
                      <a:srgbClr val="EFEAD9"/>
                    </a:solidFill>
                  </a:tcPr>
                </a:tc>
                <a:tc>
                  <a:txBody>
                    <a:bodyPr/>
                    <a:lstStyle/>
                    <a:p>
                      <a:pPr algn="ctr"/>
                      <a:r>
                        <a:rPr sz="1200" b="0" i="0">
                          <a:solidFill>
                            <a:srgbClr val="1F2937"/>
                          </a:solidFill>
                          <a:latin typeface="Calibri"/>
                        </a:rPr>
                        <a:t>2025</a:t>
                      </a:r>
                    </a:p>
                  </a:txBody>
                  <a:tcPr anchor="ctr" marL="73152" marR="73152">
                    <a:solidFill>
                      <a:srgbClr val="EFEAD9"/>
                    </a:solidFill>
                  </a:tcPr>
                </a:tc>
              </a:tr>
              <a:tr h="457200">
                <a:tc>
                  <a:txBody>
                    <a:bodyPr/>
                    <a:lstStyle/>
                    <a:p>
                      <a:pPr algn="ctr"/>
                      <a:r>
                        <a:rPr sz="1200" b="0" i="0">
                          <a:solidFill>
                            <a:srgbClr val="1F2937"/>
                          </a:solidFill>
                          <a:latin typeface="Calibri"/>
                        </a:rPr>
                        <a:t>7</a:t>
                      </a:r>
                    </a:p>
                  </a:txBody>
                  <a:tcPr anchor="ctr" marL="73152" marR="73152">
                    <a:solidFill>
                      <a:srgbClr val="FFFFFF"/>
                    </a:solidFill>
                  </a:tcPr>
                </a:tc>
                <a:tc>
                  <a:txBody>
                    <a:bodyPr/>
                    <a:lstStyle/>
                    <a:p>
                      <a:pPr algn="ctr"/>
                      <a:r>
                        <a:rPr sz="1200" b="0" i="0">
                          <a:solidFill>
                            <a:srgbClr val="1F2937"/>
                          </a:solidFill>
                          <a:latin typeface="Calibri"/>
                        </a:rPr>
                        <a:t>PatchEAD</a:t>
                      </a:r>
                    </a:p>
                  </a:txBody>
                  <a:tcPr anchor="ctr" marL="73152" marR="73152">
                    <a:solidFill>
                      <a:srgbClr val="FFFFFF"/>
                    </a:solidFill>
                  </a:tcPr>
                </a:tc>
                <a:tc>
                  <a:txBody>
                    <a:bodyPr/>
                    <a:lstStyle/>
                    <a:p>
                      <a:pPr algn="ctr"/>
                      <a:r>
                        <a:rPr sz="1200" b="0" i="0">
                          <a:solidFill>
                            <a:srgbClr val="1F2937"/>
                          </a:solidFill>
                          <a:latin typeface="Calibri"/>
                        </a:rPr>
                        <a:t>Few / Zero-Shot</a:t>
                      </a:r>
                    </a:p>
                  </a:txBody>
                  <a:tcPr anchor="ctr" marL="73152" marR="73152">
                    <a:solidFill>
                      <a:srgbClr val="FFFFFF"/>
                    </a:solidFill>
                  </a:tcPr>
                </a:tc>
                <a:tc>
                  <a:txBody>
                    <a:bodyPr/>
                    <a:lstStyle/>
                    <a:p>
                      <a:pPr algn="ctr"/>
                      <a:r>
                        <a:rPr sz="1200" b="0" i="0">
                          <a:solidFill>
                            <a:srgbClr val="1F2937"/>
                          </a:solidFill>
                          <a:latin typeface="Calibri"/>
                        </a:rPr>
                        <a:t>7 Industrial</a:t>
                      </a:r>
                    </a:p>
                  </a:txBody>
                  <a:tcPr anchor="ctr" marL="73152" marR="73152">
                    <a:solidFill>
                      <a:srgbClr val="FFFFFF"/>
                    </a:solidFill>
                  </a:tcPr>
                </a:tc>
                <a:tc>
                  <a:txBody>
                    <a:bodyPr/>
                    <a:lstStyle/>
                    <a:p>
                      <a:pPr algn="ctr"/>
                      <a:r>
                        <a:rPr sz="1200" b="0" i="0">
                          <a:solidFill>
                            <a:srgbClr val="1F2937"/>
                          </a:solidFill>
                          <a:latin typeface="Calibri"/>
                        </a:rPr>
                        <a:t>2025</a:t>
                      </a:r>
                    </a:p>
                  </a:txBody>
                  <a:tcPr anchor="ctr" marL="73152" marR="73152">
                    <a:solidFill>
                      <a:srgbClr val="FFFFFF"/>
                    </a:solidFill>
                  </a:tcPr>
                </a:tc>
              </a:tr>
              <a:tr h="457200">
                <a:tc>
                  <a:txBody>
                    <a:bodyPr/>
                    <a:lstStyle/>
                    <a:p>
                      <a:pPr algn="ctr"/>
                      <a:r>
                        <a:rPr sz="1200" b="0" i="0">
                          <a:solidFill>
                            <a:srgbClr val="1F2937"/>
                          </a:solidFill>
                          <a:latin typeface="Calibri"/>
                        </a:rPr>
                        <a:t>8</a:t>
                      </a:r>
                    </a:p>
                  </a:txBody>
                  <a:tcPr anchor="ctr" marL="73152" marR="73152">
                    <a:solidFill>
                      <a:srgbClr val="EFEAD9"/>
                    </a:solidFill>
                  </a:tcPr>
                </a:tc>
                <a:tc>
                  <a:txBody>
                    <a:bodyPr/>
                    <a:lstStyle/>
                    <a:p>
                      <a:pPr algn="ctr"/>
                      <a:r>
                        <a:rPr sz="1200" b="0" i="0">
                          <a:solidFill>
                            <a:srgbClr val="1F2937"/>
                          </a:solidFill>
                          <a:latin typeface="Calibri"/>
                        </a:rPr>
                        <a:t>Fabric Wastage Prediction (CIIS)</a:t>
                      </a:r>
                    </a:p>
                  </a:txBody>
                  <a:tcPr anchor="ctr" marL="73152" marR="73152">
                    <a:solidFill>
                      <a:srgbClr val="EFEAD9"/>
                    </a:solidFill>
                  </a:tcPr>
                </a:tc>
                <a:tc>
                  <a:txBody>
                    <a:bodyPr/>
                    <a:lstStyle/>
                    <a:p>
                      <a:pPr algn="ctr"/>
                      <a:r>
                        <a:rPr sz="1200" b="0" i="0">
                          <a:solidFill>
                            <a:srgbClr val="1F2937"/>
                          </a:solidFill>
                          <a:latin typeface="Calibri"/>
                        </a:rPr>
                        <a:t>Supervised</a:t>
                      </a:r>
                    </a:p>
                  </a:txBody>
                  <a:tcPr anchor="ctr" marL="73152" marR="73152">
                    <a:solidFill>
                      <a:srgbClr val="EFEAD9"/>
                    </a:solidFill>
                  </a:tcPr>
                </a:tc>
                <a:tc>
                  <a:txBody>
                    <a:bodyPr/>
                    <a:lstStyle/>
                    <a:p>
                      <a:pPr algn="ctr"/>
                      <a:r>
                        <a:rPr sz="1200" b="0" i="0">
                          <a:solidFill>
                            <a:srgbClr val="1F2937"/>
                          </a:solidFill>
                          <a:latin typeface="Calibri"/>
                        </a:rPr>
                        <a:t>Own (633)</a:t>
                      </a:r>
                    </a:p>
                  </a:txBody>
                  <a:tcPr anchor="ctr" marL="73152" marR="73152">
                    <a:solidFill>
                      <a:srgbClr val="EFEAD9"/>
                    </a:solidFill>
                  </a:tcPr>
                </a:tc>
                <a:tc>
                  <a:txBody>
                    <a:bodyPr/>
                    <a:lstStyle/>
                    <a:p>
                      <a:pPr algn="ctr"/>
                      <a:r>
                        <a:rPr sz="1200" b="0" i="0">
                          <a:solidFill>
                            <a:srgbClr val="1F2937"/>
                          </a:solidFill>
                          <a:latin typeface="Calibri"/>
                        </a:rPr>
                        <a:t>2024</a:t>
                      </a:r>
                    </a:p>
                  </a:txBody>
                  <a:tcPr anchor="ctr" marL="73152" marR="73152">
                    <a:solidFill>
                      <a:srgbClr val="EFEAD9"/>
                    </a:solidFill>
                  </a:tcPr>
                </a:tc>
              </a:tr>
              <a:tr h="457200">
                <a:tc>
                  <a:txBody>
                    <a:bodyPr/>
                    <a:lstStyle/>
                    <a:p>
                      <a:pPr algn="ctr"/>
                      <a:r>
                        <a:rPr sz="1200" b="0" i="0">
                          <a:solidFill>
                            <a:srgbClr val="1F2937"/>
                          </a:solidFill>
                          <a:latin typeface="Calibri"/>
                        </a:rPr>
                        <a:t>9</a:t>
                      </a:r>
                    </a:p>
                  </a:txBody>
                  <a:tcPr anchor="ctr" marL="73152" marR="73152">
                    <a:solidFill>
                      <a:srgbClr val="FFFFFF"/>
                    </a:solidFill>
                  </a:tcPr>
                </a:tc>
                <a:tc>
                  <a:txBody>
                    <a:bodyPr/>
                    <a:lstStyle/>
                    <a:p>
                      <a:pPr algn="ctr"/>
                      <a:r>
                        <a:rPr sz="1200" b="0" i="0">
                          <a:solidFill>
                            <a:srgbClr val="1F2937"/>
                          </a:solidFill>
                          <a:latin typeface="Calibri"/>
                        </a:rPr>
                        <a:t>Traffic-Light QC Narayanganj</a:t>
                      </a:r>
                    </a:p>
                  </a:txBody>
                  <a:tcPr anchor="ctr" marL="73152" marR="73152">
                    <a:solidFill>
                      <a:srgbClr val="FFFFFF"/>
                    </a:solidFill>
                  </a:tcPr>
                </a:tc>
                <a:tc>
                  <a:txBody>
                    <a:bodyPr/>
                    <a:lstStyle/>
                    <a:p>
                      <a:pPr algn="ctr"/>
                      <a:r>
                        <a:rPr sz="1200" b="0" i="0">
                          <a:solidFill>
                            <a:srgbClr val="1F2937"/>
                          </a:solidFill>
                          <a:latin typeface="Calibri"/>
                        </a:rPr>
                        <a:t>Applied</a:t>
                      </a:r>
                    </a:p>
                  </a:txBody>
                  <a:tcPr anchor="ctr" marL="73152" marR="73152">
                    <a:solidFill>
                      <a:srgbClr val="FFFFFF"/>
                    </a:solidFill>
                  </a:tcPr>
                </a:tc>
                <a:tc>
                  <a:txBody>
                    <a:bodyPr/>
                    <a:lstStyle/>
                    <a:p>
                      <a:pPr algn="ctr"/>
                      <a:r>
                        <a:rPr sz="1200" b="0" i="0">
                          <a:solidFill>
                            <a:srgbClr val="1F2937"/>
                          </a:solidFill>
                          <a:latin typeface="Calibri"/>
                        </a:rPr>
                        <a:t>94 Lines</a:t>
                      </a:r>
                    </a:p>
                  </a:txBody>
                  <a:tcPr anchor="ctr" marL="73152" marR="73152">
                    <a:solidFill>
                      <a:srgbClr val="FFFFFF"/>
                    </a:solidFill>
                  </a:tcPr>
                </a:tc>
                <a:tc>
                  <a:txBody>
                    <a:bodyPr/>
                    <a:lstStyle/>
                    <a:p>
                      <a:pPr algn="ctr"/>
                      <a:r>
                        <a:rPr sz="1200" b="0" i="0">
                          <a:solidFill>
                            <a:srgbClr val="1F2937"/>
                          </a:solidFill>
                          <a:latin typeface="Calibri"/>
                        </a:rPr>
                        <a:t>2026</a:t>
                      </a:r>
                    </a:p>
                  </a:txBody>
                  <a:tcPr anchor="ctr" marL="73152" marR="73152">
                    <a:solidFill>
                      <a:srgbClr val="FFFFFF"/>
                    </a:solidFill>
                  </a:tcPr>
                </a:tc>
              </a:tr>
              <a:tr h="457200">
                <a:tc>
                  <a:txBody>
                    <a:bodyPr/>
                    <a:lstStyle/>
                    <a:p>
                      <a:pPr algn="ctr"/>
                      <a:r>
                        <a:rPr sz="1200" b="0" i="0">
                          <a:solidFill>
                            <a:srgbClr val="1F2937"/>
                          </a:solidFill>
                          <a:latin typeface="Calibri"/>
                        </a:rPr>
                        <a:t>10</a:t>
                      </a:r>
                    </a:p>
                  </a:txBody>
                  <a:tcPr anchor="ctr" marL="73152" marR="73152">
                    <a:solidFill>
                      <a:srgbClr val="EFEAD9"/>
                    </a:solidFill>
                  </a:tcPr>
                </a:tc>
                <a:tc>
                  <a:txBody>
                    <a:bodyPr/>
                    <a:lstStyle/>
                    <a:p>
                      <a:pPr algn="ctr"/>
                      <a:r>
                        <a:rPr sz="1200" b="0" i="0">
                          <a:solidFill>
                            <a:srgbClr val="1F2937"/>
                          </a:solidFill>
                          <a:latin typeface="Calibri"/>
                        </a:rPr>
                        <a:t>Redmon (YOLO) / Breiman (RF)</a:t>
                      </a:r>
                    </a:p>
                  </a:txBody>
                  <a:tcPr anchor="ctr" marL="73152" marR="73152">
                    <a:solidFill>
                      <a:srgbClr val="EFEAD9"/>
                    </a:solidFill>
                  </a:tcPr>
                </a:tc>
                <a:tc>
                  <a:txBody>
                    <a:bodyPr/>
                    <a:lstStyle/>
                    <a:p>
                      <a:pPr algn="ctr"/>
                      <a:r>
                        <a:rPr sz="1200" b="0" i="0">
                          <a:solidFill>
                            <a:srgbClr val="1F2937"/>
                          </a:solidFill>
                          <a:latin typeface="Calibri"/>
                        </a:rPr>
                        <a:t>Supervised</a:t>
                      </a:r>
                    </a:p>
                  </a:txBody>
                  <a:tcPr anchor="ctr" marL="73152" marR="73152">
                    <a:solidFill>
                      <a:srgbClr val="EFEAD9"/>
                    </a:solidFill>
                  </a:tcPr>
                </a:tc>
                <a:tc>
                  <a:txBody>
                    <a:bodyPr/>
                    <a:lstStyle/>
                    <a:p>
                      <a:pPr algn="ctr"/>
                      <a:r>
                        <a:rPr sz="1200" b="0" i="0">
                          <a:solidFill>
                            <a:srgbClr val="1F2937"/>
                          </a:solidFill>
                          <a:latin typeface="Calibri"/>
                        </a:rPr>
                        <a:t>VOC-COCO / General</a:t>
                      </a:r>
                    </a:p>
                  </a:txBody>
                  <a:tcPr anchor="ctr" marL="73152" marR="73152">
                    <a:solidFill>
                      <a:srgbClr val="EFEAD9"/>
                    </a:solidFill>
                  </a:tcPr>
                </a:tc>
                <a:tc>
                  <a:txBody>
                    <a:bodyPr/>
                    <a:lstStyle/>
                    <a:p>
                      <a:pPr algn="ctr"/>
                      <a:r>
                        <a:rPr sz="1200" b="0" i="0">
                          <a:solidFill>
                            <a:srgbClr val="1F2937"/>
                          </a:solidFill>
                          <a:latin typeface="Calibri"/>
                        </a:rPr>
                        <a:t>2016 / 2001</a:t>
                      </a:r>
                    </a:p>
                  </a:txBody>
                  <a:tcPr anchor="ctr" marL="73152" marR="73152">
                    <a:solidFill>
                      <a:srgbClr val="EFEAD9"/>
                    </a:solidFill>
                  </a:tcPr>
                </a:tc>
              </a:tr>
              <a:tr h="457200">
                <a:tc>
                  <a:txBody>
                    <a:bodyPr/>
                    <a:lstStyle/>
                    <a:p>
                      <a:pPr algn="ctr"/>
                      <a:r>
                        <a:rPr sz="1200" b="0" i="0">
                          <a:solidFill>
                            <a:srgbClr val="1F2937"/>
                          </a:solidFill>
                          <a:latin typeface="Calibri"/>
                        </a:rPr>
                        <a:t>11</a:t>
                      </a:r>
                    </a:p>
                  </a:txBody>
                  <a:tcPr anchor="ctr" marL="73152" marR="73152">
                    <a:solidFill>
                      <a:srgbClr val="FFFFFF"/>
                    </a:solidFill>
                  </a:tcPr>
                </a:tc>
                <a:tc>
                  <a:txBody>
                    <a:bodyPr/>
                    <a:lstStyle/>
                    <a:p>
                      <a:pPr algn="ctr"/>
                      <a:r>
                        <a:rPr sz="1200" b="0" i="0">
                          <a:solidFill>
                            <a:srgbClr val="1F2937"/>
                          </a:solidFill>
                          <a:latin typeface="Calibri"/>
                        </a:rPr>
                        <a:t>Literature Survey Summary</a:t>
                      </a:r>
                    </a:p>
                  </a:txBody>
                  <a:tcPr anchor="ctr" marL="73152" marR="73152">
                    <a:solidFill>
                      <a:srgbClr val="FFFFFF"/>
                    </a:solidFill>
                  </a:tcPr>
                </a:tc>
                <a:tc>
                  <a:txBody>
                    <a:bodyPr/>
                    <a:lstStyle/>
                    <a:p>
                      <a:pPr algn="ctr"/>
                      <a:r>
                        <a:rPr sz="1200" b="0" i="0">
                          <a:solidFill>
                            <a:srgbClr val="1F2937"/>
                          </a:solidFill>
                          <a:latin typeface="Calibri"/>
                        </a:rPr>
                        <a:t>—</a:t>
                      </a:r>
                    </a:p>
                  </a:txBody>
                  <a:tcPr anchor="ctr" marL="73152" marR="73152">
                    <a:solidFill>
                      <a:srgbClr val="FFFFFF"/>
                    </a:solidFill>
                  </a:tcPr>
                </a:tc>
                <a:tc>
                  <a:txBody>
                    <a:bodyPr/>
                    <a:lstStyle/>
                    <a:p>
                      <a:pPr algn="ctr"/>
                      <a:r>
                        <a:rPr sz="1200" b="0" i="0">
                          <a:solidFill>
                            <a:srgbClr val="1F2937"/>
                          </a:solidFill>
                          <a:latin typeface="Calibri"/>
                        </a:rPr>
                        <a:t>20 works surveyed</a:t>
                      </a:r>
                    </a:p>
                  </a:txBody>
                  <a:tcPr anchor="ctr" marL="73152" marR="73152">
                    <a:solidFill>
                      <a:srgbClr val="FFFFFF"/>
                    </a:solidFill>
                  </a:tcPr>
                </a:tc>
                <a:tc>
                  <a:txBody>
                    <a:bodyPr/>
                    <a:lstStyle/>
                    <a:p>
                      <a:pPr algn="ctr"/>
                      <a:r>
                        <a:rPr sz="1200" b="0" i="0">
                          <a:solidFill>
                            <a:srgbClr val="1F2937"/>
                          </a:solidFill>
                          <a:latin typeface="Calibri"/>
                        </a:rPr>
                        <a:t>2026</a:t>
                      </a:r>
                    </a:p>
                  </a:txBody>
                  <a:tcPr anchor="ctr" marL="73152" marR="73152">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E7EF"/>
        </a:solidFill>
        <a:effectLst/>
      </p:bgPr>
    </p:bg>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548640" y="320040"/>
            <a:ext cx="11064240" cy="822960"/>
          </a:xfrm>
          <a:prstGeom prst="rect">
            <a:avLst/>
          </a:prstGeom>
          <a:noFill/>
        </p:spPr>
        <p:txBody>
          <a:bodyPr wrap="none">
            <a:spAutoFit/>
          </a:bodyPr>
          <a:lstStyle/>
          <a:p>
            <a:pPr algn="l">
              <a:defRPr sz="3400" b="1">
                <a:solidFill>
                  <a:srgbClr val="144E7D"/>
                </a:solidFill>
                <a:latin typeface="Georgia"/>
              </a:defRPr>
            </a:pPr>
            <a:r>
              <a:rPr sz="3400" b="1">
                <a:solidFill>
                  <a:srgbClr val="144E7D"/>
                </a:solidFill>
                <a:latin typeface="Georgia"/>
              </a:rPr>
              <a:t>Literature Taxonomy (20 Works)</a:t>
            </a:r>
          </a:p>
        </p:txBody>
      </p:sp>
      <p:sp>
        <p:nvSpPr>
          <p:cNvPr id="5" name="TextBox 4"/>
          <p:cNvSpPr txBox="1"/>
          <p:nvPr/>
        </p:nvSpPr>
        <p:spPr>
          <a:xfrm>
            <a:off x="548640" y="6419088"/>
            <a:ext cx="9144000" cy="274320"/>
          </a:xfrm>
          <a:prstGeom prst="rect">
            <a:avLst/>
          </a:prstGeom>
          <a:noFill/>
        </p:spPr>
        <p:txBody>
          <a:bodyPr wrap="none">
            <a:spAutoFit/>
          </a:bodyPr>
          <a:lstStyle/>
          <a:p>
            <a:r>
              <a:rPr sz="900">
                <a:solidFill>
                  <a:srgbClr val="8A8F98"/>
                </a:solidFill>
                <a:latin typeface="Calibri"/>
              </a:rPr>
              <a:t>Defect-to-Delivery  |  FYDP-I  •  Group: 262-034</a:t>
            </a:r>
          </a:p>
        </p:txBody>
      </p:sp>
      <p:sp>
        <p:nvSpPr>
          <p:cNvPr id="6" name="TextBox 5"/>
          <p:cNvSpPr txBox="1"/>
          <p:nvPr/>
        </p:nvSpPr>
        <p:spPr>
          <a:xfrm>
            <a:off x="10972800" y="6419088"/>
            <a:ext cx="640080" cy="274320"/>
          </a:xfrm>
          <a:prstGeom prst="rect">
            <a:avLst/>
          </a:prstGeom>
          <a:noFill/>
        </p:spPr>
        <p:txBody>
          <a:bodyPr wrap="none">
            <a:spAutoFit/>
          </a:bodyPr>
          <a:lstStyle/>
          <a:p>
            <a:pPr algn="r"/>
            <a:r>
              <a:rPr sz="900">
                <a:solidFill>
                  <a:srgbClr val="8A8F98"/>
                </a:solidFill>
                <a:latin typeface="Calibri"/>
              </a:rPr>
              <a:t>11 / 35</a:t>
            </a:r>
          </a:p>
        </p:txBody>
      </p:sp>
      <p:pic>
        <p:nvPicPr>
          <p:cNvPr id="7" name="Picture 6" descr="taxonomy.png"/>
          <p:cNvPicPr>
            <a:picLocks noChangeAspect="1"/>
          </p:cNvPicPr>
          <p:nvPr/>
        </p:nvPicPr>
        <p:blipFill>
          <a:blip r:embed="rId3"/>
          <a:stretch>
            <a:fillRect/>
          </a:stretch>
        </p:blipFill>
        <p:spPr>
          <a:xfrm>
            <a:off x="868680" y="1234440"/>
            <a:ext cx="10424160" cy="3911016"/>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7EF"/>
        </a:solidFill>
        <a:effectLst/>
      </p:bgPr>
    </p:bg>
    <p:spTree>
      <p:nvGrpSpPr>
        <p:cNvPr id="1" name=""/>
        <p:cNvGrpSpPr/>
        <p:nvPr/>
      </p:nvGrpSpPr>
      <p:grpSpPr/>
      <p:sp>
        <p:nvSpPr>
          <p:cNvPr id="2" name="TextBox 1"/>
          <p:cNvSpPr txBox="1"/>
          <p:nvPr/>
        </p:nvSpPr>
        <p:spPr>
          <a:xfrm>
            <a:off x="548640" y="6419088"/>
            <a:ext cx="9144000" cy="274320"/>
          </a:xfrm>
          <a:prstGeom prst="rect">
            <a:avLst/>
          </a:prstGeom>
          <a:noFill/>
        </p:spPr>
        <p:txBody>
          <a:bodyPr wrap="square">
            <a:spAutoFit/>
          </a:bodyPr>
          <a:lstStyle/>
          <a:p>
            <a:pPr algn="l"/>
            <a:r>
              <a:rPr sz="900" b="0" i="0">
                <a:solidFill>
                  <a:srgbClr val="8A8F98"/>
                </a:solidFill>
                <a:latin typeface="Calibri"/>
              </a:rPr>
              <a:t>Defect-to-Delivery  |  FYDP-I  •  Group: 262-034</a:t>
            </a:r>
          </a:p>
        </p:txBody>
      </p:sp>
      <p:sp>
        <p:nvSpPr>
          <p:cNvPr id="3" name="TextBox 2"/>
          <p:cNvSpPr txBox="1"/>
          <p:nvPr/>
        </p:nvSpPr>
        <p:spPr>
          <a:xfrm>
            <a:off x="10972800" y="6419088"/>
            <a:ext cx="640080" cy="274320"/>
          </a:xfrm>
          <a:prstGeom prst="rect">
            <a:avLst/>
          </a:prstGeom>
          <a:noFill/>
        </p:spPr>
        <p:txBody>
          <a:bodyPr wrap="none">
            <a:spAutoFit/>
          </a:bodyPr>
          <a:lstStyle/>
          <a:p>
            <a:pPr algn="r"/>
            <a:r>
              <a:rPr sz="900">
                <a:solidFill>
                  <a:srgbClr val="8A8F98"/>
                </a:solidFill>
                <a:latin typeface="Calibri"/>
              </a:rPr>
              <a:t>12 / 35</a:t>
            </a:r>
          </a:p>
        </p:txBody>
      </p:sp>
      <p:sp>
        <p:nvSpPr>
          <p:cNvPr id="4" name="Rectangle 3"/>
          <p:cNvSpPr/>
          <p:nvPr/>
        </p:nvSpPr>
        <p:spPr>
          <a:xfrm>
            <a:off x="0" y="0"/>
            <a:ext cx="12188952" cy="64008"/>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20040"/>
            <a:ext cx="11064240" cy="822960"/>
          </a:xfrm>
          <a:prstGeom prst="rect">
            <a:avLst/>
          </a:prstGeom>
          <a:noFill/>
        </p:spPr>
        <p:txBody>
          <a:bodyPr wrap="square">
            <a:spAutoFit/>
          </a:bodyPr>
          <a:lstStyle/>
          <a:p>
            <a:pPr algn="l"/>
            <a:r>
              <a:rPr sz="3400" b="1" i="0">
                <a:solidFill>
                  <a:srgbClr val="144E4C"/>
                </a:solidFill>
                <a:latin typeface="Georgia"/>
              </a:rPr>
              <a:t>Gap Analysis &amp; Summary</a:t>
            </a:r>
          </a:p>
        </p:txBody>
      </p:sp>
      <p:sp>
        <p:nvSpPr>
          <p:cNvPr id="6" name="Rectangle 5"/>
          <p:cNvSpPr/>
          <p:nvPr/>
        </p:nvSpPr>
        <p:spPr>
          <a:xfrm>
            <a:off x="566928" y="1078992"/>
            <a:ext cx="1005840" cy="50292"/>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1463040"/>
            <a:ext cx="2651760" cy="2286000"/>
          </a:xfrm>
          <a:prstGeom prst="roundRect">
            <a:avLst>
              <a:gd name="adj" fmla="val 6000"/>
            </a:avLst>
          </a:prstGeom>
          <a:solidFill>
            <a:srgbClr val="FFFFFF"/>
          </a:solidFill>
          <a:ln w="15875">
            <a:solidFill>
              <a:srgbClr val="D8D2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 y="1463040"/>
            <a:ext cx="2651760" cy="82296"/>
          </a:xfrm>
          <a:prstGeom prst="round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04672" y="1755648"/>
            <a:ext cx="475488" cy="475488"/>
          </a:xfrm>
          <a:prstGeom prst="ellipse">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44E4C"/>
                </a:solidFill>
                <a:latin typeface="Calibri"/>
              </a:rPr>
              <a:t>◆</a:t>
            </a:r>
          </a:p>
        </p:txBody>
      </p:sp>
      <p:sp>
        <p:nvSpPr>
          <p:cNvPr id="10" name="TextBox 9"/>
          <p:cNvSpPr txBox="1"/>
          <p:nvPr/>
        </p:nvSpPr>
        <p:spPr>
          <a:xfrm>
            <a:off x="1417319" y="1719072"/>
            <a:ext cx="1600200" cy="1874519"/>
          </a:xfrm>
          <a:prstGeom prst="rect">
            <a:avLst/>
          </a:prstGeom>
          <a:noFill/>
        </p:spPr>
        <p:txBody>
          <a:bodyPr wrap="square">
            <a:normAutofit/>
          </a:bodyPr>
          <a:lstStyle/>
          <a:p>
            <a:pPr algn="l">
              <a:spcAft>
                <a:spcPts val="600"/>
              </a:spcAft>
            </a:pPr>
            <a:r>
              <a:rPr sz="1600" b="1" i="0">
                <a:solidFill>
                  <a:srgbClr val="144E4C"/>
                </a:solidFill>
                <a:latin typeface="Calibri"/>
              </a:rPr>
              <a:t>Detectors</a:t>
            </a:r>
          </a:p>
          <a:p>
            <a:pPr algn="l">
              <a:spcBef>
                <a:spcPts val="0"/>
              </a:spcBef>
              <a:spcAft>
                <a:spcPts val="300"/>
              </a:spcAft>
            </a:pPr>
            <a:r>
              <a:rPr sz="1350" b="0" i="0">
                <a:solidFill>
                  <a:srgbClr val="5B6570"/>
                </a:solidFill>
                <a:latin typeface="Calibri"/>
              </a:rPr>
              <a:t>Cover Known Defect Types Well, But Stop At Detection — No Link To Production.</a:t>
            </a:r>
          </a:p>
        </p:txBody>
      </p:sp>
      <p:sp>
        <p:nvSpPr>
          <p:cNvPr id="11" name="Rounded Rectangle 10"/>
          <p:cNvSpPr/>
          <p:nvPr/>
        </p:nvSpPr>
        <p:spPr>
          <a:xfrm>
            <a:off x="3328416" y="1463040"/>
            <a:ext cx="2651760" cy="2286000"/>
          </a:xfrm>
          <a:prstGeom prst="roundRect">
            <a:avLst>
              <a:gd name="adj" fmla="val 6000"/>
            </a:avLst>
          </a:prstGeom>
          <a:solidFill>
            <a:srgbClr val="FFFFFF"/>
          </a:solidFill>
          <a:ln w="15875">
            <a:solidFill>
              <a:srgbClr val="D8D2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328416" y="1463040"/>
            <a:ext cx="2651760" cy="82296"/>
          </a:xfrm>
          <a:prstGeom prst="round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584448" y="1755648"/>
            <a:ext cx="475488" cy="475488"/>
          </a:xfrm>
          <a:prstGeom prst="ellipse">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44E4C"/>
                </a:solidFill>
                <a:latin typeface="Calibri"/>
              </a:rPr>
              <a:t>◆</a:t>
            </a:r>
          </a:p>
        </p:txBody>
      </p:sp>
      <p:sp>
        <p:nvSpPr>
          <p:cNvPr id="14" name="TextBox 13"/>
          <p:cNvSpPr txBox="1"/>
          <p:nvPr/>
        </p:nvSpPr>
        <p:spPr>
          <a:xfrm>
            <a:off x="4197096" y="1719072"/>
            <a:ext cx="1600200" cy="1874519"/>
          </a:xfrm>
          <a:prstGeom prst="rect">
            <a:avLst/>
          </a:prstGeom>
          <a:noFill/>
        </p:spPr>
        <p:txBody>
          <a:bodyPr wrap="square">
            <a:normAutofit/>
          </a:bodyPr>
          <a:lstStyle/>
          <a:p>
            <a:pPr algn="l">
              <a:spcAft>
                <a:spcPts val="600"/>
              </a:spcAft>
            </a:pPr>
            <a:r>
              <a:rPr sz="1600" b="1" i="0">
                <a:solidFill>
                  <a:srgbClr val="144E4C"/>
                </a:solidFill>
                <a:latin typeface="Calibri"/>
              </a:rPr>
              <a:t>Anomaly Models</a:t>
            </a:r>
          </a:p>
          <a:p>
            <a:pPr algn="l">
              <a:spcBef>
                <a:spcPts val="0"/>
              </a:spcBef>
              <a:spcAft>
                <a:spcPts val="300"/>
              </a:spcAft>
            </a:pPr>
            <a:r>
              <a:rPr sz="1350" b="0" i="0">
                <a:solidFill>
                  <a:srgbClr val="5B6570"/>
                </a:solidFill>
                <a:latin typeface="Calibri"/>
              </a:rPr>
              <a:t>Handle Unseen Defects, But Are Evaluated On Public Sets, Not Bangladeshi Factory Data.</a:t>
            </a:r>
          </a:p>
        </p:txBody>
      </p:sp>
      <p:sp>
        <p:nvSpPr>
          <p:cNvPr id="15" name="Rounded Rectangle 14"/>
          <p:cNvSpPr/>
          <p:nvPr/>
        </p:nvSpPr>
        <p:spPr>
          <a:xfrm>
            <a:off x="6108192" y="1463040"/>
            <a:ext cx="2651760" cy="2286000"/>
          </a:xfrm>
          <a:prstGeom prst="roundRect">
            <a:avLst>
              <a:gd name="adj" fmla="val 6000"/>
            </a:avLst>
          </a:prstGeom>
          <a:solidFill>
            <a:srgbClr val="FFFFFF"/>
          </a:solidFill>
          <a:ln w="15875">
            <a:solidFill>
              <a:srgbClr val="D8D2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108192" y="1463040"/>
            <a:ext cx="2651760" cy="82296"/>
          </a:xfrm>
          <a:prstGeom prst="round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364224" y="1755648"/>
            <a:ext cx="475488" cy="475488"/>
          </a:xfrm>
          <a:prstGeom prst="ellipse">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44E4C"/>
                </a:solidFill>
                <a:latin typeface="Calibri"/>
              </a:rPr>
              <a:t>◆</a:t>
            </a:r>
          </a:p>
        </p:txBody>
      </p:sp>
      <p:sp>
        <p:nvSpPr>
          <p:cNvPr id="18" name="TextBox 17"/>
          <p:cNvSpPr txBox="1"/>
          <p:nvPr/>
        </p:nvSpPr>
        <p:spPr>
          <a:xfrm>
            <a:off x="6976872" y="1719072"/>
            <a:ext cx="1600200" cy="1874519"/>
          </a:xfrm>
          <a:prstGeom prst="rect">
            <a:avLst/>
          </a:prstGeom>
          <a:noFill/>
        </p:spPr>
        <p:txBody>
          <a:bodyPr wrap="square">
            <a:normAutofit/>
          </a:bodyPr>
          <a:lstStyle/>
          <a:p>
            <a:pPr algn="l">
              <a:spcAft>
                <a:spcPts val="600"/>
              </a:spcAft>
            </a:pPr>
            <a:r>
              <a:rPr sz="1600" b="1" i="0">
                <a:solidFill>
                  <a:srgbClr val="144E4C"/>
                </a:solidFill>
                <a:latin typeface="Calibri"/>
              </a:rPr>
              <a:t>Edge Tooling</a:t>
            </a:r>
          </a:p>
          <a:p>
            <a:pPr algn="l">
              <a:spcBef>
                <a:spcPts val="0"/>
              </a:spcBef>
              <a:spcAft>
                <a:spcPts val="300"/>
              </a:spcAft>
            </a:pPr>
            <a:r>
              <a:rPr sz="1350" b="0" i="0">
                <a:solidFill>
                  <a:srgbClr val="5B6570"/>
                </a:solidFill>
                <a:latin typeface="Calibri"/>
              </a:rPr>
              <a:t>Real-Time Feasibility Is Proven, But Not Paired With A Planning Model.</a:t>
            </a:r>
          </a:p>
        </p:txBody>
      </p:sp>
      <p:sp>
        <p:nvSpPr>
          <p:cNvPr id="19" name="Rounded Rectangle 18"/>
          <p:cNvSpPr/>
          <p:nvPr/>
        </p:nvSpPr>
        <p:spPr>
          <a:xfrm>
            <a:off x="8887968" y="1463040"/>
            <a:ext cx="2651760" cy="2286000"/>
          </a:xfrm>
          <a:prstGeom prst="roundRect">
            <a:avLst>
              <a:gd name="adj" fmla="val 6000"/>
            </a:avLst>
          </a:prstGeom>
          <a:solidFill>
            <a:srgbClr val="FFFFFF"/>
          </a:solidFill>
          <a:ln w="15875">
            <a:solidFill>
              <a:srgbClr val="D8D2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887968" y="1463040"/>
            <a:ext cx="2651760" cy="82296"/>
          </a:xfrm>
          <a:prstGeom prst="round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144000" y="1755648"/>
            <a:ext cx="475488" cy="475488"/>
          </a:xfrm>
          <a:prstGeom prst="ellipse">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44E4C"/>
                </a:solidFill>
                <a:latin typeface="Calibri"/>
              </a:rPr>
              <a:t>◆</a:t>
            </a:r>
          </a:p>
        </p:txBody>
      </p:sp>
      <p:sp>
        <p:nvSpPr>
          <p:cNvPr id="22" name="TextBox 21"/>
          <p:cNvSpPr txBox="1"/>
          <p:nvPr/>
        </p:nvSpPr>
        <p:spPr>
          <a:xfrm>
            <a:off x="9756648" y="1719072"/>
            <a:ext cx="1600200" cy="1874519"/>
          </a:xfrm>
          <a:prstGeom prst="rect">
            <a:avLst/>
          </a:prstGeom>
          <a:noFill/>
        </p:spPr>
        <p:txBody>
          <a:bodyPr wrap="square">
            <a:normAutofit/>
          </a:bodyPr>
          <a:lstStyle/>
          <a:p>
            <a:pPr algn="l">
              <a:spcAft>
                <a:spcPts val="600"/>
              </a:spcAft>
            </a:pPr>
            <a:r>
              <a:rPr sz="1600" b="1" i="0">
                <a:solidFill>
                  <a:srgbClr val="144E4C"/>
                </a:solidFill>
                <a:latin typeface="Calibri"/>
              </a:rPr>
              <a:t>BD Datasets</a:t>
            </a:r>
          </a:p>
          <a:p>
            <a:pPr algn="l">
              <a:spcBef>
                <a:spcPts val="0"/>
              </a:spcBef>
              <a:spcAft>
                <a:spcPts val="300"/>
              </a:spcAft>
            </a:pPr>
            <a:r>
              <a:rPr sz="1350" b="0" i="0">
                <a:solidFill>
                  <a:srgbClr val="5B6570"/>
                </a:solidFill>
                <a:latin typeface="Calibri"/>
              </a:rPr>
              <a:t>Give Local Ground Truth, But No Work Fuses Vision Output With Lead-Time Hours.</a:t>
            </a:r>
          </a:p>
        </p:txBody>
      </p:sp>
      <p:sp>
        <p:nvSpPr>
          <p:cNvPr id="23" name="TextBox 22"/>
          <p:cNvSpPr txBox="1"/>
          <p:nvPr/>
        </p:nvSpPr>
        <p:spPr>
          <a:xfrm>
            <a:off x="548640" y="4663440"/>
            <a:ext cx="11064240" cy="731520"/>
          </a:xfrm>
          <a:prstGeom prst="rect">
            <a:avLst/>
          </a:prstGeom>
          <a:noFill/>
        </p:spPr>
        <p:txBody>
          <a:bodyPr wrap="square" anchor="ctr">
            <a:spAutoFit/>
          </a:bodyPr>
          <a:lstStyle/>
          <a:p>
            <a:pPr algn="ctr"/>
            <a:r>
              <a:rPr sz="1900" b="1" i="0">
                <a:solidFill>
                  <a:srgbClr val="B8860B"/>
                </a:solidFill>
                <a:latin typeface="Calibri"/>
              </a:rPr>
              <a:t>The Vision-To-Hours Coupling Remains Unclaimed — That Is Our Contribution.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E7EF"/>
        </a:solidFill>
        <a:effectLst/>
      </p:bgPr>
    </p:bg>
    <p:spTree>
      <p:nvGrpSpPr>
        <p:cNvPr id="1" name=""/>
        <p:cNvGrpSpPr/>
        <p:nvPr/>
      </p:nvGrpSpPr>
      <p:grpSpPr/>
      <p:sp>
        <p:nvSpPr>
          <p:cNvPr id="2" name="TextBox 1"/>
          <p:cNvSpPr txBox="1"/>
          <p:nvPr/>
        </p:nvSpPr>
        <p:spPr>
          <a:xfrm>
            <a:off x="548640" y="320040"/>
            <a:ext cx="11064240" cy="822960"/>
          </a:xfrm>
          <a:prstGeom prst="rect">
            <a:avLst/>
          </a:prstGeom>
          <a:noFill/>
        </p:spPr>
        <p:txBody>
          <a:bodyPr wrap="none">
            <a:spAutoFit/>
          </a:bodyPr>
          <a:lstStyle/>
          <a:p>
            <a:pPr algn="l">
              <a:defRPr sz="3400" b="1">
                <a:solidFill>
                  <a:srgbClr val="144E7D"/>
                </a:solidFill>
                <a:latin typeface="Georgia"/>
              </a:defRPr>
            </a:pPr>
            <a:r>
              <a:rPr sz="3400" b="1">
                <a:solidFill>
                  <a:srgbClr val="144E7D"/>
                </a:solidFill>
                <a:latin typeface="Georgia"/>
              </a:rPr>
              <a:t>Benchmark Comparison</a:t>
            </a:r>
          </a:p>
        </p:txBody>
      </p:sp>
      <p:graphicFrame>
        <p:nvGraphicFramePr>
          <p:cNvPr id="3" name="Table 2"/>
          <p:cNvGraphicFramePr>
            <a:graphicFrameLocks noGrp="1"/>
          </p:cNvGraphicFramePr>
          <p:nvPr/>
        </p:nvGraphicFramePr>
        <p:xfrm>
          <a:off x="548640" y="1234440"/>
          <a:ext cx="11064240" cy="3072384"/>
        </p:xfrm>
        <a:graphic>
          <a:graphicData uri="http://schemas.openxmlformats.org/drawingml/2006/table">
            <a:tbl>
              <a:tblPr firstRow="1" bandRow="1">
                <a:tableStyleId>{5C22544A-7EE6-4342-B048-85BDC9FD1C3A}</a:tableStyleId>
              </a:tblPr>
              <a:tblGrid>
                <a:gridCol w="1844040"/>
                <a:gridCol w="1844040"/>
                <a:gridCol w="1844040"/>
                <a:gridCol w="1844040"/>
                <a:gridCol w="1844040"/>
                <a:gridCol w="1844040"/>
              </a:tblGrid>
              <a:tr h="384048">
                <a:tc>
                  <a:txBody>
                    <a:bodyPr/>
                    <a:lstStyle/>
                    <a:p>
                      <a:pPr algn="ctr"/>
                      <a:r>
                        <a:rPr sz="1100" b="1">
                          <a:solidFill>
                            <a:srgbClr val="FFFFFF"/>
                          </a:solidFill>
                          <a:latin typeface="Calibri"/>
                        </a:rPr>
                        <a:t>Capability</a:t>
                      </a:r>
                    </a:p>
                  </a:txBody>
                  <a:tcPr anchor="ctr">
                    <a:solidFill>
                      <a:srgbClr val="144E7D"/>
                    </a:solidFill>
                  </a:tcPr>
                </a:tc>
                <a:tc>
                  <a:txBody>
                    <a:bodyPr/>
                    <a:lstStyle/>
                    <a:p>
                      <a:pPr algn="ctr"/>
                      <a:r>
                        <a:rPr sz="1100" b="1">
                          <a:solidFill>
                            <a:srgbClr val="FFFFFF"/>
                          </a:solidFill>
                          <a:latin typeface="Calibri"/>
                        </a:rPr>
                        <a:t>Ours</a:t>
                      </a:r>
                    </a:p>
                  </a:txBody>
                  <a:tcPr anchor="ctr">
                    <a:solidFill>
                      <a:srgbClr val="144E7D"/>
                    </a:solidFill>
                  </a:tcPr>
                </a:tc>
                <a:tc>
                  <a:txBody>
                    <a:bodyPr/>
                    <a:lstStyle/>
                    <a:p>
                      <a:pPr algn="ctr"/>
                      <a:r>
                        <a:rPr sz="1100" b="1">
                          <a:solidFill>
                            <a:srgbClr val="FFFFFF"/>
                          </a:solidFill>
                          <a:latin typeface="Calibri"/>
                        </a:rPr>
                        <a:t>Isl-Knit</a:t>
                      </a:r>
                    </a:p>
                  </a:txBody>
                  <a:tcPr anchor="ctr">
                    <a:solidFill>
                      <a:srgbClr val="144E7D"/>
                    </a:solidFill>
                  </a:tcPr>
                </a:tc>
                <a:tc>
                  <a:txBody>
                    <a:bodyPr/>
                    <a:lstStyle/>
                    <a:p>
                      <a:pPr algn="ctr"/>
                      <a:r>
                        <a:rPr sz="1100" b="1">
                          <a:solidFill>
                            <a:srgbClr val="FFFFFF"/>
                          </a:solidFill>
                          <a:latin typeface="Calibri"/>
                        </a:rPr>
                        <a:t>FabricSpot</a:t>
                      </a:r>
                    </a:p>
                  </a:txBody>
                  <a:tcPr anchor="ctr">
                    <a:solidFill>
                      <a:srgbClr val="144E7D"/>
                    </a:solidFill>
                  </a:tcPr>
                </a:tc>
                <a:tc>
                  <a:txBody>
                    <a:bodyPr/>
                    <a:lstStyle/>
                    <a:p>
                      <a:pPr algn="ctr"/>
                      <a:r>
                        <a:rPr sz="1100" b="1">
                          <a:solidFill>
                            <a:srgbClr val="FFFFFF"/>
                          </a:solidFill>
                          <a:latin typeface="Calibri"/>
                        </a:rPr>
                        <a:t>v1-base</a:t>
                      </a:r>
                    </a:p>
                  </a:txBody>
                  <a:tcPr anchor="ctr">
                    <a:solidFill>
                      <a:srgbClr val="144E7D"/>
                    </a:solidFill>
                  </a:tcPr>
                </a:tc>
                <a:tc>
                  <a:txBody>
                    <a:bodyPr/>
                    <a:lstStyle/>
                    <a:p>
                      <a:pPr algn="ctr"/>
                      <a:r>
                        <a:rPr sz="1100" b="1">
                          <a:solidFill>
                            <a:srgbClr val="FFFFFF"/>
                          </a:solidFill>
                          <a:latin typeface="Calibri"/>
                        </a:rPr>
                        <a:t>Note</a:t>
                      </a:r>
                    </a:p>
                  </a:txBody>
                  <a:tcPr anchor="ctr">
                    <a:solidFill>
                      <a:srgbClr val="144E7D"/>
                    </a:solidFill>
                  </a:tcPr>
                </a:tc>
              </a:tr>
              <a:tr h="384048">
                <a:tc>
                  <a:txBody>
                    <a:bodyPr/>
                    <a:lstStyle/>
                    <a:p>
                      <a:pPr algn="ctr"/>
                      <a:r>
                        <a:rPr sz="1100">
                          <a:solidFill>
                            <a:srgbClr val="144E7D"/>
                          </a:solidFill>
                          <a:latin typeface="Calibri"/>
                        </a:rPr>
                        <a:t>Roll-disjoint Split</a:t>
                      </a:r>
                    </a:p>
                  </a:txBody>
                  <a:tcPr anchor="ctr">
                    <a:solidFill>
                      <a:srgbClr val="FFFFFF"/>
                    </a:solidFill>
                  </a:tcPr>
                </a:tc>
                <a:tc>
                  <a:txBody>
                    <a:bodyPr/>
                    <a:lstStyle/>
                    <a:p>
                      <a:pPr algn="ctr"/>
                      <a:r>
                        <a:rPr sz="1100">
                          <a:solidFill>
                            <a:srgbClr val="144E7D"/>
                          </a:solidFill>
                          <a:latin typeface="Calibri"/>
                        </a:rPr>
                        <a:t>✓</a:t>
                      </a:r>
                    </a:p>
                  </a:txBody>
                  <a:tcPr anchor="ctr">
                    <a:solidFill>
                      <a:srgbClr val="FFFFFF"/>
                    </a:solidFill>
                  </a:tcPr>
                </a:tc>
                <a:tc>
                  <a:txBody>
                    <a:bodyPr/>
                    <a:lstStyle/>
                    <a:p>
                      <a:pPr algn="ctr"/>
                      <a:r>
                        <a:rPr sz="1100">
                          <a:solidFill>
                            <a:srgbClr val="144E7D"/>
                          </a:solidFill>
                          <a:latin typeface="Calibri"/>
                        </a:rPr>
                        <a:t>—</a:t>
                      </a:r>
                    </a:p>
                  </a:txBody>
                  <a:tcPr anchor="ctr">
                    <a:solidFill>
                      <a:srgbClr val="FFFFFF"/>
                    </a:solidFill>
                  </a:tcPr>
                </a:tc>
                <a:tc>
                  <a:txBody>
                    <a:bodyPr/>
                    <a:lstStyle/>
                    <a:p>
                      <a:pPr algn="ctr"/>
                      <a:r>
                        <a:rPr sz="1100">
                          <a:solidFill>
                            <a:srgbClr val="144E7D"/>
                          </a:solidFill>
                          <a:latin typeface="Calibri"/>
                        </a:rPr>
                        <a:t>—</a:t>
                      </a:r>
                    </a:p>
                  </a:txBody>
                  <a:tcPr anchor="ctr">
                    <a:solidFill>
                      <a:srgbClr val="FFFFFF"/>
                    </a:solidFill>
                  </a:tcPr>
                </a:tc>
                <a:tc>
                  <a:txBody>
                    <a:bodyPr wrap="square" lIns="54864" rIns="54864" tIns="27432" bIns="27432" anchor="ctr"/>
                    <a:lstStyle/>
                    <a:p>
                      <a:pPr algn="ctr"/>
                      <a:r>
                        <a:rPr sz="1100" b="0">
                          <a:solidFill>
                            <a:srgbClr val="5B6570"/>
                          </a:solidFill>
                          <a:latin typeface="Calibri"/>
                        </a:rPr>
                        <a:t>—</a:t>
                      </a:r>
                    </a:p>
                  </a:txBody>
                  <a:tcPr anchor="ctr">
                    <a:solidFill>
                      <a:srgbClr val="FFFFFF"/>
                    </a:solidFill>
                  </a:tcPr>
                </a:tc>
                <a:tc>
                  <a:txBody>
                    <a:bodyPr wrap="square" lIns="54864" rIns="54864" tIns="27432" bIns="27432" anchor="ctr"/>
                    <a:lstStyle/>
                    <a:p>
                      <a:pPr algn="l"/>
                      <a:r>
                        <a:rPr sz="1100" b="0">
                          <a:solidFill>
                            <a:srgbClr val="5B6570"/>
                          </a:solidFill>
                          <a:latin typeface="Calibri"/>
                        </a:rPr>
                        <a:t>Audit 2081/468</a:t>
                      </a:r>
                    </a:p>
                  </a:txBody>
                  <a:tcPr anchor="ctr">
                    <a:solidFill>
                      <a:srgbClr val="FFFFFF"/>
                    </a:solidFill>
                  </a:tcPr>
                </a:tc>
              </a:tr>
              <a:tr h="384048">
                <a:tc>
                  <a:txBody>
                    <a:bodyPr/>
                    <a:lstStyle/>
                    <a:p>
                      <a:pPr algn="ctr"/>
                      <a:r>
                        <a:rPr sz="1100">
                          <a:solidFill>
                            <a:srgbClr val="144E7D"/>
                          </a:solidFill>
                          <a:latin typeface="Calibri"/>
                        </a:rPr>
                        <a:t>4-Point Grading</a:t>
                      </a:r>
                    </a:p>
                  </a:txBody>
                  <a:tcPr anchor="ctr">
                    <a:solidFill>
                      <a:srgbClr val="FAE7EF"/>
                    </a:solidFill>
                  </a:tcPr>
                </a:tc>
                <a:tc>
                  <a:txBody>
                    <a:bodyPr/>
                    <a:lstStyle/>
                    <a:p>
                      <a:pPr algn="ctr"/>
                      <a:r>
                        <a:rPr sz="1100">
                          <a:solidFill>
                            <a:srgbClr val="144E7D"/>
                          </a:solidFill>
                          <a:latin typeface="Calibri"/>
                        </a:rPr>
                        <a:t>✓</a:t>
                      </a:r>
                    </a:p>
                  </a:txBody>
                  <a:tcPr anchor="ctr">
                    <a:solidFill>
                      <a:srgbClr val="FAE7EF"/>
                    </a:solidFill>
                  </a:tcPr>
                </a:tc>
                <a:tc>
                  <a:txBody>
                    <a:bodyPr/>
                    <a:lstStyle/>
                    <a:p>
                      <a:pPr algn="ctr"/>
                      <a:r>
                        <a:rPr sz="1100">
                          <a:solidFill>
                            <a:srgbClr val="144E7D"/>
                          </a:solidFill>
                          <a:latin typeface="Calibri"/>
                        </a:rPr>
                        <a:t>✓</a:t>
                      </a:r>
                    </a:p>
                  </a:txBody>
                  <a:tcPr anchor="ctr">
                    <a:solidFill>
                      <a:srgbClr val="FAE7EF"/>
                    </a:solidFill>
                  </a:tcPr>
                </a:tc>
                <a:tc>
                  <a:txBody>
                    <a:bodyPr/>
                    <a:lstStyle/>
                    <a:p>
                      <a:pPr algn="ctr"/>
                      <a:r>
                        <a:rPr sz="1100">
                          <a:solidFill>
                            <a:srgbClr val="144E7D"/>
                          </a:solidFill>
                          <a:latin typeface="Calibri"/>
                        </a:rPr>
                        <a:t>—</a:t>
                      </a:r>
                    </a:p>
                  </a:txBody>
                  <a:tcPr anchor="ctr">
                    <a:solidFill>
                      <a:srgbClr val="FAE7EF"/>
                    </a:solidFill>
                  </a:tcPr>
                </a:tc>
                <a:tc>
                  <a:txBody>
                    <a:bodyPr wrap="square" lIns="54864" rIns="54864" tIns="27432" bIns="27432" anchor="ctr"/>
                    <a:lstStyle/>
                    <a:p>
                      <a:pPr algn="ctr"/>
                      <a:r>
                        <a:rPr sz="1100" b="0">
                          <a:solidFill>
                            <a:srgbClr val="5B6570"/>
                          </a:solidFill>
                          <a:latin typeface="Calibri"/>
                        </a:rPr>
                        <a:t>—</a:t>
                      </a:r>
                    </a:p>
                  </a:txBody>
                  <a:tcPr anchor="ctr">
                    <a:solidFill>
                      <a:srgbClr val="FAE7EF"/>
                    </a:solidFill>
                  </a:tcPr>
                </a:tc>
                <a:tc>
                  <a:txBody>
                    <a:bodyPr wrap="square" lIns="54864" rIns="54864" tIns="27432" bIns="27432" anchor="ctr"/>
                    <a:lstStyle/>
                    <a:p>
                      <a:pPr algn="l"/>
                      <a:r>
                        <a:rPr sz="1100" b="0">
                          <a:solidFill>
                            <a:srgbClr val="5B6570"/>
                          </a:solidFill>
                          <a:latin typeface="Calibri"/>
                        </a:rPr>
                        <a:t>Four-point grading</a:t>
                      </a:r>
                    </a:p>
                  </a:txBody>
                  <a:tcPr anchor="ctr">
                    <a:solidFill>
                      <a:srgbClr val="FAE7EF"/>
                    </a:solidFill>
                  </a:tcPr>
                </a:tc>
              </a:tr>
              <a:tr h="384048">
                <a:tc>
                  <a:txBody>
                    <a:bodyPr/>
                    <a:lstStyle/>
                    <a:p>
                      <a:pPr algn="ctr"/>
                      <a:r>
                        <a:rPr sz="1100">
                          <a:solidFill>
                            <a:srgbClr val="144E7D"/>
                          </a:solidFill>
                          <a:latin typeface="Calibri"/>
                        </a:rPr>
                        <a:t>Edge Deployment</a:t>
                      </a:r>
                    </a:p>
                  </a:txBody>
                  <a:tcPr anchor="ctr">
                    <a:solidFill>
                      <a:srgbClr val="FFFFFF"/>
                    </a:solidFill>
                  </a:tcPr>
                </a:tc>
                <a:tc>
                  <a:txBody>
                    <a:bodyPr/>
                    <a:lstStyle/>
                    <a:p>
                      <a:pPr algn="ctr"/>
                      <a:r>
                        <a:rPr sz="1100">
                          <a:solidFill>
                            <a:srgbClr val="144E7D"/>
                          </a:solidFill>
                          <a:latin typeface="Calibri"/>
                        </a:rPr>
                        <a:t>✓</a:t>
                      </a:r>
                    </a:p>
                  </a:txBody>
                  <a:tcPr anchor="ctr">
                    <a:solidFill>
                      <a:srgbClr val="FFFFFF"/>
                    </a:solidFill>
                  </a:tcPr>
                </a:tc>
                <a:tc>
                  <a:txBody>
                    <a:bodyPr/>
                    <a:lstStyle/>
                    <a:p>
                      <a:pPr algn="ctr"/>
                      <a:r>
                        <a:rPr sz="1100">
                          <a:solidFill>
                            <a:srgbClr val="144E7D"/>
                          </a:solidFill>
                          <a:latin typeface="Calibri"/>
                        </a:rPr>
                        <a:t>—</a:t>
                      </a:r>
                    </a:p>
                  </a:txBody>
                  <a:tcPr anchor="ctr">
                    <a:solidFill>
                      <a:srgbClr val="FFFFFF"/>
                    </a:solidFill>
                  </a:tcPr>
                </a:tc>
                <a:tc>
                  <a:txBody>
                    <a:bodyPr/>
                    <a:lstStyle/>
                    <a:p>
                      <a:pPr algn="ctr"/>
                      <a:r>
                        <a:rPr sz="1100">
                          <a:solidFill>
                            <a:srgbClr val="144E7D"/>
                          </a:solidFill>
                          <a:latin typeface="Calibri"/>
                        </a:rPr>
                        <a:t>—</a:t>
                      </a:r>
                    </a:p>
                  </a:txBody>
                  <a:tcPr anchor="ctr">
                    <a:solidFill>
                      <a:srgbClr val="FFFFFF"/>
                    </a:solidFill>
                  </a:tcPr>
                </a:tc>
                <a:tc>
                  <a:txBody>
                    <a:bodyPr wrap="square" lIns="54864" rIns="54864" tIns="27432" bIns="27432" anchor="ctr"/>
                    <a:lstStyle/>
                    <a:p>
                      <a:pPr algn="ctr"/>
                      <a:r>
                        <a:rPr sz="1100" b="0">
                          <a:solidFill>
                            <a:srgbClr val="5B6570"/>
                          </a:solidFill>
                          <a:latin typeface="Calibri"/>
                        </a:rPr>
                        <a:t>—</a:t>
                      </a:r>
                    </a:p>
                  </a:txBody>
                  <a:tcPr anchor="ctr">
                    <a:solidFill>
                      <a:srgbClr val="FFFFFF"/>
                    </a:solidFill>
                  </a:tcPr>
                </a:tc>
                <a:tc>
                  <a:txBody>
                    <a:bodyPr wrap="square" lIns="54864" rIns="54864" tIns="27432" bIns="27432" anchor="ctr"/>
                    <a:lstStyle/>
                    <a:p>
                      <a:pPr algn="l"/>
                      <a:r>
                        <a:rPr sz="1100" b="0">
                          <a:solidFill>
                            <a:srgbClr val="5B6570"/>
                          </a:solidFill>
                          <a:latin typeface="Calibri"/>
                        </a:rPr>
                        <a:t>Jetson-class target</a:t>
                      </a:r>
                    </a:p>
                  </a:txBody>
                  <a:tcPr anchor="ctr">
                    <a:solidFill>
                      <a:srgbClr val="FFFFFF"/>
                    </a:solidFill>
                  </a:tcPr>
                </a:tc>
              </a:tr>
              <a:tr h="384048">
                <a:tc>
                  <a:txBody>
                    <a:bodyPr/>
                    <a:lstStyle/>
                    <a:p>
                      <a:pPr algn="ctr"/>
                      <a:r>
                        <a:rPr sz="1100">
                          <a:solidFill>
                            <a:srgbClr val="144E7D"/>
                          </a:solidFill>
                          <a:latin typeface="Calibri"/>
                        </a:rPr>
                        <a:t>Honest Repro</a:t>
                      </a:r>
                    </a:p>
                  </a:txBody>
                  <a:tcPr anchor="ctr">
                    <a:solidFill>
                      <a:srgbClr val="FAE7EF"/>
                    </a:solidFill>
                  </a:tcPr>
                </a:tc>
                <a:tc>
                  <a:txBody>
                    <a:bodyPr/>
                    <a:lstStyle/>
                    <a:p>
                      <a:pPr algn="ctr"/>
                      <a:r>
                        <a:rPr sz="1100">
                          <a:solidFill>
                            <a:srgbClr val="144E7D"/>
                          </a:solidFill>
                          <a:latin typeface="Calibri"/>
                        </a:rPr>
                        <a:t>✓</a:t>
                      </a:r>
                    </a:p>
                  </a:txBody>
                  <a:tcPr anchor="ctr">
                    <a:solidFill>
                      <a:srgbClr val="FAE7EF"/>
                    </a:solidFill>
                  </a:tcPr>
                </a:tc>
                <a:tc>
                  <a:txBody>
                    <a:bodyPr/>
                    <a:lstStyle/>
                    <a:p>
                      <a:pPr algn="ctr"/>
                      <a:r>
                        <a:rPr sz="1100">
                          <a:solidFill>
                            <a:srgbClr val="144E7D"/>
                          </a:solidFill>
                          <a:latin typeface="Calibri"/>
                        </a:rPr>
                        <a:t>—</a:t>
                      </a:r>
                    </a:p>
                  </a:txBody>
                  <a:tcPr anchor="ctr">
                    <a:solidFill>
                      <a:srgbClr val="FAE7EF"/>
                    </a:solidFill>
                  </a:tcPr>
                </a:tc>
                <a:tc>
                  <a:txBody>
                    <a:bodyPr/>
                    <a:lstStyle/>
                    <a:p>
                      <a:pPr algn="ctr"/>
                      <a:r>
                        <a:rPr sz="1100">
                          <a:solidFill>
                            <a:srgbClr val="144E7D"/>
                          </a:solidFill>
                          <a:latin typeface="Calibri"/>
                        </a:rPr>
                        <a:t>—</a:t>
                      </a:r>
                    </a:p>
                  </a:txBody>
                  <a:tcPr anchor="ctr">
                    <a:solidFill>
                      <a:srgbClr val="FAE7EF"/>
                    </a:solidFill>
                  </a:tcPr>
                </a:tc>
                <a:tc>
                  <a:txBody>
                    <a:bodyPr wrap="square" lIns="54864" rIns="54864" tIns="27432" bIns="27432" anchor="ctr"/>
                    <a:lstStyle/>
                    <a:p>
                      <a:pPr algn="ctr"/>
                      <a:r>
                        <a:rPr sz="1100" b="0">
                          <a:solidFill>
                            <a:srgbClr val="5B6570"/>
                          </a:solidFill>
                          <a:latin typeface="Calibri"/>
                        </a:rPr>
                        <a:t>—</a:t>
                      </a:r>
                    </a:p>
                  </a:txBody>
                  <a:tcPr anchor="ctr">
                    <a:solidFill>
                      <a:srgbClr val="FAE7EF"/>
                    </a:solidFill>
                  </a:tcPr>
                </a:tc>
                <a:tc>
                  <a:txBody>
                    <a:bodyPr wrap="square" lIns="54864" rIns="54864" tIns="27432" bIns="27432" anchor="ctr"/>
                    <a:lstStyle/>
                    <a:p>
                      <a:pPr algn="l"/>
                      <a:r>
                        <a:rPr sz="1100" b="0">
                          <a:solidFill>
                            <a:srgbClr val="5B6570"/>
                          </a:solidFill>
                          <a:latin typeface="Calibri"/>
                        </a:rPr>
                        <a:t>Group-aware split</a:t>
                      </a:r>
                    </a:p>
                  </a:txBody>
                  <a:tcPr anchor="ctr">
                    <a:solidFill>
                      <a:srgbClr val="FAE7EF"/>
                    </a:solidFill>
                  </a:tcPr>
                </a:tc>
              </a:tr>
              <a:tr h="384048">
                <a:tc>
                  <a:txBody>
                    <a:bodyPr/>
                    <a:lstStyle/>
                    <a:p>
                      <a:pPr algn="ctr"/>
                      <a:r>
                        <a:rPr sz="1100">
                          <a:solidFill>
                            <a:srgbClr val="144E7D"/>
                          </a:solidFill>
                          <a:latin typeface="Calibri"/>
                        </a:rPr>
                        <a:t>Lead-time Pred.</a:t>
                      </a:r>
                    </a:p>
                  </a:txBody>
                  <a:tcPr anchor="ctr">
                    <a:solidFill>
                      <a:srgbClr val="FFFFFF"/>
                    </a:solidFill>
                  </a:tcPr>
                </a:tc>
                <a:tc>
                  <a:txBody>
                    <a:bodyPr/>
                    <a:lstStyle/>
                    <a:p>
                      <a:pPr algn="ctr"/>
                      <a:r>
                        <a:rPr sz="1100">
                          <a:solidFill>
                            <a:srgbClr val="144E7D"/>
                          </a:solidFill>
                          <a:latin typeface="Calibri"/>
                        </a:rPr>
                        <a:t>✓</a:t>
                      </a:r>
                    </a:p>
                  </a:txBody>
                  <a:tcPr anchor="ctr">
                    <a:solidFill>
                      <a:srgbClr val="FFFFFF"/>
                    </a:solidFill>
                  </a:tcPr>
                </a:tc>
                <a:tc>
                  <a:txBody>
                    <a:bodyPr/>
                    <a:lstStyle/>
                    <a:p>
                      <a:pPr algn="ctr"/>
                      <a:r>
                        <a:rPr sz="1100">
                          <a:solidFill>
                            <a:srgbClr val="144E7D"/>
                          </a:solidFill>
                          <a:latin typeface="Calibri"/>
                        </a:rPr>
                        <a:t>—</a:t>
                      </a:r>
                    </a:p>
                  </a:txBody>
                  <a:tcPr anchor="ctr">
                    <a:solidFill>
                      <a:srgbClr val="FFFFFF"/>
                    </a:solidFill>
                  </a:tcPr>
                </a:tc>
                <a:tc>
                  <a:txBody>
                    <a:bodyPr/>
                    <a:lstStyle/>
                    <a:p>
                      <a:pPr algn="ctr"/>
                      <a:r>
                        <a:rPr sz="1100">
                          <a:solidFill>
                            <a:srgbClr val="144E7D"/>
                          </a:solidFill>
                          <a:latin typeface="Calibri"/>
                        </a:rPr>
                        <a:t>—</a:t>
                      </a:r>
                    </a:p>
                  </a:txBody>
                  <a:tcPr anchor="ctr">
                    <a:solidFill>
                      <a:srgbClr val="FFFFFF"/>
                    </a:solidFill>
                  </a:tcPr>
                </a:tc>
                <a:tc>
                  <a:txBody>
                    <a:bodyPr wrap="square" lIns="54864" rIns="54864" tIns="27432" bIns="27432" anchor="ctr"/>
                    <a:lstStyle/>
                    <a:p>
                      <a:pPr algn="ctr"/>
                      <a:r>
                        <a:rPr sz="1100" b="0">
                          <a:solidFill>
                            <a:srgbClr val="5B6570"/>
                          </a:solidFill>
                          <a:latin typeface="Calibri"/>
                        </a:rPr>
                        <a:t>—</a:t>
                      </a:r>
                    </a:p>
                  </a:txBody>
                  <a:tcPr anchor="ctr">
                    <a:solidFill>
                      <a:srgbClr val="FFFFFF"/>
                    </a:solidFill>
                  </a:tcPr>
                </a:tc>
                <a:tc>
                  <a:txBody>
                    <a:bodyPr wrap="square" lIns="54864" rIns="54864" tIns="27432" bIns="27432" anchor="ctr"/>
                    <a:lstStyle/>
                    <a:p>
                      <a:pPr algn="l"/>
                      <a:r>
                        <a:rPr sz="1100" b="0">
                          <a:solidFill>
                            <a:srgbClr val="5B6570"/>
                          </a:solidFill>
                          <a:latin typeface="Calibri"/>
                        </a:rPr>
                        <a:t>Vision-to-hours fusion</a:t>
                      </a:r>
                    </a:p>
                  </a:txBody>
                  <a:tcPr anchor="ctr">
                    <a:solidFill>
                      <a:srgbClr val="FFFFFF"/>
                    </a:solidFill>
                  </a:tcPr>
                </a:tc>
              </a:tr>
              <a:tr h="384048">
                <a:tc>
                  <a:txBody>
                    <a:bodyPr wrap="square" lIns="54864" rIns="54864" tIns="27432" bIns="27432" anchor="ctr"/>
                    <a:lstStyle/>
                    <a:p>
                      <a:pPr algn="l"/>
                      <a:r>
                        <a:rPr sz="1100" b="1">
                          <a:solidFill>
                            <a:srgbClr val="FFFFFF"/>
                          </a:solidFill>
                          <a:latin typeface="Calibri"/>
                        </a:rPr>
                        <a:t>Planner Dashboard</a:t>
                      </a:r>
                    </a:p>
                  </a:txBody>
                  <a:tcPr anchor="ctr">
                    <a:solidFill>
                      <a:srgbClr val="FAE7EF"/>
                    </a:solidFill>
                  </a:tcPr>
                </a:tc>
                <a:tc>
                  <a:txBody>
                    <a:bodyPr/>
                    <a:lstStyle/>
                    <a:p>
                      <a:pPr algn="ctr"/>
                      <a:r>
                        <a:rPr sz="1100">
                          <a:solidFill>
                            <a:srgbClr val="144E7D"/>
                          </a:solidFill>
                          <a:latin typeface="Calibri"/>
                        </a:rPr>
                        <a:t>—</a:t>
                      </a:r>
                    </a:p>
                  </a:txBody>
                  <a:tcPr anchor="ctr">
                    <a:solidFill>
                      <a:srgbClr val="FAE7EF"/>
                    </a:solidFill>
                  </a:tcPr>
                </a:tc>
                <a:tc>
                  <a:txBody>
                    <a:bodyPr/>
                    <a:lstStyle/>
                    <a:p>
                      <a:pPr algn="ctr"/>
                      <a:r>
                        <a:rPr sz="1100">
                          <a:solidFill>
                            <a:srgbClr val="144E7D"/>
                          </a:solidFill>
                          <a:latin typeface="Calibri"/>
                        </a:rPr>
                        <a:t>—</a:t>
                      </a:r>
                    </a:p>
                  </a:txBody>
                  <a:tcPr anchor="ctr">
                    <a:solidFill>
                      <a:srgbClr val="FAE7EF"/>
                    </a:solidFill>
                  </a:tcPr>
                </a:tc>
                <a:tc>
                  <a:txBody>
                    <a:bodyPr/>
                    <a:lstStyle/>
                    <a:p>
                      <a:pPr algn="ctr"/>
                      <a:r>
                        <a:rPr sz="1100">
                          <a:solidFill>
                            <a:srgbClr val="144E7D"/>
                          </a:solidFill>
                          <a:latin typeface="Calibri"/>
                        </a:rPr>
                        <a:t>—</a:t>
                      </a:r>
                    </a:p>
                  </a:txBody>
                  <a:tcPr anchor="ctr">
                    <a:solidFill>
                      <a:srgbClr val="FAE7EF"/>
                    </a:solidFill>
                  </a:tcPr>
                </a:tc>
                <a:tc>
                  <a:txBody>
                    <a:bodyPr wrap="square" lIns="54864" rIns="54864" tIns="27432" bIns="27432" anchor="ctr"/>
                    <a:lstStyle/>
                    <a:p>
                      <a:pPr algn="ctr"/>
                      <a:r>
                        <a:rPr sz="1100" b="0">
                          <a:solidFill>
                            <a:srgbClr val="5B6570"/>
                          </a:solidFill>
                          <a:latin typeface="Calibri"/>
                        </a:rPr>
                        <a:t>Planner dashboard</a:t>
                      </a:r>
                    </a:p>
                  </a:txBody>
                  <a:tcPr anchor="ctr">
                    <a:solidFill>
                      <a:srgbClr val="FAE7EF"/>
                    </a:solidFill>
                  </a:tcPr>
                </a:tc>
                <a:tc>
                  <a:txBody>
                    <a:bodyPr/>
                    <a:lstStyle/>
                    <a:p>
                      <a:pPr algn="ctr"/>
                      <a:r>
                        <a:rPr sz="1100">
                          <a:solidFill>
                            <a:srgbClr val="144E7D"/>
                          </a:solidFill>
                          <a:latin typeface="Calibri"/>
                        </a:rPr>
                        <a:t>Mockup</a:t>
                      </a:r>
                    </a:p>
                  </a:txBody>
                  <a:tcPr anchor="ctr">
                    <a:solidFill>
                      <a:srgbClr val="FAE7EF"/>
                    </a:solidFill>
                  </a:tcPr>
                </a:tc>
              </a:tr>
              <a:tr h="384048">
                <a:tc>
                  <a:txBody>
                    <a:bodyPr/>
                    <a:lstStyle/>
                    <a:p>
                      <a:pPr algn="ctr"/>
                      <a:r>
                        <a:rPr sz="1100">
                          <a:solidFill>
                            <a:srgbClr val="144E7D"/>
                          </a:solidFill>
                          <a:latin typeface="Calibri"/>
                        </a:rPr>
                        <a:t>Limitation Slide</a:t>
                      </a:r>
                    </a:p>
                  </a:txBody>
                  <a:tcPr anchor="ctr">
                    <a:solidFill>
                      <a:srgbClr val="FFFFFF"/>
                    </a:solidFill>
                  </a:tcPr>
                </a:tc>
                <a:tc>
                  <a:txBody>
                    <a:bodyPr/>
                    <a:lstStyle/>
                    <a:p>
                      <a:pPr algn="ctr"/>
                      <a:r>
                        <a:rPr sz="1100">
                          <a:solidFill>
                            <a:srgbClr val="144E7D"/>
                          </a:solidFill>
                          <a:latin typeface="Calibri"/>
                        </a:rPr>
                        <a:t>✓</a:t>
                      </a:r>
                    </a:p>
                  </a:txBody>
                  <a:tcPr anchor="ctr">
                    <a:solidFill>
                      <a:srgbClr val="FFFFFF"/>
                    </a:solidFill>
                  </a:tcPr>
                </a:tc>
                <a:tc>
                  <a:txBody>
                    <a:bodyPr/>
                    <a:lstStyle/>
                    <a:p>
                      <a:pPr algn="ctr"/>
                      <a:r>
                        <a:rPr sz="1100">
                          <a:solidFill>
                            <a:srgbClr val="144E7D"/>
                          </a:solidFill>
                          <a:latin typeface="Calibri"/>
                        </a:rPr>
                        <a:t>—</a:t>
                      </a:r>
                    </a:p>
                  </a:txBody>
                  <a:tcPr anchor="ctr">
                    <a:solidFill>
                      <a:srgbClr val="FFFFFF"/>
                    </a:solidFill>
                  </a:tcPr>
                </a:tc>
                <a:tc>
                  <a:txBody>
                    <a:bodyPr/>
                    <a:lstStyle/>
                    <a:p>
                      <a:pPr algn="ctr"/>
                      <a:r>
                        <a:rPr sz="1100">
                          <a:solidFill>
                            <a:srgbClr val="144E7D"/>
                          </a:solidFill>
                          <a:latin typeface="Calibri"/>
                        </a:rPr>
                        <a:t>—</a:t>
                      </a:r>
                    </a:p>
                  </a:txBody>
                  <a:tcPr anchor="ctr">
                    <a:solidFill>
                      <a:srgbClr val="FFFFFF"/>
                    </a:solidFill>
                  </a:tcPr>
                </a:tc>
                <a:tc>
                  <a:txBody>
                    <a:bodyPr wrap="square" lIns="54864" rIns="54864" tIns="27432" bIns="27432" anchor="ctr"/>
                    <a:lstStyle/>
                    <a:p>
                      <a:pPr algn="ctr"/>
                      <a:r>
                        <a:rPr sz="1100" b="0">
                          <a:solidFill>
                            <a:srgbClr val="5B6570"/>
                          </a:solidFill>
                          <a:latin typeface="Calibri"/>
                        </a:rPr>
                        <a:t>—</a:t>
                      </a:r>
                    </a:p>
                  </a:txBody>
                  <a:tcPr anchor="ctr">
                    <a:solidFill>
                      <a:srgbClr val="FFFFFF"/>
                    </a:solidFill>
                  </a:tcPr>
                </a:tc>
                <a:tc>
                  <a:txBody>
                    <a:bodyPr wrap="square" lIns="54864" rIns="54864" tIns="27432" bIns="27432" anchor="ctr"/>
                    <a:lstStyle/>
                    <a:p>
                      <a:pPr algn="l"/>
                      <a:r>
                        <a:rPr sz="1100" b="0">
                          <a:solidFill>
                            <a:srgbClr val="5B6570"/>
                          </a:solidFill>
                          <a:latin typeface="Calibri"/>
                        </a:rPr>
                        <a:t>Explicit</a:t>
                      </a:r>
                    </a:p>
                  </a:txBody>
                  <a:tcPr anchor="ctr">
                    <a:solidFill>
                      <a:srgbClr val="FFFFFF"/>
                    </a:solidFill>
                  </a:tcPr>
                </a:tc>
              </a:tr>
            </a:tbl>
          </a:graphicData>
        </a:graphic>
      </p:graphicFrame>
      <p:sp>
        <p:nvSpPr>
          <p:cNvPr id="4" name="TextBox 3"/>
          <p:cNvSpPr txBox="1"/>
          <p:nvPr/>
        </p:nvSpPr>
        <p:spPr>
          <a:xfrm>
            <a:off x="548640" y="6419088"/>
            <a:ext cx="9144000" cy="274320"/>
          </a:xfrm>
          <a:prstGeom prst="rect">
            <a:avLst/>
          </a:prstGeom>
          <a:noFill/>
        </p:spPr>
        <p:txBody>
          <a:bodyPr wrap="none">
            <a:spAutoFit/>
          </a:bodyPr>
          <a:lstStyle/>
          <a:p>
            <a:r>
              <a:rPr sz="900">
                <a:solidFill>
                  <a:srgbClr val="8A8F98"/>
                </a:solidFill>
                <a:latin typeface="Calibri"/>
              </a:rPr>
              <a:t>Defect-to-Delivery  |  FYDP-I  •  Group: 262-034</a:t>
            </a:r>
          </a:p>
        </p:txBody>
      </p:sp>
      <p:sp>
        <p:nvSpPr>
          <p:cNvPr id="5" name="TextBox 4"/>
          <p:cNvSpPr txBox="1"/>
          <p:nvPr/>
        </p:nvSpPr>
        <p:spPr>
          <a:xfrm>
            <a:off x="10972800" y="6419088"/>
            <a:ext cx="640080" cy="274320"/>
          </a:xfrm>
          <a:prstGeom prst="rect">
            <a:avLst/>
          </a:prstGeom>
          <a:noFill/>
        </p:spPr>
        <p:txBody>
          <a:bodyPr wrap="none">
            <a:spAutoFit/>
          </a:bodyPr>
          <a:lstStyle/>
          <a:p>
            <a:pPr algn="r"/>
            <a:r>
              <a:rPr sz="900">
                <a:solidFill>
                  <a:srgbClr val="8A8F98"/>
                </a:solidFill>
                <a:latin typeface="Calibri"/>
              </a:rPr>
              <a:t>13 / 35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7EF"/>
        </a:solidFill>
        <a:effectLst/>
      </p:bgPr>
    </p:bg>
    <p:spTree>
      <p:nvGrpSpPr>
        <p:cNvPr id="1" name=""/>
        <p:cNvGrpSpPr/>
        <p:nvPr/>
      </p:nvGrpSpPr>
      <p:grpSpPr/>
      <p:sp>
        <p:nvSpPr>
          <p:cNvPr id="2" name="TextBox 1"/>
          <p:cNvSpPr txBox="1"/>
          <p:nvPr/>
        </p:nvSpPr>
        <p:spPr>
          <a:xfrm>
            <a:off x="548640" y="6419088"/>
            <a:ext cx="9144000" cy="274320"/>
          </a:xfrm>
          <a:prstGeom prst="rect">
            <a:avLst/>
          </a:prstGeom>
          <a:noFill/>
        </p:spPr>
        <p:txBody>
          <a:bodyPr wrap="square">
            <a:spAutoFit/>
          </a:bodyPr>
          <a:lstStyle/>
          <a:p>
            <a:pPr algn="l"/>
            <a:r>
              <a:rPr sz="900" b="0" i="0">
                <a:solidFill>
                  <a:srgbClr val="8A8F98"/>
                </a:solidFill>
                <a:latin typeface="Calibri"/>
              </a:rPr>
              <a:t>Defect-to-Delivery  |  FYDP-I  •  Group: 262-034</a:t>
            </a:r>
          </a:p>
        </p:txBody>
      </p:sp>
      <p:sp>
        <p:nvSpPr>
          <p:cNvPr id="3" name="TextBox 2"/>
          <p:cNvSpPr txBox="1"/>
          <p:nvPr/>
        </p:nvSpPr>
        <p:spPr>
          <a:xfrm>
            <a:off x="10972800" y="6419088"/>
            <a:ext cx="640080" cy="274320"/>
          </a:xfrm>
          <a:prstGeom prst="rect">
            <a:avLst/>
          </a:prstGeom>
          <a:noFill/>
        </p:spPr>
        <p:txBody>
          <a:bodyPr wrap="none">
            <a:spAutoFit/>
          </a:bodyPr>
          <a:lstStyle/>
          <a:p>
            <a:pPr algn="r"/>
            <a:r>
              <a:rPr sz="900">
                <a:solidFill>
                  <a:srgbClr val="8A8F98"/>
                </a:solidFill>
                <a:latin typeface="Calibri"/>
              </a:rPr>
              <a:t>14 / 35</a:t>
            </a:r>
          </a:p>
        </p:txBody>
      </p:sp>
      <p:sp>
        <p:nvSpPr>
          <p:cNvPr id="4" name="Rectangle 3"/>
          <p:cNvSpPr/>
          <p:nvPr/>
        </p:nvSpPr>
        <p:spPr>
          <a:xfrm>
            <a:off x="0" y="0"/>
            <a:ext cx="12188952" cy="64008"/>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20040"/>
            <a:ext cx="11064240" cy="822960"/>
          </a:xfrm>
          <a:prstGeom prst="rect">
            <a:avLst/>
          </a:prstGeom>
          <a:noFill/>
        </p:spPr>
        <p:txBody>
          <a:bodyPr wrap="square">
            <a:spAutoFit/>
          </a:bodyPr>
          <a:lstStyle/>
          <a:p>
            <a:pPr algn="l"/>
            <a:r>
              <a:rPr sz="3400" b="1" i="0">
                <a:solidFill>
                  <a:srgbClr val="144E4C"/>
                </a:solidFill>
                <a:latin typeface="Georgia"/>
              </a:rPr>
              <a:t>Requirement Analysis</a:t>
            </a:r>
          </a:p>
        </p:txBody>
      </p:sp>
      <p:sp>
        <p:nvSpPr>
          <p:cNvPr id="6" name="Rectangle 5"/>
          <p:cNvSpPr/>
          <p:nvPr/>
        </p:nvSpPr>
        <p:spPr>
          <a:xfrm>
            <a:off x="566928" y="1078992"/>
            <a:ext cx="1005840" cy="50292"/>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eq_functional.png"/>
          <p:cNvPicPr>
            <a:picLocks noChangeAspect="1"/>
          </p:cNvPicPr>
          <p:nvPr/>
        </p:nvPicPr>
        <p:blipFill>
          <a:blip r:embed="rId2"/>
          <a:stretch>
            <a:fillRect/>
          </a:stretch>
        </p:blipFill>
        <p:spPr>
          <a:xfrm>
            <a:off x="320040" y="1463040"/>
            <a:ext cx="5623560" cy="3566160"/>
          </a:xfrm>
          <a:prstGeom prst="rect">
            <a:avLst/>
          </a:prstGeom>
        </p:spPr>
      </p:pic>
      <p:pic>
        <p:nvPicPr>
          <p:cNvPr id="8" name="Picture 7" descr="req_nonfunctional.png"/>
          <p:cNvPicPr>
            <a:picLocks noChangeAspect="1"/>
          </p:cNvPicPr>
          <p:nvPr/>
        </p:nvPicPr>
        <p:blipFill>
          <a:blip r:embed="rId3"/>
          <a:stretch>
            <a:fillRect/>
          </a:stretch>
        </p:blipFill>
        <p:spPr>
          <a:xfrm>
            <a:off x="6245352" y="1463040"/>
            <a:ext cx="5623560" cy="3566160"/>
          </a:xfrm>
          <a:prstGeom prst="rect">
            <a:avLst/>
          </a:prstGeom>
        </p:spPr>
      </p:pic>
      <p:sp>
        <p:nvSpPr>
          <p:cNvPr id="9" name="TextBox 8"/>
          <p:cNvSpPr txBox="1"/>
          <p:nvPr/>
        </p:nvSpPr>
        <p:spPr>
          <a:xfrm>
            <a:off x="320040" y="5074920"/>
            <a:ext cx="5623560" cy="411480"/>
          </a:xfrm>
          <a:prstGeom prst="rect">
            <a:avLst/>
          </a:prstGeom>
          <a:noFill/>
        </p:spPr>
        <p:txBody>
          <a:bodyPr wrap="square" anchor="ctr">
            <a:spAutoFit/>
          </a:bodyPr>
          <a:lstStyle/>
          <a:p>
            <a:pPr algn="ctr"/>
            <a:r>
              <a:rPr sz="1400" b="1" i="0">
                <a:solidFill>
                  <a:srgbClr val="144E4C"/>
                </a:solidFill>
                <a:latin typeface="Calibri"/>
              </a:rPr>
              <a:t>Functional Requirements (FR1–FR7)</a:t>
            </a:r>
          </a:p>
        </p:txBody>
      </p:sp>
      <p:sp>
        <p:nvSpPr>
          <p:cNvPr id="10" name="TextBox 9"/>
          <p:cNvSpPr txBox="1"/>
          <p:nvPr/>
        </p:nvSpPr>
        <p:spPr>
          <a:xfrm>
            <a:off x="6245352" y="5074920"/>
            <a:ext cx="5623560" cy="411480"/>
          </a:xfrm>
          <a:prstGeom prst="rect">
            <a:avLst/>
          </a:prstGeom>
          <a:noFill/>
        </p:spPr>
        <p:txBody>
          <a:bodyPr wrap="square" anchor="ctr">
            <a:spAutoFit/>
          </a:bodyPr>
          <a:lstStyle/>
          <a:p>
            <a:pPr algn="ctr"/>
            <a:r>
              <a:rPr sz="1400" b="1" i="0">
                <a:solidFill>
                  <a:srgbClr val="144E4C"/>
                </a:solidFill>
                <a:latin typeface="Calibri"/>
              </a:rPr>
              <a:t>Non-Functional Requirements (NFR1–NFR5)</a:t>
            </a:r>
          </a:p>
        </p:txBody>
      </p:sp>
      <p:sp>
        <p:nvSpPr>
          <p:cNvPr id="11" name="TextBox 10"/>
          <p:cNvSpPr txBox="1"/>
          <p:nvPr/>
        </p:nvSpPr>
        <p:spPr>
          <a:xfrm>
            <a:off x="548640" y="5532120"/>
            <a:ext cx="11064240" cy="731520"/>
          </a:xfrm>
          <a:prstGeom prst="rect">
            <a:avLst/>
          </a:prstGeom>
          <a:noFill/>
        </p:spPr>
        <p:txBody>
          <a:bodyPr wrap="square">
            <a:spAutoFit/>
          </a:bodyPr>
          <a:lstStyle/>
          <a:p>
            <a:pPr algn="l">
              <a:spcBef>
                <a:spcPts val="0"/>
              </a:spcBef>
              <a:spcAft>
                <a:spcPts val="800"/>
              </a:spcAft>
            </a:pPr>
            <a:r>
              <a:rPr sz="1300" b="0">
                <a:solidFill>
                  <a:srgbClr val="5B6570"/>
                </a:solidFill>
                <a:latin typeface="Calibri"/>
              </a:rPr>
              <a:t>▪  Report Table 3.1 lists 7 functional and 5 non-functional requirements, mapped here as FR1–FR7 and NFR1–NFR5 (Report §3.1); four-point grading per §3.2.8.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7EF"/>
        </a:solidFill>
        <a:effectLst/>
      </p:bgPr>
    </p:bg>
    <p:spTree>
      <p:nvGrpSpPr>
        <p:cNvPr id="1" name=""/>
        <p:cNvGrpSpPr/>
        <p:nvPr/>
      </p:nvGrpSpPr>
      <p:grpSpPr/>
      <p:sp>
        <p:nvSpPr>
          <p:cNvPr id="2" name="TextBox 1"/>
          <p:cNvSpPr txBox="1"/>
          <p:nvPr/>
        </p:nvSpPr>
        <p:spPr>
          <a:xfrm>
            <a:off x="548640" y="6419088"/>
            <a:ext cx="9144000" cy="274320"/>
          </a:xfrm>
          <a:prstGeom prst="rect">
            <a:avLst/>
          </a:prstGeom>
          <a:noFill/>
        </p:spPr>
        <p:txBody>
          <a:bodyPr wrap="square">
            <a:spAutoFit/>
          </a:bodyPr>
          <a:lstStyle/>
          <a:p>
            <a:pPr algn="l"/>
            <a:r>
              <a:rPr sz="900" b="0" i="0">
                <a:solidFill>
                  <a:srgbClr val="8A8F98"/>
                </a:solidFill>
                <a:latin typeface="Calibri"/>
              </a:rPr>
              <a:t>Defect-to-Delivery  |  FYDP-I  •  Group: 262-034</a:t>
            </a:r>
          </a:p>
        </p:txBody>
      </p:sp>
      <p:sp>
        <p:nvSpPr>
          <p:cNvPr id="3" name="TextBox 2"/>
          <p:cNvSpPr txBox="1"/>
          <p:nvPr/>
        </p:nvSpPr>
        <p:spPr>
          <a:xfrm>
            <a:off x="10972800" y="6419088"/>
            <a:ext cx="640080" cy="274320"/>
          </a:xfrm>
          <a:prstGeom prst="rect">
            <a:avLst/>
          </a:prstGeom>
          <a:noFill/>
        </p:spPr>
        <p:txBody>
          <a:bodyPr wrap="none">
            <a:spAutoFit/>
          </a:bodyPr>
          <a:lstStyle/>
          <a:p>
            <a:pPr algn="r"/>
            <a:r>
              <a:rPr sz="900">
                <a:solidFill>
                  <a:srgbClr val="8A8F98"/>
                </a:solidFill>
                <a:latin typeface="Calibri"/>
              </a:rPr>
              <a:t>15 / 35</a:t>
            </a:r>
          </a:p>
        </p:txBody>
      </p:sp>
      <p:sp>
        <p:nvSpPr>
          <p:cNvPr id="4" name="Rectangle 3"/>
          <p:cNvSpPr/>
          <p:nvPr/>
        </p:nvSpPr>
        <p:spPr>
          <a:xfrm>
            <a:off x="0" y="0"/>
            <a:ext cx="12188952" cy="64008"/>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20040"/>
            <a:ext cx="11064240" cy="822960"/>
          </a:xfrm>
          <a:prstGeom prst="rect">
            <a:avLst/>
          </a:prstGeom>
          <a:noFill/>
        </p:spPr>
        <p:txBody>
          <a:bodyPr wrap="square">
            <a:spAutoFit/>
          </a:bodyPr>
          <a:lstStyle/>
          <a:p>
            <a:pPr algn="l"/>
            <a:r>
              <a:rPr sz="3400" b="1" i="0">
                <a:solidFill>
                  <a:srgbClr val="144E4C"/>
                </a:solidFill>
                <a:latin typeface="Georgia"/>
              </a:rPr>
              <a:t>Dataset: Classes &amp; Audited Composition (Tables 3.2, 3.3)</a:t>
            </a:r>
          </a:p>
        </p:txBody>
      </p:sp>
      <p:sp>
        <p:nvSpPr>
          <p:cNvPr id="6" name="Rectangle 5"/>
          <p:cNvSpPr/>
          <p:nvPr/>
        </p:nvSpPr>
        <p:spPr>
          <a:xfrm>
            <a:off x="566928" y="1078992"/>
            <a:ext cx="1005840" cy="50292"/>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463040"/>
          <a:ext cx="6309360" cy="3968496"/>
        </p:xfrm>
        <a:graphic>
          <a:graphicData uri="http://schemas.openxmlformats.org/drawingml/2006/table">
            <a:tbl>
              <a:tblPr firstRow="1" bandRow="1">
                <a:tableStyleId>{5C22544A-7EE6-4342-B048-85BDC9FD1C3A}</a:tableStyleId>
              </a:tblPr>
              <a:tblGrid>
                <a:gridCol w="1828800"/>
                <a:gridCol w="3291840"/>
                <a:gridCol w="1188720"/>
              </a:tblGrid>
              <a:tr h="566928">
                <a:tc>
                  <a:txBody>
                    <a:bodyPr/>
                    <a:lstStyle/>
                    <a:p>
                      <a:pPr algn="ctr"/>
                      <a:r>
                        <a:rPr sz="1450" b="1" i="0">
                          <a:solidFill>
                            <a:srgbClr val="FFFFFF"/>
                          </a:solidFill>
                          <a:latin typeface="Calibri"/>
                        </a:rPr>
                        <a:t>Class</a:t>
                      </a:r>
                    </a:p>
                  </a:txBody>
                  <a:tcPr anchor="ctr" marL="73152" marR="73152">
                    <a:solidFill>
                      <a:srgbClr val="144E4C"/>
                    </a:solidFill>
                  </a:tcPr>
                </a:tc>
                <a:tc>
                  <a:txBody>
                    <a:bodyPr/>
                    <a:lstStyle/>
                    <a:p>
                      <a:pPr algn="ctr"/>
                      <a:r>
                        <a:rPr sz="1450" b="1" i="0">
                          <a:solidFill>
                            <a:srgbClr val="FFFFFF"/>
                          </a:solidFill>
                          <a:latin typeface="Calibri"/>
                        </a:rPr>
                        <a:t>Description</a:t>
                      </a:r>
                    </a:p>
                  </a:txBody>
                  <a:tcPr anchor="ctr" marL="73152" marR="73152">
                    <a:solidFill>
                      <a:srgbClr val="144E4C"/>
                    </a:solidFill>
                  </a:tcPr>
                </a:tc>
                <a:tc>
                  <a:txBody>
                    <a:bodyPr/>
                    <a:lstStyle/>
                    <a:p>
                      <a:pPr algn="ctr"/>
                      <a:r>
                        <a:rPr sz="1450" b="1" i="0">
                          <a:solidFill>
                            <a:srgbClr val="FFFFFF"/>
                          </a:solidFill>
                          <a:latin typeface="Calibri"/>
                        </a:rPr>
                        <a:t>Images</a:t>
                      </a:r>
                    </a:p>
                  </a:txBody>
                  <a:tcPr anchor="ctr" marL="73152" marR="73152">
                    <a:solidFill>
                      <a:srgbClr val="144E4C"/>
                    </a:solidFill>
                  </a:tcPr>
                </a:tc>
              </a:tr>
              <a:tr h="566928">
                <a:tc>
                  <a:txBody>
                    <a:bodyPr/>
                    <a:lstStyle/>
                    <a:p>
                      <a:pPr algn="ctr"/>
                      <a:r>
                        <a:rPr sz="1350" b="0" i="0">
                          <a:solidFill>
                            <a:srgbClr val="1F2937"/>
                          </a:solidFill>
                          <a:latin typeface="Calibri"/>
                        </a:rPr>
                        <a:t>Hole</a:t>
                      </a:r>
                    </a:p>
                  </a:txBody>
                  <a:tcPr anchor="ctr" marL="73152" marR="73152">
                    <a:solidFill>
                      <a:srgbClr val="FFFFFF"/>
                    </a:solidFill>
                  </a:tcPr>
                </a:tc>
                <a:tc>
                  <a:txBody>
                    <a:bodyPr/>
                    <a:lstStyle/>
                    <a:p>
                      <a:pPr algn="ctr"/>
                      <a:r>
                        <a:rPr sz="1350" b="0" i="0">
                          <a:solidFill>
                            <a:srgbClr val="1F2937"/>
                          </a:solidFill>
                          <a:latin typeface="Calibri"/>
                        </a:rPr>
                        <a:t>Missing / Damaged Region</a:t>
                      </a:r>
                    </a:p>
                  </a:txBody>
                  <a:tcPr anchor="ctr" marL="73152" marR="73152">
                    <a:solidFill>
                      <a:srgbClr val="FFFFFF"/>
                    </a:solidFill>
                  </a:tcPr>
                </a:tc>
                <a:tc>
                  <a:txBody>
                    <a:bodyPr/>
                    <a:lstStyle/>
                    <a:p>
                      <a:pPr algn="ctr"/>
                      <a:r>
                        <a:rPr sz="1350" b="0" i="0">
                          <a:solidFill>
                            <a:srgbClr val="1F2937"/>
                          </a:solidFill>
                          <a:latin typeface="Calibri"/>
                        </a:rPr>
                        <a:t>281</a:t>
                      </a:r>
                    </a:p>
                  </a:txBody>
                  <a:tcPr anchor="ctr" marL="73152" marR="73152">
                    <a:solidFill>
                      <a:srgbClr val="FFFFFF"/>
                    </a:solidFill>
                  </a:tcPr>
                </a:tc>
              </a:tr>
              <a:tr h="566928">
                <a:tc>
                  <a:txBody>
                    <a:bodyPr/>
                    <a:lstStyle/>
                    <a:p>
                      <a:pPr algn="ctr"/>
                      <a:r>
                        <a:rPr sz="1350" b="0" i="0">
                          <a:solidFill>
                            <a:srgbClr val="1F2937"/>
                          </a:solidFill>
                          <a:latin typeface="Calibri"/>
                        </a:rPr>
                        <a:t>Horizontal</a:t>
                      </a:r>
                    </a:p>
                  </a:txBody>
                  <a:tcPr anchor="ctr" marL="73152" marR="73152">
                    <a:solidFill>
                      <a:srgbClr val="EFEAD9"/>
                    </a:solidFill>
                  </a:tcPr>
                </a:tc>
                <a:tc>
                  <a:txBody>
                    <a:bodyPr/>
                    <a:lstStyle/>
                    <a:p>
                      <a:pPr algn="ctr"/>
                      <a:r>
                        <a:rPr sz="1350" b="0" i="0">
                          <a:solidFill>
                            <a:srgbClr val="1F2937"/>
                          </a:solidFill>
                          <a:latin typeface="Calibri"/>
                        </a:rPr>
                        <a:t>Horizontal Defect Pattern</a:t>
                      </a:r>
                    </a:p>
                  </a:txBody>
                  <a:tcPr anchor="ctr" marL="73152" marR="73152">
                    <a:solidFill>
                      <a:srgbClr val="EFEAD9"/>
                    </a:solidFill>
                  </a:tcPr>
                </a:tc>
                <a:tc>
                  <a:txBody>
                    <a:bodyPr/>
                    <a:lstStyle/>
                    <a:p>
                      <a:pPr algn="ctr"/>
                      <a:r>
                        <a:rPr sz="1350" b="0" i="0">
                          <a:solidFill>
                            <a:srgbClr val="1F2937"/>
                          </a:solidFill>
                          <a:latin typeface="Calibri"/>
                        </a:rPr>
                        <a:t>136</a:t>
                      </a:r>
                    </a:p>
                  </a:txBody>
                  <a:tcPr anchor="ctr" marL="73152" marR="73152">
                    <a:solidFill>
                      <a:srgbClr val="EFEAD9"/>
                    </a:solidFill>
                  </a:tcPr>
                </a:tc>
              </a:tr>
              <a:tr h="566928">
                <a:tc>
                  <a:txBody>
                    <a:bodyPr/>
                    <a:lstStyle/>
                    <a:p>
                      <a:pPr algn="ctr"/>
                      <a:r>
                        <a:rPr sz="1350" b="0" i="0">
                          <a:solidFill>
                            <a:srgbClr val="1F2937"/>
                          </a:solidFill>
                          <a:latin typeface="Calibri"/>
                        </a:rPr>
                        <a:t>Vertical</a:t>
                      </a:r>
                    </a:p>
                  </a:txBody>
                  <a:tcPr anchor="ctr" marL="73152" marR="73152">
                    <a:solidFill>
                      <a:srgbClr val="FFFFFF"/>
                    </a:solidFill>
                  </a:tcPr>
                </a:tc>
                <a:tc>
                  <a:txBody>
                    <a:bodyPr/>
                    <a:lstStyle/>
                    <a:p>
                      <a:pPr algn="ctr"/>
                      <a:r>
                        <a:rPr sz="1350" b="0" i="0">
                          <a:solidFill>
                            <a:srgbClr val="1F2937"/>
                          </a:solidFill>
                          <a:latin typeface="Calibri"/>
                        </a:rPr>
                        <a:t>Vertical Defect Pattern</a:t>
                      </a:r>
                    </a:p>
                  </a:txBody>
                  <a:tcPr anchor="ctr" marL="73152" marR="73152">
                    <a:solidFill>
                      <a:srgbClr val="FFFFFF"/>
                    </a:solidFill>
                  </a:tcPr>
                </a:tc>
                <a:tc>
                  <a:txBody>
                    <a:bodyPr/>
                    <a:lstStyle/>
                    <a:p>
                      <a:pPr algn="ctr"/>
                      <a:r>
                        <a:rPr sz="1350" b="0" i="0">
                          <a:solidFill>
                            <a:srgbClr val="1F2937"/>
                          </a:solidFill>
                          <a:latin typeface="Calibri"/>
                        </a:rPr>
                        <a:t>101</a:t>
                      </a:r>
                    </a:p>
                  </a:txBody>
                  <a:tcPr anchor="ctr" marL="73152" marR="73152">
                    <a:solidFill>
                      <a:srgbClr val="FFFFFF"/>
                    </a:solidFill>
                  </a:tcPr>
                </a:tc>
              </a:tr>
              <a:tr h="566928">
                <a:tc>
                  <a:txBody>
                    <a:bodyPr/>
                    <a:lstStyle/>
                    <a:p>
                      <a:pPr algn="ctr"/>
                      <a:r>
                        <a:rPr sz="1350" b="0" i="0">
                          <a:solidFill>
                            <a:srgbClr val="1F2937"/>
                          </a:solidFill>
                          <a:latin typeface="Calibri"/>
                        </a:rPr>
                        <a:t>Line</a:t>
                      </a:r>
                    </a:p>
                  </a:txBody>
                  <a:tcPr anchor="ctr" marL="73152" marR="73152">
                    <a:solidFill>
                      <a:srgbClr val="EFEAD9"/>
                    </a:solidFill>
                  </a:tcPr>
                </a:tc>
                <a:tc>
                  <a:txBody>
                    <a:bodyPr/>
                    <a:lstStyle/>
                    <a:p>
                      <a:pPr algn="ctr"/>
                      <a:r>
                        <a:rPr sz="1350" b="0" i="0">
                          <a:solidFill>
                            <a:srgbClr val="1F2937"/>
                          </a:solidFill>
                          <a:latin typeface="Calibri"/>
                        </a:rPr>
                        <a:t>Thin Irregularity Incl. Pulled Threads</a:t>
                      </a:r>
                    </a:p>
                  </a:txBody>
                  <a:tcPr anchor="ctr" marL="73152" marR="73152">
                    <a:solidFill>
                      <a:srgbClr val="EFEAD9"/>
                    </a:solidFill>
                  </a:tcPr>
                </a:tc>
                <a:tc>
                  <a:txBody>
                    <a:bodyPr/>
                    <a:lstStyle/>
                    <a:p>
                      <a:pPr algn="ctr"/>
                      <a:r>
                        <a:rPr sz="1350" b="0" i="0">
                          <a:solidFill>
                            <a:srgbClr val="1F2937"/>
                          </a:solidFill>
                          <a:latin typeface="Calibri"/>
                        </a:rPr>
                        <a:t>157</a:t>
                      </a:r>
                    </a:p>
                  </a:txBody>
                  <a:tcPr anchor="ctr" marL="73152" marR="73152">
                    <a:solidFill>
                      <a:srgbClr val="EFEAD9"/>
                    </a:solidFill>
                  </a:tcPr>
                </a:tc>
              </a:tr>
              <a:tr h="566928">
                <a:tc>
                  <a:txBody>
                    <a:bodyPr/>
                    <a:lstStyle/>
                    <a:p>
                      <a:pPr algn="ctr"/>
                      <a:r>
                        <a:rPr sz="1350" b="0" i="0">
                          <a:solidFill>
                            <a:srgbClr val="1F2937"/>
                          </a:solidFill>
                          <a:latin typeface="Calibri"/>
                        </a:rPr>
                        <a:t>Stain</a:t>
                      </a:r>
                    </a:p>
                  </a:txBody>
                  <a:tcPr anchor="ctr" marL="73152" marR="73152">
                    <a:solidFill>
                      <a:srgbClr val="FFFFFF"/>
                    </a:solidFill>
                  </a:tcPr>
                </a:tc>
                <a:tc>
                  <a:txBody>
                    <a:bodyPr/>
                    <a:lstStyle/>
                    <a:p>
                      <a:pPr algn="ctr"/>
                      <a:r>
                        <a:rPr sz="1350" b="0" i="0">
                          <a:solidFill>
                            <a:srgbClr val="1F2937"/>
                          </a:solidFill>
                          <a:latin typeface="Calibri"/>
                        </a:rPr>
                        <a:t>Contamination / Discoloration</a:t>
                      </a:r>
                    </a:p>
                  </a:txBody>
                  <a:tcPr anchor="ctr" marL="73152" marR="73152">
                    <a:solidFill>
                      <a:srgbClr val="FFFFFF"/>
                    </a:solidFill>
                  </a:tcPr>
                </a:tc>
                <a:tc>
                  <a:txBody>
                    <a:bodyPr/>
                    <a:lstStyle/>
                    <a:p>
                      <a:pPr algn="ctr"/>
                      <a:r>
                        <a:rPr sz="1350" b="0" i="0">
                          <a:solidFill>
                            <a:srgbClr val="1F2937"/>
                          </a:solidFill>
                          <a:latin typeface="Calibri"/>
                        </a:rPr>
                        <a:t>398</a:t>
                      </a:r>
                    </a:p>
                  </a:txBody>
                  <a:tcPr anchor="ctr" marL="73152" marR="73152">
                    <a:solidFill>
                      <a:srgbClr val="FFFFFF"/>
                    </a:solidFill>
                  </a:tcPr>
                </a:tc>
              </a:tr>
              <a:tr h="566928">
                <a:tc>
                  <a:txBody>
                    <a:bodyPr/>
                    <a:lstStyle/>
                    <a:p>
                      <a:pPr algn="ctr"/>
                      <a:r>
                        <a:rPr sz="1350" b="0" i="0">
                          <a:solidFill>
                            <a:srgbClr val="1F2937"/>
                          </a:solidFill>
                          <a:latin typeface="Calibri"/>
                        </a:rPr>
                        <a:t>Defect-Free</a:t>
                      </a:r>
                    </a:p>
                  </a:txBody>
                  <a:tcPr anchor="ctr" marL="73152" marR="73152">
                    <a:solidFill>
                      <a:srgbClr val="EFEAD9"/>
                    </a:solidFill>
                  </a:tcPr>
                </a:tc>
                <a:tc>
                  <a:txBody>
                    <a:bodyPr/>
                    <a:lstStyle/>
                    <a:p>
                      <a:pPr algn="ctr"/>
                      <a:r>
                        <a:rPr sz="1350" b="0" i="0">
                          <a:solidFill>
                            <a:srgbClr val="1F2937"/>
                          </a:solidFill>
                          <a:latin typeface="Calibri"/>
                        </a:rPr>
                        <a:t>Normal Fabric</a:t>
                      </a:r>
                    </a:p>
                  </a:txBody>
                  <a:tcPr anchor="ctr" marL="73152" marR="73152">
                    <a:solidFill>
                      <a:srgbClr val="EFEAD9"/>
                    </a:solidFill>
                  </a:tcPr>
                </a:tc>
                <a:tc>
                  <a:txBody>
                    <a:bodyPr/>
                    <a:lstStyle/>
                    <a:p>
                      <a:pPr algn="ctr"/>
                      <a:r>
                        <a:rPr sz="1350" b="0" i="0">
                          <a:solidFill>
                            <a:srgbClr val="1F2937"/>
                          </a:solidFill>
                          <a:latin typeface="Calibri"/>
                        </a:rPr>
                        <a:t>1,505</a:t>
                      </a:r>
                    </a:p>
                  </a:txBody>
                  <a:tcPr anchor="ctr" marL="73152" marR="73152">
                    <a:solidFill>
                      <a:srgbClr val="EFEAD9"/>
                    </a:solidFill>
                  </a:tcPr>
                </a:tc>
              </a:tr>
            </a:tbl>
          </a:graphicData>
        </a:graphic>
      </p:graphicFrame>
      <p:sp>
        <p:nvSpPr>
          <p:cNvPr id="8" name="Rounded Rectangle 7"/>
          <p:cNvSpPr/>
          <p:nvPr/>
        </p:nvSpPr>
        <p:spPr>
          <a:xfrm>
            <a:off x="7315200" y="1463040"/>
            <a:ext cx="3566160" cy="713232"/>
          </a:xfrm>
          <a:prstGeom prst="roundRect">
            <a:avLst/>
          </a:prstGeom>
          <a:solidFill>
            <a:srgbClr val="2B7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i="0">
                <a:solidFill>
                  <a:srgbClr val="FFFFFF"/>
                </a:solidFill>
                <a:latin typeface="Calibri"/>
              </a:rPr>
              <a:t>2,578 Scanned</a:t>
            </a:r>
          </a:p>
        </p:txBody>
      </p:sp>
      <p:sp>
        <p:nvSpPr>
          <p:cNvPr id="9" name="Rounded Rectangle 8"/>
          <p:cNvSpPr/>
          <p:nvPr/>
        </p:nvSpPr>
        <p:spPr>
          <a:xfrm>
            <a:off x="7315200" y="2331720"/>
            <a:ext cx="3566160" cy="713232"/>
          </a:xfrm>
          <a:prstGeom prst="roundRect">
            <a:avLst/>
          </a:prstGeom>
          <a:solidFill>
            <a:srgbClr val="D06F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i="0">
                <a:solidFill>
                  <a:srgbClr val="FFFFFF"/>
                </a:solidFill>
                <a:latin typeface="Calibri"/>
              </a:rPr>
              <a:t>– 17 Exact Duplicates (Hash)</a:t>
            </a:r>
          </a:p>
        </p:txBody>
      </p:sp>
      <p:sp>
        <p:nvSpPr>
          <p:cNvPr id="10" name="Rounded Rectangle 9"/>
          <p:cNvSpPr/>
          <p:nvPr/>
        </p:nvSpPr>
        <p:spPr>
          <a:xfrm>
            <a:off x="7315200" y="3200400"/>
            <a:ext cx="3566160" cy="713232"/>
          </a:xfrm>
          <a:prstGeom prst="roundRect">
            <a:avLst/>
          </a:prstGeom>
          <a:solidFill>
            <a:srgbClr val="C43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i="0">
                <a:solidFill>
                  <a:srgbClr val="FFFFFF"/>
                </a:solidFill>
                <a:latin typeface="Calibri"/>
              </a:rPr>
              <a:t>– 12 Quarantined (Cross-Labeled)</a:t>
            </a:r>
          </a:p>
        </p:txBody>
      </p:sp>
      <p:sp>
        <p:nvSpPr>
          <p:cNvPr id="11" name="Rounded Rectangle 10"/>
          <p:cNvSpPr/>
          <p:nvPr/>
        </p:nvSpPr>
        <p:spPr>
          <a:xfrm>
            <a:off x="7315200" y="4069079"/>
            <a:ext cx="3566160" cy="713232"/>
          </a:xfrm>
          <a:prstGeom prst="roundRect">
            <a:avLst/>
          </a:prstGeom>
          <a:solidFill>
            <a:srgbClr val="2E9E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i="0">
                <a:solidFill>
                  <a:srgbClr val="FFFFFF"/>
                </a:solidFill>
                <a:latin typeface="Calibri"/>
              </a:rPr>
              <a:t>= 2,549 Usable Images</a:t>
            </a:r>
          </a:p>
        </p:txBody>
      </p:sp>
      <p:sp>
        <p:nvSpPr>
          <p:cNvPr id="12" name="TextBox 11"/>
          <p:cNvSpPr txBox="1"/>
          <p:nvPr/>
        </p:nvSpPr>
        <p:spPr>
          <a:xfrm>
            <a:off x="7315200" y="5074920"/>
            <a:ext cx="3566160" cy="640080"/>
          </a:xfrm>
          <a:prstGeom prst="rect">
            <a:avLst/>
          </a:prstGeom>
          <a:noFill/>
        </p:spPr>
        <p:txBody>
          <a:bodyPr wrap="square" anchor="ctr">
            <a:spAutoFit/>
          </a:bodyPr>
          <a:lstStyle/>
          <a:p>
            <a:pPr algn="ctr"/>
            <a:r>
              <a:rPr sz="1150" b="0" i="0">
                <a:solidFill>
                  <a:srgbClr val="5B6570"/>
                </a:solidFill>
                <a:latin typeface="Calibri"/>
              </a:rPr>
              <a:t>6 Classes, Per-File Cryptographic Hashes, Visual Verification Before Use.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7EF"/>
        </a:solidFill>
        <a:effectLst/>
      </p:bgPr>
    </p:bg>
    <p:spTree>
      <p:nvGrpSpPr>
        <p:cNvPr id="1" name=""/>
        <p:cNvGrpSpPr/>
        <p:nvPr/>
      </p:nvGrpSpPr>
      <p:grpSpPr/>
      <p:sp>
        <p:nvSpPr>
          <p:cNvPr id="2" name="TextBox 1"/>
          <p:cNvSpPr txBox="1"/>
          <p:nvPr/>
        </p:nvSpPr>
        <p:spPr>
          <a:xfrm>
            <a:off x="548640" y="6419088"/>
            <a:ext cx="9144000" cy="274320"/>
          </a:xfrm>
          <a:prstGeom prst="rect">
            <a:avLst/>
          </a:prstGeom>
          <a:noFill/>
        </p:spPr>
        <p:txBody>
          <a:bodyPr wrap="square">
            <a:spAutoFit/>
          </a:bodyPr>
          <a:lstStyle/>
          <a:p>
            <a:pPr algn="l"/>
            <a:r>
              <a:rPr sz="900" b="0" i="0">
                <a:solidFill>
                  <a:srgbClr val="8A8F98"/>
                </a:solidFill>
                <a:latin typeface="Calibri"/>
              </a:rPr>
              <a:t>Defect-to-Delivery  |  FYDP-I  •  Group: 262-034</a:t>
            </a:r>
          </a:p>
        </p:txBody>
      </p:sp>
      <p:sp>
        <p:nvSpPr>
          <p:cNvPr id="3" name="TextBox 2"/>
          <p:cNvSpPr txBox="1"/>
          <p:nvPr/>
        </p:nvSpPr>
        <p:spPr>
          <a:xfrm>
            <a:off x="10972800" y="6419088"/>
            <a:ext cx="640080" cy="274320"/>
          </a:xfrm>
          <a:prstGeom prst="rect">
            <a:avLst/>
          </a:prstGeom>
          <a:noFill/>
        </p:spPr>
        <p:txBody>
          <a:bodyPr wrap="none">
            <a:spAutoFit/>
          </a:bodyPr>
          <a:lstStyle/>
          <a:p>
            <a:pPr algn="r"/>
            <a:r>
              <a:rPr sz="900">
                <a:solidFill>
                  <a:srgbClr val="8A8F98"/>
                </a:solidFill>
                <a:latin typeface="Calibri"/>
              </a:rPr>
              <a:t>16 / 35</a:t>
            </a:r>
          </a:p>
        </p:txBody>
      </p:sp>
      <p:sp>
        <p:nvSpPr>
          <p:cNvPr id="4" name="Rectangle 3"/>
          <p:cNvSpPr/>
          <p:nvPr/>
        </p:nvSpPr>
        <p:spPr>
          <a:xfrm>
            <a:off x="0" y="0"/>
            <a:ext cx="12188952" cy="64008"/>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20040"/>
            <a:ext cx="11064240" cy="822960"/>
          </a:xfrm>
          <a:prstGeom prst="rect">
            <a:avLst/>
          </a:prstGeom>
          <a:noFill/>
        </p:spPr>
        <p:txBody>
          <a:bodyPr wrap="square">
            <a:spAutoFit/>
          </a:bodyPr>
          <a:lstStyle/>
          <a:p>
            <a:pPr algn="l"/>
            <a:r>
              <a:rPr sz="3400" b="1" i="0">
                <a:solidFill>
                  <a:srgbClr val="144E4C"/>
                </a:solidFill>
                <a:latin typeface="Georgia"/>
              </a:rPr>
              <a:t>Data Audit: Quarantine Ledger &amp; Split</a:t>
            </a:r>
          </a:p>
        </p:txBody>
      </p:sp>
      <p:sp>
        <p:nvSpPr>
          <p:cNvPr id="6" name="Rectangle 5"/>
          <p:cNvSpPr/>
          <p:nvPr/>
        </p:nvSpPr>
        <p:spPr>
          <a:xfrm>
            <a:off x="566928" y="1078992"/>
            <a:ext cx="1005840" cy="50292"/>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1463040"/>
            <a:ext cx="5394960" cy="3291840"/>
          </a:xfrm>
          <a:prstGeom prst="roundRect">
            <a:avLst>
              <a:gd name="adj" fmla="val 6000"/>
            </a:avLst>
          </a:prstGeom>
          <a:solidFill>
            <a:srgbClr val="FFFFFF"/>
          </a:solidFill>
          <a:ln w="15875">
            <a:solidFill>
              <a:srgbClr val="D8D2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 y="1463040"/>
            <a:ext cx="5394960" cy="82296"/>
          </a:xfrm>
          <a:prstGeom prst="round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04672" y="1755648"/>
            <a:ext cx="475488" cy="475488"/>
          </a:xfrm>
          <a:prstGeom prst="ellipse">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44E4C"/>
                </a:solidFill>
                <a:latin typeface="Calibri"/>
              </a:rPr>
              <a:t>Q</a:t>
            </a:r>
          </a:p>
        </p:txBody>
      </p:sp>
      <p:sp>
        <p:nvSpPr>
          <p:cNvPr id="10" name="TextBox 9"/>
          <p:cNvSpPr txBox="1"/>
          <p:nvPr/>
        </p:nvSpPr>
        <p:spPr>
          <a:xfrm>
            <a:off x="1417319" y="1719072"/>
            <a:ext cx="4343400" cy="2880360"/>
          </a:xfrm>
          <a:prstGeom prst="rect">
            <a:avLst/>
          </a:prstGeom>
          <a:noFill/>
        </p:spPr>
        <p:txBody>
          <a:bodyPr wrap="square">
            <a:normAutofit/>
          </a:bodyPr>
          <a:lstStyle/>
          <a:p>
            <a:pPr algn="l">
              <a:spcAft>
                <a:spcPts val="600"/>
              </a:spcAft>
            </a:pPr>
            <a:r>
              <a:rPr sz="1600" b="1" i="0">
                <a:solidFill>
                  <a:srgbClr val="144E4C"/>
                </a:solidFill>
                <a:latin typeface="Calibri"/>
              </a:rPr>
              <a:t>Quarantine Ledger (Table 3.4)</a:t>
            </a:r>
          </a:p>
          <a:p>
            <a:pPr algn="l">
              <a:spcBef>
                <a:spcPts val="0"/>
              </a:spcBef>
              <a:spcAft>
                <a:spcPts val="300"/>
              </a:spcAft>
            </a:pPr>
            <a:r>
              <a:rPr sz="1350" b="0" i="0">
                <a:solidFill>
                  <a:srgbClr val="5B6570"/>
                </a:solidFill>
                <a:latin typeface="Calibri"/>
              </a:rPr>
              <a:t>9× Hole/Line_2018-10-11* + 3× Lines/Line_2018-10-10* — Identical Swatches Cross-Labeled Hole Vs Lines, Several Defect-Free.</a:t>
            </a:r>
          </a:p>
          <a:p>
            <a:pPr algn="l">
              <a:spcBef>
                <a:spcPts val="0"/>
              </a:spcBef>
              <a:spcAft>
                <a:spcPts val="300"/>
              </a:spcAft>
            </a:pPr>
            <a:r>
              <a:rPr sz="1350" b="0" i="0">
                <a:solidFill>
                  <a:srgbClr val="5B6570"/>
                </a:solidFill>
                <a:latin typeface="Calibri"/>
              </a:rPr>
              <a:t>Verdict: Suspect_Cross_Label / Suspect_Batch — Excluded From Both Train And Test.</a:t>
            </a:r>
          </a:p>
          <a:p>
            <a:pPr algn="l">
              <a:spcBef>
                <a:spcPts val="0"/>
              </a:spcBef>
              <a:spcAft>
                <a:spcPts val="300"/>
              </a:spcAft>
            </a:pPr>
            <a:r>
              <a:rPr sz="1350" b="0" i="0">
                <a:solidFill>
                  <a:srgbClr val="5B6570"/>
                </a:solidFill>
                <a:latin typeface="Calibri"/>
              </a:rPr>
              <a:t>Control Pair Verified Clean And Retained (Hole/20180531* Vs Lines/20180531*).</a:t>
            </a:r>
          </a:p>
        </p:txBody>
      </p:sp>
      <p:sp>
        <p:nvSpPr>
          <p:cNvPr id="11" name="Rounded Rectangle 10"/>
          <p:cNvSpPr/>
          <p:nvPr/>
        </p:nvSpPr>
        <p:spPr>
          <a:xfrm>
            <a:off x="6245352" y="1463040"/>
            <a:ext cx="5394960" cy="3291840"/>
          </a:xfrm>
          <a:prstGeom prst="roundRect">
            <a:avLst>
              <a:gd name="adj" fmla="val 6000"/>
            </a:avLst>
          </a:prstGeom>
          <a:solidFill>
            <a:srgbClr val="FFFFFF"/>
          </a:solidFill>
          <a:ln w="15875">
            <a:solidFill>
              <a:srgbClr val="D8D2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45352" y="1463040"/>
            <a:ext cx="5394960" cy="82296"/>
          </a:xfrm>
          <a:prstGeom prst="round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501384" y="1755648"/>
            <a:ext cx="475488" cy="475488"/>
          </a:xfrm>
          <a:prstGeom prst="ellipse">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44E4C"/>
                </a:solidFill>
                <a:latin typeface="Calibri"/>
              </a:rPr>
              <a:t>S</a:t>
            </a:r>
          </a:p>
        </p:txBody>
      </p:sp>
      <p:sp>
        <p:nvSpPr>
          <p:cNvPr id="14" name="TextBox 13"/>
          <p:cNvSpPr txBox="1"/>
          <p:nvPr/>
        </p:nvSpPr>
        <p:spPr>
          <a:xfrm>
            <a:off x="7114032" y="1719072"/>
            <a:ext cx="4343400" cy="2880360"/>
          </a:xfrm>
          <a:prstGeom prst="rect">
            <a:avLst/>
          </a:prstGeom>
          <a:noFill/>
        </p:spPr>
        <p:txBody>
          <a:bodyPr wrap="square">
            <a:normAutofit/>
          </a:bodyPr>
          <a:lstStyle/>
          <a:p>
            <a:pPr algn="l">
              <a:spcAft>
                <a:spcPts val="600"/>
              </a:spcAft>
            </a:pPr>
            <a:r>
              <a:rPr sz="1600" b="1" i="0">
                <a:solidFill>
                  <a:srgbClr val="144E4C"/>
                </a:solidFill>
                <a:latin typeface="Calibri"/>
              </a:rPr>
              <a:t>Group-Aware Split (Table 3.5)</a:t>
            </a:r>
          </a:p>
          <a:p>
            <a:pPr algn="l">
              <a:spcBef>
                <a:spcPts val="0"/>
              </a:spcBef>
              <a:spcAft>
                <a:spcPts val="300"/>
              </a:spcAft>
            </a:pPr>
            <a:r>
              <a:rPr sz="1350" b="0" i="0">
                <a:solidFill>
                  <a:srgbClr val="5B6570"/>
                </a:solidFill>
                <a:latin typeface="Calibri"/>
              </a:rPr>
              <a:t>Seed 42, Test-Fraction 0.2.</a:t>
            </a:r>
          </a:p>
          <a:p>
            <a:pPr algn="l">
              <a:spcBef>
                <a:spcPts val="0"/>
              </a:spcBef>
              <a:spcAft>
                <a:spcPts val="300"/>
              </a:spcAft>
            </a:pPr>
            <a:r>
              <a:rPr sz="1350" b="0" i="0">
                <a:solidFill>
                  <a:srgbClr val="5B6570"/>
                </a:solidFill>
                <a:latin typeface="Calibri"/>
              </a:rPr>
              <a:t>Swatch Families And Dated Shoots Never Split Across Sides.</a:t>
            </a:r>
          </a:p>
          <a:p>
            <a:pPr algn="l">
              <a:spcBef>
                <a:spcPts val="0"/>
              </a:spcBef>
              <a:spcAft>
                <a:spcPts val="300"/>
              </a:spcAft>
            </a:pPr>
            <a:r>
              <a:rPr sz="1350" b="0" i="0">
                <a:solidFill>
                  <a:srgbClr val="5B6570"/>
                </a:solidFill>
                <a:latin typeface="Calibri"/>
              </a:rPr>
              <a:t>Train: 2,081 Images.</a:t>
            </a:r>
          </a:p>
          <a:p>
            <a:pPr algn="l">
              <a:spcBef>
                <a:spcPts val="0"/>
              </a:spcBef>
              <a:spcAft>
                <a:spcPts val="300"/>
              </a:spcAft>
            </a:pPr>
            <a:r>
              <a:rPr sz="1350" b="0" i="0">
                <a:solidFill>
                  <a:srgbClr val="5B6570"/>
                </a:solidFill>
                <a:latin typeface="Calibri"/>
              </a:rPr>
              <a:t>Test: 468 Images.</a:t>
            </a:r>
          </a:p>
          <a:p>
            <a:pPr algn="l">
              <a:spcBef>
                <a:spcPts val="0"/>
              </a:spcBef>
              <a:spcAft>
                <a:spcPts val="300"/>
              </a:spcAft>
            </a:pPr>
            <a:r>
              <a:rPr sz="1350" b="0" i="0">
                <a:solidFill>
                  <a:srgbClr val="5B6570"/>
                </a:solidFill>
                <a:latin typeface="Calibri"/>
              </a:rPr>
              <a:t>Overlap Between Train And Test: 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7EF"/>
        </a:solidFill>
        <a:effectLst/>
      </p:bgPr>
    </p:bg>
    <p:spTree>
      <p:nvGrpSpPr>
        <p:cNvPr id="1" name=""/>
        <p:cNvGrpSpPr/>
        <p:nvPr/>
      </p:nvGrpSpPr>
      <p:grpSpPr/>
      <p:sp>
        <p:nvSpPr>
          <p:cNvPr id="2" name="TextBox 1"/>
          <p:cNvSpPr txBox="1"/>
          <p:nvPr/>
        </p:nvSpPr>
        <p:spPr>
          <a:xfrm>
            <a:off x="548640" y="6419088"/>
            <a:ext cx="9144000" cy="274320"/>
          </a:xfrm>
          <a:prstGeom prst="rect">
            <a:avLst/>
          </a:prstGeom>
          <a:noFill/>
        </p:spPr>
        <p:txBody>
          <a:bodyPr wrap="square">
            <a:spAutoFit/>
          </a:bodyPr>
          <a:lstStyle/>
          <a:p>
            <a:pPr algn="l"/>
            <a:r>
              <a:rPr sz="900" b="0" i="0">
                <a:solidFill>
                  <a:srgbClr val="8A8F98"/>
                </a:solidFill>
                <a:latin typeface="Calibri"/>
              </a:rPr>
              <a:t>Defect-to-Delivery  |  FYDP-I  •  Group: 262-034</a:t>
            </a:r>
          </a:p>
        </p:txBody>
      </p:sp>
      <p:sp>
        <p:nvSpPr>
          <p:cNvPr id="3" name="TextBox 2"/>
          <p:cNvSpPr txBox="1"/>
          <p:nvPr/>
        </p:nvSpPr>
        <p:spPr>
          <a:xfrm>
            <a:off x="10972800" y="6419088"/>
            <a:ext cx="640080" cy="274320"/>
          </a:xfrm>
          <a:prstGeom prst="rect">
            <a:avLst/>
          </a:prstGeom>
          <a:noFill/>
        </p:spPr>
        <p:txBody>
          <a:bodyPr wrap="none">
            <a:spAutoFit/>
          </a:bodyPr>
          <a:lstStyle/>
          <a:p>
            <a:pPr algn="r"/>
            <a:r>
              <a:rPr sz="900">
                <a:solidFill>
                  <a:srgbClr val="8A8F98"/>
                </a:solidFill>
                <a:latin typeface="Calibri"/>
              </a:rPr>
              <a:t>17 / 35</a:t>
            </a:r>
          </a:p>
        </p:txBody>
      </p:sp>
      <p:sp>
        <p:nvSpPr>
          <p:cNvPr id="4" name="Rectangle 3"/>
          <p:cNvSpPr/>
          <p:nvPr/>
        </p:nvSpPr>
        <p:spPr>
          <a:xfrm>
            <a:off x="0" y="0"/>
            <a:ext cx="12188952" cy="64008"/>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20040"/>
            <a:ext cx="11064240" cy="822960"/>
          </a:xfrm>
          <a:prstGeom prst="rect">
            <a:avLst/>
          </a:prstGeom>
          <a:noFill/>
        </p:spPr>
        <p:txBody>
          <a:bodyPr wrap="square">
            <a:spAutoFit/>
          </a:bodyPr>
          <a:lstStyle/>
          <a:p>
            <a:pPr algn="l"/>
            <a:r>
              <a:rPr sz="3400" b="1" i="0">
                <a:solidFill>
                  <a:srgbClr val="144E4C"/>
                </a:solidFill>
                <a:latin typeface="Georgia"/>
              </a:rPr>
              <a:t>Pilot Result</a:t>
            </a:r>
          </a:p>
        </p:txBody>
      </p:sp>
      <p:sp>
        <p:nvSpPr>
          <p:cNvPr id="6" name="Rectangle 5"/>
          <p:cNvSpPr/>
          <p:nvPr/>
        </p:nvSpPr>
        <p:spPr>
          <a:xfrm>
            <a:off x="566928" y="1078992"/>
            <a:ext cx="1005840" cy="50292"/>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463040"/>
            <a:ext cx="11064240" cy="2743200"/>
          </a:xfrm>
          <a:prstGeom prst="rect">
            <a:avLst/>
          </a:prstGeom>
          <a:noFill/>
        </p:spPr>
        <p:txBody>
          <a:bodyPr wrap="square">
            <a:spAutoFit/>
          </a:bodyPr>
          <a:lstStyle/>
          <a:p>
            <a:pPr algn="l">
              <a:spcBef>
                <a:spcPts val="0"/>
              </a:spcBef>
              <a:spcAft>
                <a:spcPts val="800"/>
              </a:spcAft>
            </a:pPr>
            <a:r>
              <a:rPr sz="1400" b="0">
                <a:solidFill>
                  <a:srgbClr val="5B6570"/>
                </a:solidFill>
                <a:latin typeface="Calibri"/>
              </a:rPr>
              <a:t>▪  Report Table 6.1 — Pilot Reference And Upper Bound:</a:t>
            </a:r>
          </a:p>
          <a:p>
            <a:r>
              <a:rPr sz="1400" b="0">
                <a:solidFill>
                  <a:srgbClr val="5B6570"/>
                </a:solidFill>
                <a:latin typeface="Calibri"/>
              </a:rPr>
              <a:t>▪  Class accuracy (random split): 98% — recorded as a reference, not a reproduced result.</a:t>
            </a:r>
          </a:p>
          <a:p>
            <a:r>
              <a:rPr sz="1400" b="0">
                <a:solidFill>
                  <a:srgbClr val="5B6570"/>
                </a:solidFill>
                <a:latin typeface="Calibri"/>
              </a:rPr>
              <a:t>▪  Reference preparation time: 5.44 hours.</a:t>
            </a:r>
          </a:p>
          <a:p>
            <a:r>
              <a:rPr sz="1400" b="0">
                <a:solidFill>
                  <a:srgbClr val="5B6570"/>
                </a:solidFill>
                <a:latin typeface="Calibri"/>
              </a:rPr>
              <a:t>▪  MAE improvement (synthetic planning data): 92.0%.</a:t>
            </a:r>
          </a:p>
          <a:p>
            <a:r>
              <a:rPr sz="1400" b="0">
                <a:solidFill>
                  <a:srgbClr val="5B6570"/>
                </a:solidFill>
                <a:latin typeface="Calibri"/>
              </a:rPr>
              <a:t>▪  Confusion observed: Horizontal → Hole 8%, Hole → Horizontal 7%.</a:t>
            </a:r>
          </a:p>
          <a:p>
            <a:r>
              <a:rPr sz="1400" b="0">
                <a:solidFill>
                  <a:srgbClr val="5B6570"/>
                </a:solidFill>
                <a:latin typeface="Calibri"/>
              </a:rPr>
              <a:t>▪  Audit status: 2,081 train / 468 test group-aware split confirmed, zero train/test overlap.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7EF"/>
        </a:solidFill>
        <a:effectLst/>
      </p:bgPr>
    </p:bg>
    <p:spTree>
      <p:nvGrpSpPr>
        <p:cNvPr id="1" name=""/>
        <p:cNvGrpSpPr/>
        <p:nvPr/>
      </p:nvGrpSpPr>
      <p:grpSpPr/>
      <p:sp>
        <p:nvSpPr>
          <p:cNvPr id="2" name="TextBox 1"/>
          <p:cNvSpPr txBox="1"/>
          <p:nvPr/>
        </p:nvSpPr>
        <p:spPr>
          <a:xfrm>
            <a:off x="548640" y="6419088"/>
            <a:ext cx="9144000" cy="274320"/>
          </a:xfrm>
          <a:prstGeom prst="rect">
            <a:avLst/>
          </a:prstGeom>
          <a:noFill/>
        </p:spPr>
        <p:txBody>
          <a:bodyPr wrap="square">
            <a:spAutoFit/>
          </a:bodyPr>
          <a:lstStyle/>
          <a:p>
            <a:pPr algn="l"/>
            <a:r>
              <a:rPr sz="900" b="0" i="0">
                <a:solidFill>
                  <a:srgbClr val="8A8F98"/>
                </a:solidFill>
                <a:latin typeface="Calibri"/>
              </a:rPr>
              <a:t>Defect-to-Delivery  |  FYDP-I  •  Group: 262-034</a:t>
            </a:r>
          </a:p>
        </p:txBody>
      </p:sp>
      <p:sp>
        <p:nvSpPr>
          <p:cNvPr id="3" name="TextBox 2"/>
          <p:cNvSpPr txBox="1"/>
          <p:nvPr/>
        </p:nvSpPr>
        <p:spPr>
          <a:xfrm>
            <a:off x="10972800" y="6419088"/>
            <a:ext cx="640080" cy="274320"/>
          </a:xfrm>
          <a:prstGeom prst="rect">
            <a:avLst/>
          </a:prstGeom>
          <a:noFill/>
        </p:spPr>
        <p:txBody>
          <a:bodyPr wrap="none">
            <a:spAutoFit/>
          </a:bodyPr>
          <a:lstStyle/>
          <a:p>
            <a:pPr algn="r"/>
            <a:r>
              <a:rPr sz="900">
                <a:solidFill>
                  <a:srgbClr val="8A8F98"/>
                </a:solidFill>
                <a:latin typeface="Calibri"/>
              </a:rPr>
              <a:t>18 / 35</a:t>
            </a:r>
          </a:p>
        </p:txBody>
      </p:sp>
      <p:sp>
        <p:nvSpPr>
          <p:cNvPr id="4" name="Rectangle 3"/>
          <p:cNvSpPr/>
          <p:nvPr/>
        </p:nvSpPr>
        <p:spPr>
          <a:xfrm>
            <a:off x="0" y="0"/>
            <a:ext cx="12188952" cy="64008"/>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20040"/>
            <a:ext cx="11064240" cy="822960"/>
          </a:xfrm>
          <a:prstGeom prst="rect">
            <a:avLst/>
          </a:prstGeom>
          <a:noFill/>
        </p:spPr>
        <p:txBody>
          <a:bodyPr wrap="square">
            <a:spAutoFit/>
          </a:bodyPr>
          <a:lstStyle/>
          <a:p>
            <a:pPr algn="l"/>
            <a:r>
              <a:rPr sz="3400" b="1" i="0">
                <a:solidFill>
                  <a:srgbClr val="144E4C"/>
                </a:solidFill>
                <a:latin typeface="Georgia"/>
              </a:rPr>
              <a:t>Proposed System Diagram (Fig. 3.2)</a:t>
            </a:r>
          </a:p>
        </p:txBody>
      </p:sp>
      <p:sp>
        <p:nvSpPr>
          <p:cNvPr id="6" name="Rectangle 5"/>
          <p:cNvSpPr/>
          <p:nvPr/>
        </p:nvSpPr>
        <p:spPr>
          <a:xfrm>
            <a:off x="566928" y="1078992"/>
            <a:ext cx="1005840" cy="50292"/>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2011680"/>
            <a:ext cx="1417320" cy="2103120"/>
          </a:xfrm>
          <a:prstGeom prst="roundRect">
            <a:avLst>
              <a:gd name="adj" fmla="val 10000"/>
            </a:avLst>
          </a:prstGeom>
          <a:solidFill>
            <a:srgbClr val="FFFFFF"/>
          </a:solidFill>
          <a:ln w="19050">
            <a:solidFill>
              <a:srgbClr val="1B7A6E"/>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a:r>
              <a:rPr sz="1300" b="0" i="0">
                <a:solidFill>
                  <a:srgbClr val="1F2937"/>
                </a:solidFill>
                <a:latin typeface="Calibri"/>
              </a:rPr>
              <a:t>Camera /
Image Stream</a:t>
            </a:r>
          </a:p>
        </p:txBody>
      </p:sp>
      <p:sp>
        <p:nvSpPr>
          <p:cNvPr id="8" name="Rounded Rectangle 7"/>
          <p:cNvSpPr/>
          <p:nvPr/>
        </p:nvSpPr>
        <p:spPr>
          <a:xfrm>
            <a:off x="2377440" y="2011680"/>
            <a:ext cx="1417320" cy="2103120"/>
          </a:xfrm>
          <a:prstGeom prst="roundRect">
            <a:avLst>
              <a:gd name="adj" fmla="val 10000"/>
            </a:avLst>
          </a:prstGeom>
          <a:solidFill>
            <a:srgbClr val="FFFFFF"/>
          </a:solidFill>
          <a:ln w="19050">
            <a:solidFill>
              <a:srgbClr val="1B7A6E"/>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a:r>
              <a:rPr sz="1300" b="0" i="0">
                <a:solidFill>
                  <a:srgbClr val="1F2937"/>
                </a:solidFill>
                <a:latin typeface="Calibri"/>
              </a:rPr>
              <a:t>Industrial
Preprocessing:
Denoise, Deblur,
Low-Light Norm</a:t>
            </a:r>
          </a:p>
        </p:txBody>
      </p:sp>
      <p:cxnSp>
        <p:nvCxnSpPr>
          <p:cNvPr id="9" name="Connector 8"/>
          <p:cNvCxnSpPr/>
          <p:nvPr/>
        </p:nvCxnSpPr>
        <p:spPr>
          <a:xfrm>
            <a:off x="2084832" y="3063240"/>
            <a:ext cx="310896" cy="0"/>
          </a:xfrm>
          <a:prstGeom prst="line">
            <a:avLst/>
          </a:prstGeom>
          <a:ln w="19050">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114800" y="2011680"/>
            <a:ext cx="1417320" cy="2103120"/>
          </a:xfrm>
          <a:prstGeom prst="roundRect">
            <a:avLst>
              <a:gd name="adj" fmla="val 10000"/>
            </a:avLst>
          </a:prstGeom>
          <a:solidFill>
            <a:srgbClr val="FFFFFF"/>
          </a:solidFill>
          <a:ln w="19050">
            <a:solidFill>
              <a:srgbClr val="1B7A6E"/>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a:r>
              <a:rPr sz="1300" b="0" i="0">
                <a:solidFill>
                  <a:srgbClr val="1F2937"/>
                </a:solidFill>
                <a:latin typeface="Calibri"/>
              </a:rPr>
              <a:t>YOLO Defect
Detector:
Type + Boxes
And Masks</a:t>
            </a:r>
          </a:p>
        </p:txBody>
      </p:sp>
      <p:cxnSp>
        <p:nvCxnSpPr>
          <p:cNvPr id="11" name="Connector 10"/>
          <p:cNvCxnSpPr/>
          <p:nvPr/>
        </p:nvCxnSpPr>
        <p:spPr>
          <a:xfrm>
            <a:off x="3822191" y="3063240"/>
            <a:ext cx="310896" cy="0"/>
          </a:xfrm>
          <a:prstGeom prst="line">
            <a:avLst/>
          </a:prstGeom>
          <a:ln w="19050">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852160" y="2011680"/>
            <a:ext cx="1417320" cy="2103120"/>
          </a:xfrm>
          <a:prstGeom prst="roundRect">
            <a:avLst>
              <a:gd name="adj" fmla="val 10000"/>
            </a:avLst>
          </a:prstGeom>
          <a:solidFill>
            <a:srgbClr val="FFFFFF"/>
          </a:solidFill>
          <a:ln w="19050">
            <a:solidFill>
              <a:srgbClr val="1B7A6E"/>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a:r>
              <a:rPr sz="1300" b="0" i="0">
                <a:solidFill>
                  <a:srgbClr val="1F2937"/>
                </a:solidFill>
                <a:latin typeface="Calibri"/>
              </a:rPr>
              <a:t>Metadata
Bridge:
Ds + Rolling
Average</a:t>
            </a:r>
          </a:p>
        </p:txBody>
      </p:sp>
      <p:cxnSp>
        <p:nvCxnSpPr>
          <p:cNvPr id="13" name="Connector 12"/>
          <p:cNvCxnSpPr/>
          <p:nvPr/>
        </p:nvCxnSpPr>
        <p:spPr>
          <a:xfrm>
            <a:off x="5559552" y="3063240"/>
            <a:ext cx="310896" cy="0"/>
          </a:xfrm>
          <a:prstGeom prst="line">
            <a:avLst/>
          </a:prstGeom>
          <a:ln w="19050">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589520" y="2011680"/>
            <a:ext cx="1417320" cy="2103120"/>
          </a:xfrm>
          <a:prstGeom prst="roundRect">
            <a:avLst>
              <a:gd name="adj" fmla="val 10000"/>
            </a:avLst>
          </a:prstGeom>
          <a:solidFill>
            <a:srgbClr val="FFFFFF"/>
          </a:solidFill>
          <a:ln w="19050">
            <a:solidFill>
              <a:srgbClr val="1B7A6E"/>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a:r>
              <a:rPr sz="1300" b="0" i="0">
                <a:solidFill>
                  <a:srgbClr val="1F2937"/>
                </a:solidFill>
                <a:latin typeface="Calibri"/>
              </a:rPr>
              <a:t>Lead Time
Predictor:
Random Forest</a:t>
            </a:r>
          </a:p>
        </p:txBody>
      </p:sp>
      <p:cxnSp>
        <p:nvCxnSpPr>
          <p:cNvPr id="15" name="Connector 14"/>
          <p:cNvCxnSpPr/>
          <p:nvPr/>
        </p:nvCxnSpPr>
        <p:spPr>
          <a:xfrm>
            <a:off x="7296912" y="3063240"/>
            <a:ext cx="310896" cy="0"/>
          </a:xfrm>
          <a:prstGeom prst="line">
            <a:avLst/>
          </a:prstGeom>
          <a:ln w="19050">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9509760" y="2011680"/>
            <a:ext cx="1417320" cy="2103120"/>
          </a:xfrm>
          <a:prstGeom prst="roundRect">
            <a:avLst>
              <a:gd name="adj" fmla="val 10000"/>
            </a:avLst>
          </a:prstGeom>
          <a:solidFill>
            <a:srgbClr val="FFFFFF"/>
          </a:solidFill>
          <a:ln w="19050">
            <a:solidFill>
              <a:srgbClr val="1B7A6E"/>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a:r>
              <a:rPr sz="1300" b="0" i="0">
                <a:solidFill>
                  <a:srgbClr val="1F2937"/>
                </a:solidFill>
                <a:latin typeface="Calibri"/>
              </a:rPr>
              <a:t>Planner
Dashboard</a:t>
            </a:r>
          </a:p>
        </p:txBody>
      </p:sp>
      <p:cxnSp>
        <p:nvCxnSpPr>
          <p:cNvPr id="17" name="Connector 16"/>
          <p:cNvCxnSpPr/>
          <p:nvPr/>
        </p:nvCxnSpPr>
        <p:spPr>
          <a:xfrm>
            <a:off x="9217152" y="3063240"/>
            <a:ext cx="310896" cy="0"/>
          </a:xfrm>
          <a:prstGeom prst="line">
            <a:avLst/>
          </a:prstGeom>
          <a:ln w="19050">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241280" y="4133087"/>
            <a:ext cx="0" cy="713233"/>
          </a:xfrm>
          <a:prstGeom prst="line">
            <a:avLst/>
          </a:prstGeom>
          <a:ln w="19050">
            <a:solidFill>
              <a:srgbClr val="5B657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1371600" y="4864608"/>
            <a:ext cx="8851392" cy="0"/>
          </a:xfrm>
          <a:prstGeom prst="line">
            <a:avLst/>
          </a:prstGeom>
          <a:ln w="19050">
            <a:solidFill>
              <a:srgbClr val="5B657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1353312" y="4133087"/>
            <a:ext cx="0" cy="713233"/>
          </a:xfrm>
          <a:prstGeom prst="line">
            <a:avLst/>
          </a:prstGeom>
          <a:ln w="19050">
            <a:solidFill>
              <a:srgbClr val="5B65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291840" y="4224528"/>
            <a:ext cx="5577840" cy="457200"/>
          </a:xfrm>
          <a:prstGeom prst="rect">
            <a:avLst/>
          </a:prstGeom>
          <a:noFill/>
        </p:spPr>
        <p:txBody>
          <a:bodyPr wrap="square" anchor="ctr">
            <a:spAutoFit/>
          </a:bodyPr>
          <a:lstStyle/>
          <a:p>
            <a:pPr algn="ctr"/>
            <a:r>
              <a:rPr sz="1400" b="1" i="0">
                <a:solidFill>
                  <a:srgbClr val="5B6570"/>
                </a:solidFill>
                <a:latin typeface="Calibri"/>
              </a:rPr>
              <a:t>Closed-Loop Feedback</a:t>
            </a:r>
          </a:p>
        </p:txBody>
      </p:sp>
      <p:sp>
        <p:nvSpPr>
          <p:cNvPr id="22" name="TextBox 21"/>
          <p:cNvSpPr txBox="1"/>
          <p:nvPr/>
        </p:nvSpPr>
        <p:spPr>
          <a:xfrm>
            <a:off x="548640" y="5623560"/>
            <a:ext cx="11064240" cy="457200"/>
          </a:xfrm>
          <a:prstGeom prst="rect">
            <a:avLst/>
          </a:prstGeom>
          <a:noFill/>
        </p:spPr>
        <p:txBody>
          <a:bodyPr wrap="square" anchor="ctr">
            <a:spAutoFit/>
          </a:bodyPr>
          <a:lstStyle/>
          <a:p>
            <a:pPr algn="ctr"/>
            <a:r>
              <a:rPr sz="1250" b="0" i="0">
                <a:solidFill>
                  <a:srgbClr val="5B6570"/>
                </a:solidFill>
                <a:latin typeface="Calibri"/>
              </a:rPr>
              <a:t>Camera → Preprocessing → YOLO Detector → Metadata Bridge (Ds) → Random-Forest Lead-Time Predictor → Planner Dashboard.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7EF"/>
        </a:solidFill>
        <a:effectLst/>
      </p:bgPr>
    </p:bg>
    <p:spTree>
      <p:nvGrpSpPr>
        <p:cNvPr id="1" name=""/>
        <p:cNvGrpSpPr/>
        <p:nvPr/>
      </p:nvGrpSpPr>
      <p:grpSpPr/>
      <p:sp>
        <p:nvSpPr>
          <p:cNvPr id="2" name="TextBox 1"/>
          <p:cNvSpPr txBox="1"/>
          <p:nvPr/>
        </p:nvSpPr>
        <p:spPr>
          <a:xfrm>
            <a:off x="548640" y="6419088"/>
            <a:ext cx="9144000" cy="274320"/>
          </a:xfrm>
          <a:prstGeom prst="rect">
            <a:avLst/>
          </a:prstGeom>
          <a:noFill/>
        </p:spPr>
        <p:txBody>
          <a:bodyPr wrap="square">
            <a:spAutoFit/>
          </a:bodyPr>
          <a:lstStyle/>
          <a:p>
            <a:pPr algn="l"/>
            <a:r>
              <a:rPr sz="900" b="0" i="0">
                <a:solidFill>
                  <a:srgbClr val="8A8F98"/>
                </a:solidFill>
                <a:latin typeface="Calibri"/>
              </a:rPr>
              <a:t>Defect-to-Delivery  |  FYDP-I  •  Group: 262-034</a:t>
            </a:r>
          </a:p>
        </p:txBody>
      </p:sp>
      <p:sp>
        <p:nvSpPr>
          <p:cNvPr id="3" name="TextBox 2"/>
          <p:cNvSpPr txBox="1"/>
          <p:nvPr/>
        </p:nvSpPr>
        <p:spPr>
          <a:xfrm>
            <a:off x="10972800" y="6419088"/>
            <a:ext cx="640080" cy="274320"/>
          </a:xfrm>
          <a:prstGeom prst="rect">
            <a:avLst/>
          </a:prstGeom>
          <a:noFill/>
        </p:spPr>
        <p:txBody>
          <a:bodyPr wrap="none">
            <a:spAutoFit/>
          </a:bodyPr>
          <a:lstStyle/>
          <a:p>
            <a:pPr algn="r"/>
            <a:r>
              <a:rPr sz="900">
                <a:solidFill>
                  <a:srgbClr val="8A8F98"/>
                </a:solidFill>
                <a:latin typeface="Calibri"/>
              </a:rPr>
              <a:t>19 / 35</a:t>
            </a:r>
          </a:p>
        </p:txBody>
      </p:sp>
      <p:sp>
        <p:nvSpPr>
          <p:cNvPr id="4" name="Rectangle 3"/>
          <p:cNvSpPr/>
          <p:nvPr/>
        </p:nvSpPr>
        <p:spPr>
          <a:xfrm>
            <a:off x="0" y="0"/>
            <a:ext cx="12188952" cy="64008"/>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20040"/>
            <a:ext cx="11064240" cy="822960"/>
          </a:xfrm>
          <a:prstGeom prst="rect">
            <a:avLst/>
          </a:prstGeom>
          <a:noFill/>
        </p:spPr>
        <p:txBody>
          <a:bodyPr wrap="square">
            <a:spAutoFit/>
          </a:bodyPr>
          <a:lstStyle/>
          <a:p>
            <a:pPr algn="l"/>
            <a:r>
              <a:rPr sz="3400" b="1" i="0">
                <a:solidFill>
                  <a:srgbClr val="144E4C"/>
                </a:solidFill>
                <a:latin typeface="Georgia"/>
              </a:rPr>
              <a:t>System Workflow (Fig. 3.5)</a:t>
            </a:r>
          </a:p>
        </p:txBody>
      </p:sp>
      <p:sp>
        <p:nvSpPr>
          <p:cNvPr id="6" name="Rectangle 5"/>
          <p:cNvSpPr/>
          <p:nvPr/>
        </p:nvSpPr>
        <p:spPr>
          <a:xfrm>
            <a:off x="566928" y="1078992"/>
            <a:ext cx="1005840" cy="50292"/>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1417320"/>
            <a:ext cx="2011680" cy="502920"/>
          </a:xfrm>
          <a:prstGeom prst="roundRect">
            <a:avLst>
              <a:gd name="adj" fmla="val 10000"/>
            </a:avLst>
          </a:prstGeom>
          <a:solidFill>
            <a:srgbClr val="FFFFFF"/>
          </a:solidFill>
          <a:ln w="19050">
            <a:solidFill>
              <a:srgbClr val="1B7A6E"/>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a:r>
              <a:rPr sz="1250" b="1" i="0">
                <a:solidFill>
                  <a:srgbClr val="1F2937"/>
                </a:solidFill>
                <a:latin typeface="Calibri"/>
              </a:rPr>
              <a:t>Start</a:t>
            </a:r>
          </a:p>
        </p:txBody>
      </p:sp>
      <p:sp>
        <p:nvSpPr>
          <p:cNvPr id="8" name="Rounded Rectangle 7"/>
          <p:cNvSpPr/>
          <p:nvPr/>
        </p:nvSpPr>
        <p:spPr>
          <a:xfrm>
            <a:off x="822960" y="2103120"/>
            <a:ext cx="2011680" cy="640080"/>
          </a:xfrm>
          <a:prstGeom prst="roundRect">
            <a:avLst>
              <a:gd name="adj" fmla="val 10000"/>
            </a:avLst>
          </a:prstGeom>
          <a:solidFill>
            <a:srgbClr val="FFFFFF"/>
          </a:solidFill>
          <a:ln w="19050">
            <a:solidFill>
              <a:srgbClr val="1B7A6E"/>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a:r>
              <a:rPr sz="1250" b="0" i="0">
                <a:solidFill>
                  <a:srgbClr val="1F2937"/>
                </a:solidFill>
                <a:latin typeface="Calibri"/>
              </a:rPr>
              <a:t>Capture Fabric Image / Stream</a:t>
            </a:r>
          </a:p>
        </p:txBody>
      </p:sp>
      <p:sp>
        <p:nvSpPr>
          <p:cNvPr id="9" name="Rounded Rectangle 8"/>
          <p:cNvSpPr/>
          <p:nvPr/>
        </p:nvSpPr>
        <p:spPr>
          <a:xfrm>
            <a:off x="822960" y="2926080"/>
            <a:ext cx="2011680" cy="731520"/>
          </a:xfrm>
          <a:prstGeom prst="roundRect">
            <a:avLst>
              <a:gd name="adj" fmla="val 10000"/>
            </a:avLst>
          </a:prstGeom>
          <a:solidFill>
            <a:srgbClr val="FFFFFF"/>
          </a:solidFill>
          <a:ln w="19050">
            <a:solidFill>
              <a:srgbClr val="1B7A6E"/>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a:r>
              <a:rPr sz="1150" b="0" i="0">
                <a:solidFill>
                  <a:srgbClr val="1F2937"/>
                </a:solidFill>
                <a:latin typeface="Calibri"/>
              </a:rPr>
              <a:t>Preprocessing
(Resize, Noise Removal, Enhance)</a:t>
            </a:r>
          </a:p>
        </p:txBody>
      </p:sp>
      <p:sp>
        <p:nvSpPr>
          <p:cNvPr id="10" name="Rounded Rectangle 9"/>
          <p:cNvSpPr/>
          <p:nvPr/>
        </p:nvSpPr>
        <p:spPr>
          <a:xfrm>
            <a:off x="822960" y="3840480"/>
            <a:ext cx="2011680" cy="731520"/>
          </a:xfrm>
          <a:prstGeom prst="roundRect">
            <a:avLst>
              <a:gd name="adj" fmla="val 10000"/>
            </a:avLst>
          </a:prstGeom>
          <a:solidFill>
            <a:srgbClr val="FFFFFF"/>
          </a:solidFill>
          <a:ln w="19050">
            <a:solidFill>
              <a:srgbClr val="1B7A6E"/>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a:r>
              <a:rPr sz="1150" b="0" i="0">
                <a:solidFill>
                  <a:srgbClr val="1F2937"/>
                </a:solidFill>
                <a:latin typeface="Calibri"/>
              </a:rPr>
              <a:t>YOLO Defect Detection
(Type + Boxes / Masks)</a:t>
            </a:r>
          </a:p>
        </p:txBody>
      </p:sp>
      <p:sp>
        <p:nvSpPr>
          <p:cNvPr id="11" name="Diamond 10"/>
          <p:cNvSpPr/>
          <p:nvPr/>
        </p:nvSpPr>
        <p:spPr>
          <a:xfrm>
            <a:off x="822960" y="4754880"/>
            <a:ext cx="2011680" cy="822960"/>
          </a:xfrm>
          <a:prstGeom prst="diamond">
            <a:avLst/>
          </a:prstGeom>
          <a:solidFill>
            <a:srgbClr val="FFFFFF"/>
          </a:solidFill>
          <a:ln w="19050">
            <a:solidFill>
              <a:srgbClr val="1B7A6E"/>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a:r>
              <a:rPr sz="1250" b="0" i="0">
                <a:solidFill>
                  <a:srgbClr val="1F2937"/>
                </a:solidFill>
                <a:latin typeface="Calibri"/>
              </a:rPr>
              <a:t>Defect Detected?</a:t>
            </a:r>
          </a:p>
        </p:txBody>
      </p:sp>
      <p:sp>
        <p:nvSpPr>
          <p:cNvPr id="12" name="Rounded Rectangle 11"/>
          <p:cNvSpPr/>
          <p:nvPr/>
        </p:nvSpPr>
        <p:spPr>
          <a:xfrm>
            <a:off x="3383280" y="4754880"/>
            <a:ext cx="2011680" cy="822960"/>
          </a:xfrm>
          <a:prstGeom prst="roundRect">
            <a:avLst>
              <a:gd name="adj" fmla="val 10000"/>
            </a:avLst>
          </a:prstGeom>
          <a:solidFill>
            <a:srgbClr val="FFFFFF"/>
          </a:solidFill>
          <a:ln w="19050">
            <a:solidFill>
              <a:srgbClr val="1B7A6E"/>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a:r>
              <a:rPr sz="1100" b="0" i="0">
                <a:solidFill>
                  <a:srgbClr val="1F2937"/>
                </a:solidFill>
                <a:latin typeface="Calibri"/>
              </a:rPr>
              <a:t>Identify Defect Type
(Hole / Horizontal / Vertical / Lines / Stain)</a:t>
            </a:r>
          </a:p>
        </p:txBody>
      </p:sp>
      <p:sp>
        <p:nvSpPr>
          <p:cNvPr id="13" name="Rounded Rectangle 12"/>
          <p:cNvSpPr/>
          <p:nvPr/>
        </p:nvSpPr>
        <p:spPr>
          <a:xfrm>
            <a:off x="822960" y="5760720"/>
            <a:ext cx="2011680" cy="411480"/>
          </a:xfrm>
          <a:prstGeom prst="roundRect">
            <a:avLst>
              <a:gd name="adj" fmla="val 10000"/>
            </a:avLst>
          </a:prstGeom>
          <a:solidFill>
            <a:srgbClr val="FFFFFF"/>
          </a:solidFill>
          <a:ln w="19050">
            <a:solidFill>
              <a:srgbClr val="1B7A6E"/>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a:r>
              <a:rPr sz="1100" b="0" i="0">
                <a:solidFill>
                  <a:srgbClr val="1F2937"/>
                </a:solidFill>
                <a:latin typeface="Calibri"/>
              </a:rPr>
              <a:t>Mark Defect-Free, Ds = 0</a:t>
            </a:r>
          </a:p>
        </p:txBody>
      </p:sp>
      <p:cxnSp>
        <p:nvCxnSpPr>
          <p:cNvPr id="14" name="Connector 13"/>
          <p:cNvCxnSpPr/>
          <p:nvPr/>
        </p:nvCxnSpPr>
        <p:spPr>
          <a:xfrm>
            <a:off x="1828800" y="1938528"/>
            <a:ext cx="0" cy="146303"/>
          </a:xfrm>
          <a:prstGeom prst="line">
            <a:avLst/>
          </a:prstGeom>
          <a:ln w="19050">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828800" y="2761488"/>
            <a:ext cx="0" cy="146304"/>
          </a:xfrm>
          <a:prstGeom prst="line">
            <a:avLst/>
          </a:prstGeom>
          <a:ln w="19050">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828800" y="3675887"/>
            <a:ext cx="0" cy="146304"/>
          </a:xfrm>
          <a:prstGeom prst="line">
            <a:avLst/>
          </a:prstGeom>
          <a:ln w="19050">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828800" y="4590288"/>
            <a:ext cx="0" cy="146304"/>
          </a:xfrm>
          <a:prstGeom prst="line">
            <a:avLst/>
          </a:prstGeom>
          <a:ln w="19050">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828800" y="5596128"/>
            <a:ext cx="0" cy="146304"/>
          </a:xfrm>
          <a:prstGeom prst="line">
            <a:avLst/>
          </a:prstGeom>
          <a:ln w="19050">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852928" y="5166360"/>
            <a:ext cx="512064" cy="0"/>
          </a:xfrm>
          <a:prstGeom prst="line">
            <a:avLst/>
          </a:prstGeom>
          <a:ln w="19050">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035040" y="1828800"/>
            <a:ext cx="5577840" cy="4023360"/>
          </a:xfrm>
          <a:prstGeom prst="rect">
            <a:avLst/>
          </a:prstGeom>
          <a:noFill/>
        </p:spPr>
        <p:txBody>
          <a:bodyPr wrap="square">
            <a:spAutoFit/>
          </a:bodyPr>
          <a:lstStyle/>
          <a:p>
            <a:pPr algn="l">
              <a:spcBef>
                <a:spcPts val="0"/>
              </a:spcBef>
              <a:spcAft>
                <a:spcPts val="800"/>
              </a:spcAft>
            </a:pPr>
            <a:r>
              <a:rPr sz="1550" b="0" i="0">
                <a:solidFill>
                  <a:srgbClr val="1F2937"/>
                </a:solidFill>
                <a:latin typeface="Calibri"/>
              </a:rPr>
              <a:t>▪  Each Frame Is Loaded, Preprocessed, And Passed Through YOLO Detection.</a:t>
            </a:r>
          </a:p>
          <a:p>
            <a:pPr algn="l">
              <a:spcBef>
                <a:spcPts val="0"/>
              </a:spcBef>
              <a:spcAft>
                <a:spcPts val="800"/>
              </a:spcAft>
            </a:pPr>
            <a:r>
              <a:rPr sz="1550" b="0" i="0">
                <a:solidFill>
                  <a:srgbClr val="1F2937"/>
                </a:solidFill>
                <a:latin typeface="Calibri"/>
              </a:rPr>
              <a:t>▪  A Defect Triggers Area + Ds Computation; A Clean Frame Sets Ds = 0.</a:t>
            </a:r>
          </a:p>
          <a:p>
            <a:pPr algn="l">
              <a:spcBef>
                <a:spcPts val="0"/>
              </a:spcBef>
              <a:spcAft>
                <a:spcPts val="800"/>
              </a:spcAft>
            </a:pPr>
            <a:r>
              <a:rPr sz="1550" b="0" i="0">
                <a:solidFill>
                  <a:srgbClr val="1F2937"/>
                </a:solidFill>
                <a:latin typeface="Calibri"/>
              </a:rPr>
              <a:t>▪  Ds Feeds A Rolling Average Before The Random Forest Predicts Hours.</a:t>
            </a:r>
          </a:p>
          <a:p>
            <a:pPr algn="l">
              <a:spcBef>
                <a:spcPts val="0"/>
              </a:spcBef>
              <a:spcAft>
                <a:spcPts val="800"/>
              </a:spcAft>
            </a:pPr>
            <a:r>
              <a:rPr sz="1550" b="0" i="0">
                <a:solidFill>
                  <a:srgbClr val="1F2937"/>
                </a:solidFill>
                <a:latin typeface="Calibri"/>
              </a:rPr>
              <a:t>▪  Result Is Displayed, And The Loop Repeats Until Frames Run Out.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7EF"/>
        </a:solidFill>
        <a:effectLst/>
      </p:bgPr>
    </p:bg>
    <p:spTree>
      <p:nvGrpSpPr>
        <p:cNvPr id="1" name=""/>
        <p:cNvGrpSpPr/>
        <p:nvPr/>
      </p:nvGrpSpPr>
      <p:grpSpPr/>
      <p:sp>
        <p:nvSpPr>
          <p:cNvPr id="2" name="TextBox 1"/>
          <p:cNvSpPr txBox="1"/>
          <p:nvPr/>
        </p:nvSpPr>
        <p:spPr>
          <a:xfrm>
            <a:off x="548640" y="6419088"/>
            <a:ext cx="9144000" cy="274320"/>
          </a:xfrm>
          <a:prstGeom prst="rect">
            <a:avLst/>
          </a:prstGeom>
          <a:noFill/>
        </p:spPr>
        <p:txBody>
          <a:bodyPr wrap="square">
            <a:spAutoFit/>
          </a:bodyPr>
          <a:lstStyle/>
          <a:p>
            <a:pPr algn="l"/>
            <a:r>
              <a:rPr sz="900" b="0" i="0">
                <a:solidFill>
                  <a:srgbClr val="8A8F98"/>
                </a:solidFill>
                <a:latin typeface="Calibri"/>
              </a:rPr>
              <a:t>Defect-to-Delivery  |  FYDP-I  •  Group: 262-034</a:t>
            </a:r>
          </a:p>
        </p:txBody>
      </p:sp>
      <p:sp>
        <p:nvSpPr>
          <p:cNvPr id="3" name="TextBox 2"/>
          <p:cNvSpPr txBox="1"/>
          <p:nvPr/>
        </p:nvSpPr>
        <p:spPr>
          <a:xfrm>
            <a:off x="10972800" y="6419088"/>
            <a:ext cx="640080" cy="274320"/>
          </a:xfrm>
          <a:prstGeom prst="rect">
            <a:avLst/>
          </a:prstGeom>
          <a:noFill/>
        </p:spPr>
        <p:txBody>
          <a:bodyPr wrap="none">
            <a:spAutoFit/>
          </a:bodyPr>
          <a:lstStyle/>
          <a:p>
            <a:pPr algn="r"/>
            <a:r>
              <a:rPr sz="900">
                <a:solidFill>
                  <a:srgbClr val="8A8F98"/>
                </a:solidFill>
                <a:latin typeface="Calibri"/>
              </a:rPr>
              <a:t>20 / 35</a:t>
            </a:r>
          </a:p>
        </p:txBody>
      </p:sp>
      <p:sp>
        <p:nvSpPr>
          <p:cNvPr id="4" name="Rectangle 3"/>
          <p:cNvSpPr/>
          <p:nvPr/>
        </p:nvSpPr>
        <p:spPr>
          <a:xfrm>
            <a:off x="0" y="0"/>
            <a:ext cx="12188952" cy="64008"/>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20040"/>
            <a:ext cx="11064240" cy="822960"/>
          </a:xfrm>
          <a:prstGeom prst="rect">
            <a:avLst/>
          </a:prstGeom>
          <a:noFill/>
        </p:spPr>
        <p:txBody>
          <a:bodyPr wrap="square">
            <a:spAutoFit/>
          </a:bodyPr>
          <a:lstStyle/>
          <a:p>
            <a:pPr algn="l"/>
            <a:r>
              <a:rPr sz="2600" b="1">
                <a:solidFill>
                  <a:srgbClr val="144E4C"/>
                </a:solidFill>
                <a:latin typeface="Georgia"/>
              </a:rPr>
              <a:t>Context Diagram (Fig. 3.1) + Metadata Bridge (Fig. 3.6)</a:t>
            </a:r>
          </a:p>
        </p:txBody>
      </p:sp>
      <p:sp>
        <p:nvSpPr>
          <p:cNvPr id="6" name="Rectangle 5"/>
          <p:cNvSpPr/>
          <p:nvPr/>
        </p:nvSpPr>
        <p:spPr>
          <a:xfrm>
            <a:off x="566928" y="1078992"/>
            <a:ext cx="1005840" cy="50292"/>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417320"/>
            <a:ext cx="11064240" cy="411480"/>
          </a:xfrm>
          <a:prstGeom prst="rect">
            <a:avLst/>
          </a:prstGeom>
          <a:noFill/>
        </p:spPr>
        <p:txBody>
          <a:bodyPr wrap="square" anchor="ctr">
            <a:spAutoFit/>
          </a:bodyPr>
          <a:lstStyle/>
          <a:p>
            <a:pPr algn="ctr"/>
            <a:r>
              <a:rPr sz="1250" b="0">
                <a:solidFill>
                  <a:srgbClr val="5B6570"/>
                </a:solidFill>
                <a:latin typeface="Calibri"/>
              </a:rPr>
              <a:t>Level-0 context diagram (Fig. 3.1): fabric camera, manufacturing data and planner/inspector around process 0.</a:t>
            </a:r>
          </a:p>
          <a:p>
            <a:r>
              <a:rPr sz="1250" b="0">
                <a:solidFill>
                  <a:srgbClr val="5B6570"/>
                </a:solidFill>
                <a:latin typeface="Calibri"/>
              </a:rPr>
              <a:t>Ds metadata bridge (Fig. 3.6): detection output becomes a predictor input.</a:t>
            </a:r>
          </a:p>
        </p:txBody>
      </p:sp>
      <p:sp>
        <p:nvSpPr>
          <p:cNvPr id="8" name="Oval 7"/>
          <p:cNvSpPr/>
          <p:nvPr/>
        </p:nvSpPr>
        <p:spPr>
          <a:xfrm>
            <a:off x="640080" y="1965960"/>
            <a:ext cx="1737360" cy="822960"/>
          </a:xfrm>
          <a:prstGeom prst="ellipse">
            <a:avLst/>
          </a:prstGeom>
          <a:solidFill>
            <a:srgbClr val="FFFFFF"/>
          </a:solidFill>
          <a:ln w="19050">
            <a:solidFill>
              <a:srgbClr val="1B7A6E"/>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a:r>
              <a:rPr sz="1200" b="0" i="0">
                <a:solidFill>
                  <a:srgbClr val="1F2937"/>
                </a:solidFill>
                <a:latin typeface="Calibri"/>
              </a:rPr>
              <a:t>Fabric Camera</a:t>
            </a:r>
          </a:p>
        </p:txBody>
      </p:sp>
      <p:sp>
        <p:nvSpPr>
          <p:cNvPr id="9" name="Oval 8"/>
          <p:cNvSpPr/>
          <p:nvPr/>
        </p:nvSpPr>
        <p:spPr>
          <a:xfrm>
            <a:off x="640080" y="2971800"/>
            <a:ext cx="1737360" cy="822960"/>
          </a:xfrm>
          <a:prstGeom prst="ellipse">
            <a:avLst/>
          </a:prstGeom>
          <a:solidFill>
            <a:srgbClr val="FFFFFF"/>
          </a:solidFill>
          <a:ln w="19050">
            <a:solidFill>
              <a:srgbClr val="1B7A6E"/>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a:r>
              <a:rPr sz="1200" b="0" i="0">
                <a:solidFill>
                  <a:srgbClr val="1F2937"/>
                </a:solidFill>
                <a:latin typeface="Calibri"/>
              </a:rPr>
              <a:t>Manufacturing Data</a:t>
            </a:r>
          </a:p>
        </p:txBody>
      </p:sp>
      <p:sp>
        <p:nvSpPr>
          <p:cNvPr id="10" name="Oval 9"/>
          <p:cNvSpPr/>
          <p:nvPr/>
        </p:nvSpPr>
        <p:spPr>
          <a:xfrm>
            <a:off x="2743200" y="1965960"/>
            <a:ext cx="2377440" cy="1828800"/>
          </a:xfrm>
          <a:prstGeom prst="ellipse">
            <a:avLst/>
          </a:prstGeom>
          <a:solidFill>
            <a:srgbClr val="FFFFFF"/>
          </a:solidFill>
          <a:ln w="19050">
            <a:solidFill>
              <a:srgbClr val="1B7A6E"/>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a:r>
              <a:rPr sz="1400" b="1" i="0">
                <a:solidFill>
                  <a:srgbClr val="1F2937"/>
                </a:solidFill>
                <a:latin typeface="Calibri"/>
              </a:rPr>
              <a:t>0 Detect + Score + Predict</a:t>
            </a:r>
          </a:p>
        </p:txBody>
      </p:sp>
      <p:sp>
        <p:nvSpPr>
          <p:cNvPr id="11" name="Oval 10"/>
          <p:cNvSpPr/>
          <p:nvPr/>
        </p:nvSpPr>
        <p:spPr>
          <a:xfrm>
            <a:off x="5577840" y="2286000"/>
            <a:ext cx="2286000" cy="1188720"/>
          </a:xfrm>
          <a:prstGeom prst="ellipse">
            <a:avLst/>
          </a:prstGeom>
          <a:solidFill>
            <a:srgbClr val="FFFFFF"/>
          </a:solidFill>
          <a:ln w="19050">
            <a:solidFill>
              <a:srgbClr val="1B7A6E"/>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a:r>
              <a:rPr sz="1200" b="0" i="0">
                <a:solidFill>
                  <a:srgbClr val="1F2937"/>
                </a:solidFill>
                <a:latin typeface="Calibri"/>
              </a:rPr>
              <a:t>Result + Ds + Hours</a:t>
            </a:r>
          </a:p>
        </p:txBody>
      </p:sp>
      <p:sp>
        <p:nvSpPr>
          <p:cNvPr id="12" name="Oval 11"/>
          <p:cNvSpPr/>
          <p:nvPr/>
        </p:nvSpPr>
        <p:spPr>
          <a:xfrm>
            <a:off x="8321040" y="2286000"/>
            <a:ext cx="2286000" cy="1188720"/>
          </a:xfrm>
          <a:prstGeom prst="ellipse">
            <a:avLst/>
          </a:prstGeom>
          <a:solidFill>
            <a:srgbClr val="FFFFFF"/>
          </a:solidFill>
          <a:ln w="19050">
            <a:solidFill>
              <a:srgbClr val="1B7A6E"/>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a:r>
              <a:rPr sz="1200" b="0" i="0">
                <a:solidFill>
                  <a:srgbClr val="1F2937"/>
                </a:solidFill>
                <a:latin typeface="Calibri"/>
              </a:rPr>
              <a:t>Planner / Inspector</a:t>
            </a:r>
          </a:p>
        </p:txBody>
      </p:sp>
      <p:cxnSp>
        <p:nvCxnSpPr>
          <p:cNvPr id="13" name="Connector 12"/>
          <p:cNvCxnSpPr/>
          <p:nvPr/>
        </p:nvCxnSpPr>
        <p:spPr>
          <a:xfrm>
            <a:off x="2377440" y="2377440"/>
            <a:ext cx="347472" cy="0"/>
          </a:xfrm>
          <a:prstGeom prst="line">
            <a:avLst/>
          </a:prstGeom>
          <a:ln w="19050">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377440" y="3383280"/>
            <a:ext cx="347472" cy="0"/>
          </a:xfrm>
          <a:prstGeom prst="line">
            <a:avLst/>
          </a:prstGeom>
          <a:ln w="19050">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120640" y="2651760"/>
            <a:ext cx="438912" cy="0"/>
          </a:xfrm>
          <a:prstGeom prst="line">
            <a:avLst/>
          </a:prstGeom>
          <a:ln w="19050">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863840" y="3108960"/>
            <a:ext cx="438912" cy="0"/>
          </a:xfrm>
          <a:prstGeom prst="line">
            <a:avLst/>
          </a:prstGeom>
          <a:ln w="19050">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8640" y="3977639"/>
            <a:ext cx="11064240" cy="365760"/>
          </a:xfrm>
          <a:prstGeom prst="rect">
            <a:avLst/>
          </a:prstGeom>
          <a:noFill/>
        </p:spPr>
        <p:txBody>
          <a:bodyPr wrap="square" anchor="ctr">
            <a:spAutoFit/>
          </a:bodyPr>
          <a:lstStyle/>
          <a:p>
            <a:pPr algn="ctr"/>
            <a:r>
              <a:rPr sz="1400" b="1" i="0">
                <a:solidFill>
                  <a:srgbClr val="144E4C"/>
                </a:solidFill>
                <a:latin typeface="Calibri"/>
              </a:rPr>
              <a:t>Ds Metadata Bridge (Rolling 10-Frame Average)</a:t>
            </a:r>
          </a:p>
        </p:txBody>
      </p:sp>
      <p:sp>
        <p:nvSpPr>
          <p:cNvPr id="18" name="Rounded Rectangle 17"/>
          <p:cNvSpPr/>
          <p:nvPr/>
        </p:nvSpPr>
        <p:spPr>
          <a:xfrm>
            <a:off x="640080" y="4434840"/>
            <a:ext cx="1554480" cy="914400"/>
          </a:xfrm>
          <a:prstGeom prst="roundRect">
            <a:avLst>
              <a:gd name="adj" fmla="val 10000"/>
            </a:avLst>
          </a:prstGeom>
          <a:solidFill>
            <a:srgbClr val="E4ECD4"/>
          </a:solidFill>
          <a:ln w="19050">
            <a:solidFill>
              <a:srgbClr val="1B7A6E"/>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a:r>
              <a:rPr sz="1100" b="0" i="0">
                <a:solidFill>
                  <a:srgbClr val="1F2937"/>
                </a:solidFill>
                <a:latin typeface="Calibri"/>
              </a:rPr>
              <a:t>YOLO Output:
Class, Conf., Box</a:t>
            </a:r>
          </a:p>
        </p:txBody>
      </p:sp>
      <p:sp>
        <p:nvSpPr>
          <p:cNvPr id="19" name="Rounded Rectangle 18"/>
          <p:cNvSpPr/>
          <p:nvPr/>
        </p:nvSpPr>
        <p:spPr>
          <a:xfrm>
            <a:off x="2404872" y="4434840"/>
            <a:ext cx="1554480" cy="914400"/>
          </a:xfrm>
          <a:prstGeom prst="roundRect">
            <a:avLst>
              <a:gd name="adj" fmla="val 10000"/>
            </a:avLst>
          </a:prstGeom>
          <a:solidFill>
            <a:srgbClr val="E4ECD4"/>
          </a:solidFill>
          <a:ln w="19050">
            <a:solidFill>
              <a:srgbClr val="1B7A6E"/>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a:r>
              <a:rPr sz="1100" b="0" i="0">
                <a:solidFill>
                  <a:srgbClr val="1F2937"/>
                </a:solidFill>
                <a:latin typeface="Calibri"/>
              </a:rPr>
              <a:t>Per-Defect
Area</a:t>
            </a:r>
          </a:p>
        </p:txBody>
      </p:sp>
      <p:cxnSp>
        <p:nvCxnSpPr>
          <p:cNvPr id="20" name="Connector 19"/>
          <p:cNvCxnSpPr/>
          <p:nvPr/>
        </p:nvCxnSpPr>
        <p:spPr>
          <a:xfrm>
            <a:off x="2212848" y="4892040"/>
            <a:ext cx="201167" cy="0"/>
          </a:xfrm>
          <a:prstGeom prst="line">
            <a:avLst/>
          </a:prstGeom>
          <a:ln w="19050">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169663" y="4434840"/>
            <a:ext cx="1554480" cy="914400"/>
          </a:xfrm>
          <a:prstGeom prst="roundRect">
            <a:avLst>
              <a:gd name="adj" fmla="val 10000"/>
            </a:avLst>
          </a:prstGeom>
          <a:solidFill>
            <a:srgbClr val="E4ECD4"/>
          </a:solidFill>
          <a:ln w="19050">
            <a:solidFill>
              <a:srgbClr val="1B7A6E"/>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a:r>
              <a:rPr sz="1100" b="0" i="0">
                <a:solidFill>
                  <a:srgbClr val="1F2937"/>
                </a:solidFill>
                <a:latin typeface="Calibri"/>
              </a:rPr>
              <a:t>Sum Defect
Area</a:t>
            </a:r>
          </a:p>
        </p:txBody>
      </p:sp>
      <p:cxnSp>
        <p:nvCxnSpPr>
          <p:cNvPr id="22" name="Connector 21"/>
          <p:cNvCxnSpPr/>
          <p:nvPr/>
        </p:nvCxnSpPr>
        <p:spPr>
          <a:xfrm>
            <a:off x="3977639" y="4892040"/>
            <a:ext cx="201168" cy="0"/>
          </a:xfrm>
          <a:prstGeom prst="line">
            <a:avLst/>
          </a:prstGeom>
          <a:ln w="19050">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934456" y="4434840"/>
            <a:ext cx="1554480" cy="914400"/>
          </a:xfrm>
          <a:prstGeom prst="roundRect">
            <a:avLst>
              <a:gd name="adj" fmla="val 10000"/>
            </a:avLst>
          </a:prstGeom>
          <a:solidFill>
            <a:srgbClr val="E4ECD4"/>
          </a:solidFill>
          <a:ln w="19050">
            <a:solidFill>
              <a:srgbClr val="1B7A6E"/>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a:r>
              <a:rPr sz="1100" b="0" i="0">
                <a:solidFill>
                  <a:srgbClr val="1F2937"/>
                </a:solidFill>
                <a:latin typeface="Calibri"/>
              </a:rPr>
              <a:t>Ds =
Defect / Frame</a:t>
            </a:r>
          </a:p>
        </p:txBody>
      </p:sp>
      <p:cxnSp>
        <p:nvCxnSpPr>
          <p:cNvPr id="24" name="Connector 23"/>
          <p:cNvCxnSpPr/>
          <p:nvPr/>
        </p:nvCxnSpPr>
        <p:spPr>
          <a:xfrm>
            <a:off x="5742432" y="4892040"/>
            <a:ext cx="201168" cy="0"/>
          </a:xfrm>
          <a:prstGeom prst="line">
            <a:avLst/>
          </a:prstGeom>
          <a:ln w="19050">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699248" y="4434840"/>
            <a:ext cx="1554480" cy="914400"/>
          </a:xfrm>
          <a:prstGeom prst="roundRect">
            <a:avLst>
              <a:gd name="adj" fmla="val 10000"/>
            </a:avLst>
          </a:prstGeom>
          <a:solidFill>
            <a:srgbClr val="E4ECD4"/>
          </a:solidFill>
          <a:ln w="19050">
            <a:solidFill>
              <a:srgbClr val="1B7A6E"/>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a:r>
              <a:rPr sz="1100" b="0" i="0">
                <a:solidFill>
                  <a:srgbClr val="1F2937"/>
                </a:solidFill>
                <a:latin typeface="Calibri"/>
              </a:rPr>
              <a:t>Rolling Avg.
Last 10 Frames</a:t>
            </a:r>
          </a:p>
        </p:txBody>
      </p:sp>
      <p:cxnSp>
        <p:nvCxnSpPr>
          <p:cNvPr id="26" name="Connector 25"/>
          <p:cNvCxnSpPr/>
          <p:nvPr/>
        </p:nvCxnSpPr>
        <p:spPr>
          <a:xfrm>
            <a:off x="7507223" y="4892040"/>
            <a:ext cx="201169" cy="0"/>
          </a:xfrm>
          <a:prstGeom prst="line">
            <a:avLst/>
          </a:prstGeom>
          <a:ln w="19050">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9464040" y="4434840"/>
            <a:ext cx="1554480" cy="914400"/>
          </a:xfrm>
          <a:prstGeom prst="roundRect">
            <a:avLst>
              <a:gd name="adj" fmla="val 10000"/>
            </a:avLst>
          </a:prstGeom>
          <a:solidFill>
            <a:srgbClr val="E4ECD4"/>
          </a:solidFill>
          <a:ln w="19050">
            <a:solidFill>
              <a:srgbClr val="1B7A6E"/>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a:r>
              <a:rPr sz="1100" b="0" i="0">
                <a:solidFill>
                  <a:srgbClr val="1F2937"/>
                </a:solidFill>
                <a:latin typeface="Calibri"/>
              </a:rPr>
              <a:t>Predictor
Input</a:t>
            </a:r>
          </a:p>
        </p:txBody>
      </p:sp>
      <p:cxnSp>
        <p:nvCxnSpPr>
          <p:cNvPr id="28" name="Connector 27"/>
          <p:cNvCxnSpPr/>
          <p:nvPr/>
        </p:nvCxnSpPr>
        <p:spPr>
          <a:xfrm>
            <a:off x="9272015" y="4892040"/>
            <a:ext cx="201169" cy="0"/>
          </a:xfrm>
          <a:prstGeom prst="line">
            <a:avLst/>
          </a:prstGeom>
          <a:ln w="19050">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5934456" y="5486400"/>
            <a:ext cx="1554480" cy="658368"/>
          </a:xfrm>
          <a:prstGeom prst="roundRect">
            <a:avLst>
              <a:gd name="adj" fmla="val 10000"/>
            </a:avLst>
          </a:prstGeom>
          <a:solidFill>
            <a:srgbClr val="E4ECD4"/>
          </a:solidFill>
          <a:ln w="19050">
            <a:solidFill>
              <a:srgbClr val="1B7A6E"/>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a:r>
              <a:rPr sz="1100" b="0" i="0">
                <a:solidFill>
                  <a:srgbClr val="1F2937"/>
                </a:solidFill>
                <a:latin typeface="Calibri"/>
              </a:rPr>
              <a:t>Frame Area
H × W</a:t>
            </a:r>
          </a:p>
        </p:txBody>
      </p:sp>
      <p:cxnSp>
        <p:nvCxnSpPr>
          <p:cNvPr id="30" name="Connector 29"/>
          <p:cNvCxnSpPr/>
          <p:nvPr/>
        </p:nvCxnSpPr>
        <p:spPr>
          <a:xfrm flipV="1">
            <a:off x="6711696" y="5367528"/>
            <a:ext cx="0" cy="100584"/>
          </a:xfrm>
          <a:prstGeom prst="line">
            <a:avLst/>
          </a:prstGeom>
          <a:ln w="19050">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4008"/>
          </a:xfrm>
          <a:prstGeom prst="rect">
            <a:avLst/>
          </a:prstGeom>
          <a:solidFill>
            <a:srgbClr val="D99A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lIns="0" rIns="0" tIns="0" bIns="0">
            <a:spAutoFit/>
          </a:bodyPr>
          <a:lstStyle/>
          <a:p>
            <a:pPr algn="l"/>
            <a:r>
              <a:rPr sz="3400" b="1">
                <a:solidFill>
                  <a:srgbClr val="144E4C"/>
                </a:solidFill>
                <a:latin typeface="Georgia"/>
              </a:rPr>
              <a:t>Architectural Design (Fig. 3.3)</a:t>
            </a:r>
          </a:p>
        </p:txBody>
      </p:sp>
      <p:sp>
        <p:nvSpPr>
          <p:cNvPr id="4" name="Rectangle 3"/>
          <p:cNvSpPr/>
          <p:nvPr/>
        </p:nvSpPr>
        <p:spPr>
          <a:xfrm>
            <a:off x="566928" y="1078992"/>
            <a:ext cx="1005840" cy="54864"/>
          </a:xfrm>
          <a:prstGeom prst="rect">
            <a:avLst/>
          </a:prstGeom>
          <a:solidFill>
            <a:srgbClr val="D99A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19088"/>
            <a:ext cx="9144000" cy="274320"/>
          </a:xfrm>
          <a:prstGeom prst="rect">
            <a:avLst/>
          </a:prstGeom>
          <a:noFill/>
        </p:spPr>
        <p:txBody>
          <a:bodyPr wrap="square" lIns="0" rIns="0" tIns="0" bIns="0">
            <a:spAutoFit/>
          </a:bodyPr>
          <a:lstStyle/>
          <a:p>
            <a:pPr algn="l"/>
            <a:r>
              <a:rPr sz="900" b="0">
                <a:solidFill>
                  <a:srgbClr val="8A8F98"/>
                </a:solidFill>
                <a:latin typeface="Calibri"/>
              </a:rPr>
              <a:t>Defect-to-Delivery  |  FYDP-I  •  Group: 262-034</a:t>
            </a:r>
          </a:p>
        </p:txBody>
      </p:sp>
      <p:sp>
        <p:nvSpPr>
          <p:cNvPr id="6" name="TextBox 5"/>
          <p:cNvSpPr txBox="1"/>
          <p:nvPr/>
        </p:nvSpPr>
        <p:spPr>
          <a:xfrm>
            <a:off x="10972800" y="6419088"/>
            <a:ext cx="640080" cy="274320"/>
          </a:xfrm>
          <a:prstGeom prst="rect">
            <a:avLst/>
          </a:prstGeom>
          <a:noFill/>
        </p:spPr>
        <p:txBody>
          <a:bodyPr wrap="square" lIns="0" rIns="0" tIns="0" bIns="0">
            <a:spAutoFit/>
          </a:bodyPr>
          <a:lstStyle/>
          <a:p>
            <a:pPr algn="l"/>
            <a:r>
              <a:rPr sz="900" b="0">
                <a:solidFill>
                  <a:srgbClr val="8A8F98"/>
                </a:solidFill>
                <a:latin typeface="Calibri"/>
              </a:rPr>
              <a:t>21 / 35</a:t>
            </a:r>
          </a:p>
        </p:txBody>
      </p:sp>
      <p:sp>
        <p:nvSpPr>
          <p:cNvPr id="7" name="TextBox 6"/>
          <p:cNvSpPr txBox="1"/>
          <p:nvPr/>
        </p:nvSpPr>
        <p:spPr>
          <a:xfrm>
            <a:off x="548640" y="1298448"/>
            <a:ext cx="5394960" cy="256032"/>
          </a:xfrm>
          <a:prstGeom prst="rect">
            <a:avLst/>
          </a:prstGeom>
          <a:noFill/>
        </p:spPr>
        <p:txBody>
          <a:bodyPr wrap="square" lIns="0" rIns="0" tIns="0" bIns="0">
            <a:spAutoFit/>
          </a:bodyPr>
          <a:lstStyle/>
          <a:p>
            <a:pPr algn="l"/>
            <a:r>
              <a:rPr sz="1100" b="1">
                <a:solidFill>
                  <a:srgbClr val="D99A06"/>
                </a:solidFill>
                <a:latin typeface="Calibri"/>
              </a:rPr>
              <a:t>PRESENTATION LAYER</a:t>
            </a:r>
          </a:p>
        </p:txBody>
      </p:sp>
      <p:sp>
        <p:nvSpPr>
          <p:cNvPr id="8" name="Rounded Rectangle 7"/>
          <p:cNvSpPr/>
          <p:nvPr/>
        </p:nvSpPr>
        <p:spPr>
          <a:xfrm>
            <a:off x="548640" y="1627632"/>
            <a:ext cx="5394960" cy="841248"/>
          </a:xfrm>
          <a:prstGeom prst="roundRect">
            <a:avLst/>
          </a:prstGeom>
          <a:solidFill>
            <a:srgbClr val="FFFFFF"/>
          </a:solidFill>
          <a:ln w="12700">
            <a:solidFill>
              <a:srgbClr val="144E4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144E4C"/>
                </a:solidFill>
                <a:latin typeface="Calibri"/>
              </a:rPr>
              <a:t>Planner Dashboard</a:t>
            </a:r>
          </a:p>
          <a:p>
            <a:pPr algn="ctr"/>
            <a:r>
              <a:rPr sz="1050" b="0">
                <a:solidFill>
                  <a:srgbClr val="5B6570"/>
                </a:solidFill>
                <a:latin typeface="Calibri"/>
              </a:rPr>
              <a:t>Defect type • Confidence • Ds • Hours</a:t>
            </a:r>
          </a:p>
        </p:txBody>
      </p:sp>
      <p:sp>
        <p:nvSpPr>
          <p:cNvPr id="9" name="Rounded Rectangle 8"/>
          <p:cNvSpPr/>
          <p:nvPr/>
        </p:nvSpPr>
        <p:spPr>
          <a:xfrm>
            <a:off x="548640" y="2596896"/>
            <a:ext cx="5394960" cy="841248"/>
          </a:xfrm>
          <a:prstGeom prst="roundRect">
            <a:avLst/>
          </a:prstGeom>
          <a:solidFill>
            <a:srgbClr val="FFFFFF"/>
          </a:solidFill>
          <a:ln w="12700">
            <a:solidFill>
              <a:srgbClr val="144E4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144E4C"/>
                </a:solidFill>
                <a:latin typeface="Calibri"/>
              </a:rPr>
              <a:t>Reporting / MES Handoff</a:t>
            </a:r>
          </a:p>
          <a:p>
            <a:pPr algn="ctr"/>
            <a:r>
              <a:rPr sz="1050" b="0">
                <a:solidFill>
                  <a:srgbClr val="5B6570"/>
                </a:solidFill>
                <a:latin typeface="Calibri"/>
              </a:rPr>
              <a:t>RESTful API file transfer</a:t>
            </a:r>
          </a:p>
        </p:txBody>
      </p:sp>
      <p:sp>
        <p:nvSpPr>
          <p:cNvPr id="10" name="Rounded Rectangle 9"/>
          <p:cNvSpPr/>
          <p:nvPr/>
        </p:nvSpPr>
        <p:spPr>
          <a:xfrm>
            <a:off x="548640" y="3566160"/>
            <a:ext cx="5394960" cy="841248"/>
          </a:xfrm>
          <a:prstGeom prst="roundRect">
            <a:avLst/>
          </a:prstGeom>
          <a:solidFill>
            <a:srgbClr val="FFFFFF"/>
          </a:solidFill>
          <a:ln w="12700">
            <a:solidFill>
              <a:srgbClr val="144E4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144E4C"/>
                </a:solidFill>
                <a:latin typeface="Calibri"/>
              </a:rPr>
              <a:t>Evaluation Harness</a:t>
            </a:r>
          </a:p>
          <a:p>
            <a:pPr algn="ctr"/>
            <a:r>
              <a:rPr sz="1050" b="0">
                <a:solidFill>
                  <a:srgbClr val="5B6570"/>
                </a:solidFill>
                <a:latin typeface="Calibri"/>
              </a:rPr>
              <a:t>mAP • MAE • RMSE • R²</a:t>
            </a:r>
          </a:p>
        </p:txBody>
      </p:sp>
      <p:sp>
        <p:nvSpPr>
          <p:cNvPr id="11" name="TextBox 10"/>
          <p:cNvSpPr txBox="1"/>
          <p:nvPr/>
        </p:nvSpPr>
        <p:spPr>
          <a:xfrm>
            <a:off x="6355080" y="1298448"/>
            <a:ext cx="5303520" cy="256032"/>
          </a:xfrm>
          <a:prstGeom prst="rect">
            <a:avLst/>
          </a:prstGeom>
          <a:noFill/>
        </p:spPr>
        <p:txBody>
          <a:bodyPr wrap="square" lIns="0" rIns="0" tIns="0" bIns="0">
            <a:spAutoFit/>
          </a:bodyPr>
          <a:lstStyle/>
          <a:p>
            <a:pPr algn="l"/>
            <a:r>
              <a:rPr sz="1100" b="1">
                <a:solidFill>
                  <a:srgbClr val="D99A06"/>
                </a:solidFill>
                <a:latin typeface="Calibri"/>
              </a:rPr>
              <a:t>PROCESSING LAYER</a:t>
            </a:r>
          </a:p>
        </p:txBody>
      </p:sp>
      <p:sp>
        <p:nvSpPr>
          <p:cNvPr id="12" name="Rounded Rectangle 11"/>
          <p:cNvSpPr/>
          <p:nvPr/>
        </p:nvSpPr>
        <p:spPr>
          <a:xfrm>
            <a:off x="6355080" y="1627632"/>
            <a:ext cx="5303520" cy="621792"/>
          </a:xfrm>
          <a:prstGeom prst="roundRect">
            <a:avLst/>
          </a:prstGeom>
          <a:solidFill>
            <a:srgbClr val="FFFFFF"/>
          </a:solidFill>
          <a:ln w="12700">
            <a:solidFill>
              <a:srgbClr val="144E4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300" b="1">
                <a:solidFill>
                  <a:srgbClr val="144E4C"/>
                </a:solidFill>
                <a:latin typeface="Calibri"/>
              </a:rPr>
              <a:t>Preprocessing</a:t>
            </a:r>
          </a:p>
          <a:p>
            <a:pPr algn="ctr"/>
            <a:r>
              <a:rPr sz="1050" b="0">
                <a:solidFill>
                  <a:srgbClr val="5B6570"/>
                </a:solidFill>
                <a:latin typeface="Calibri"/>
              </a:rPr>
              <a:t>Denoise • Deblur • Low-light normalisation</a:t>
            </a:r>
          </a:p>
        </p:txBody>
      </p:sp>
      <p:sp>
        <p:nvSpPr>
          <p:cNvPr id="13" name="Rounded Rectangle 12"/>
          <p:cNvSpPr/>
          <p:nvPr/>
        </p:nvSpPr>
        <p:spPr>
          <a:xfrm>
            <a:off x="6355080" y="2359152"/>
            <a:ext cx="5303520" cy="621792"/>
          </a:xfrm>
          <a:prstGeom prst="roundRect">
            <a:avLst/>
          </a:prstGeom>
          <a:solidFill>
            <a:srgbClr val="FFFFFF"/>
          </a:solidFill>
          <a:ln w="12700">
            <a:solidFill>
              <a:srgbClr val="144E4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300" b="1">
                <a:solidFill>
                  <a:srgbClr val="144E4C"/>
                </a:solidFill>
                <a:latin typeface="Calibri"/>
              </a:rPr>
              <a:t>YOLOv11-Seg Detector</a:t>
            </a:r>
          </a:p>
          <a:p>
            <a:pPr algn="ctr"/>
            <a:r>
              <a:rPr sz="1050" b="0">
                <a:solidFill>
                  <a:srgbClr val="5B6570"/>
                </a:solidFill>
                <a:latin typeface="Calibri"/>
              </a:rPr>
              <a:t>Defect type + boxes + instance masks</a:t>
            </a:r>
          </a:p>
        </p:txBody>
      </p:sp>
      <p:sp>
        <p:nvSpPr>
          <p:cNvPr id="14" name="Rounded Rectangle 13"/>
          <p:cNvSpPr/>
          <p:nvPr/>
        </p:nvSpPr>
        <p:spPr>
          <a:xfrm>
            <a:off x="6355080" y="3090672"/>
            <a:ext cx="5303520" cy="621792"/>
          </a:xfrm>
          <a:prstGeom prst="roundRect">
            <a:avLst/>
          </a:prstGeom>
          <a:solidFill>
            <a:srgbClr val="FFFFFF"/>
          </a:solidFill>
          <a:ln w="12700">
            <a:solidFill>
              <a:srgbClr val="144E4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300" b="1">
                <a:solidFill>
                  <a:srgbClr val="144E4C"/>
                </a:solidFill>
                <a:latin typeface="Calibri"/>
              </a:rPr>
              <a:t>Metadata Bridge</a:t>
            </a:r>
          </a:p>
          <a:p>
            <a:pPr algn="ctr"/>
            <a:r>
              <a:rPr sz="1050" b="0">
                <a:solidFill>
                  <a:srgbClr val="5B6570"/>
                </a:solidFill>
                <a:latin typeface="Calibri"/>
              </a:rPr>
              <a:t>Defect area → Ds → rolling average</a:t>
            </a:r>
          </a:p>
        </p:txBody>
      </p:sp>
      <p:sp>
        <p:nvSpPr>
          <p:cNvPr id="15" name="Rounded Rectangle 14"/>
          <p:cNvSpPr/>
          <p:nvPr/>
        </p:nvSpPr>
        <p:spPr>
          <a:xfrm>
            <a:off x="6355080" y="3822192"/>
            <a:ext cx="5303520" cy="621792"/>
          </a:xfrm>
          <a:prstGeom prst="roundRect">
            <a:avLst/>
          </a:prstGeom>
          <a:solidFill>
            <a:srgbClr val="FFFFFF"/>
          </a:solidFill>
          <a:ln w="12700">
            <a:solidFill>
              <a:srgbClr val="144E4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300" b="1">
                <a:solidFill>
                  <a:srgbClr val="144E4C"/>
                </a:solidFill>
                <a:latin typeface="Calibri"/>
              </a:rPr>
              <a:t>Lead-Time Predictor</a:t>
            </a:r>
          </a:p>
          <a:p>
            <a:pPr algn="ctr"/>
            <a:r>
              <a:rPr sz="1050" b="0">
                <a:solidFill>
                  <a:srgbClr val="5B6570"/>
                </a:solidFill>
                <a:latin typeface="Calibri"/>
              </a:rPr>
              <a:t>Random Forest (+ XGBoost / MLP ablation)</a:t>
            </a:r>
          </a:p>
        </p:txBody>
      </p:sp>
      <p:sp>
        <p:nvSpPr>
          <p:cNvPr id="16" name="TextBox 15"/>
          <p:cNvSpPr txBox="1"/>
          <p:nvPr/>
        </p:nvSpPr>
        <p:spPr>
          <a:xfrm>
            <a:off x="548640" y="4663440"/>
            <a:ext cx="11109960" cy="256032"/>
          </a:xfrm>
          <a:prstGeom prst="rect">
            <a:avLst/>
          </a:prstGeom>
          <a:noFill/>
        </p:spPr>
        <p:txBody>
          <a:bodyPr wrap="square" lIns="0" rIns="0" tIns="0" bIns="0">
            <a:spAutoFit/>
          </a:bodyPr>
          <a:lstStyle/>
          <a:p>
            <a:pPr algn="l"/>
            <a:r>
              <a:rPr sz="1100" b="1">
                <a:solidFill>
                  <a:srgbClr val="D99A06"/>
                </a:solidFill>
                <a:latin typeface="Calibri"/>
              </a:rPr>
              <a:t>DATA &amp; DEVICE LAYER   —   Fabric camera stream • Manufacturing records • Jetson-class edge device with TensorRT</a:t>
            </a:r>
          </a:p>
        </p:txBody>
      </p:sp>
      <p:sp>
        <p:nvSpPr>
          <p:cNvPr id="17" name="TextBox 16"/>
          <p:cNvSpPr txBox="1"/>
          <p:nvPr/>
        </p:nvSpPr>
        <p:spPr>
          <a:xfrm>
            <a:off x="548640" y="5047488"/>
            <a:ext cx="11109960" cy="1097280"/>
          </a:xfrm>
          <a:prstGeom prst="rect">
            <a:avLst/>
          </a:prstGeom>
          <a:noFill/>
        </p:spPr>
        <p:txBody>
          <a:bodyPr wrap="square" lIns="0" rIns="0" tIns="0" bIns="0">
            <a:spAutoFit/>
          </a:bodyPr>
          <a:lstStyle/>
          <a:p>
            <a:pPr algn="l"/>
            <a:r>
              <a:rPr sz="1250" b="0">
                <a:solidFill>
                  <a:srgbClr val="5B6570"/>
                </a:solidFill>
                <a:latin typeface="Calibri"/>
              </a:rPr>
              <a:t>Layers map onto the Table 3.6 modules (config.py, defect_detection.py, metadata_bridge.py, lead_time_predictor.py, integration.py, scripts/ and src/metrics.py). The stack is tightly interdependent: an error in preprocessing changes detection output, which changes the Defect Density Score, which changes predicted hours (Report §5.4, P7 — Interdependence).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4008"/>
          </a:xfrm>
          <a:prstGeom prst="rect">
            <a:avLst/>
          </a:prstGeom>
          <a:solidFill>
            <a:srgbClr val="D99A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lIns="0" rIns="0" tIns="0" bIns="0">
            <a:spAutoFit/>
          </a:bodyPr>
          <a:lstStyle/>
          <a:p>
            <a:pPr algn="l"/>
            <a:r>
              <a:rPr sz="3400" b="1">
                <a:solidFill>
                  <a:srgbClr val="144E4C"/>
                </a:solidFill>
                <a:latin typeface="Georgia"/>
              </a:rPr>
              <a:t>Use Case Diagram (Fig. 3.4)</a:t>
            </a:r>
          </a:p>
        </p:txBody>
      </p:sp>
      <p:sp>
        <p:nvSpPr>
          <p:cNvPr id="4" name="Rectangle 3"/>
          <p:cNvSpPr/>
          <p:nvPr/>
        </p:nvSpPr>
        <p:spPr>
          <a:xfrm>
            <a:off x="566928" y="1078992"/>
            <a:ext cx="1005840" cy="54864"/>
          </a:xfrm>
          <a:prstGeom prst="rect">
            <a:avLst/>
          </a:prstGeom>
          <a:solidFill>
            <a:srgbClr val="D99A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19088"/>
            <a:ext cx="9144000" cy="274320"/>
          </a:xfrm>
          <a:prstGeom prst="rect">
            <a:avLst/>
          </a:prstGeom>
          <a:noFill/>
        </p:spPr>
        <p:txBody>
          <a:bodyPr wrap="square" lIns="0" rIns="0" tIns="0" bIns="0">
            <a:spAutoFit/>
          </a:bodyPr>
          <a:lstStyle/>
          <a:p>
            <a:pPr algn="l"/>
            <a:r>
              <a:rPr sz="900" b="0">
                <a:solidFill>
                  <a:srgbClr val="8A8F98"/>
                </a:solidFill>
                <a:latin typeface="Calibri"/>
              </a:rPr>
              <a:t>Defect-to-Delivery  |  FYDP-I  •  Group: 262-034</a:t>
            </a:r>
          </a:p>
        </p:txBody>
      </p:sp>
      <p:sp>
        <p:nvSpPr>
          <p:cNvPr id="6" name="TextBox 5"/>
          <p:cNvSpPr txBox="1"/>
          <p:nvPr/>
        </p:nvSpPr>
        <p:spPr>
          <a:xfrm>
            <a:off x="10972800" y="6419088"/>
            <a:ext cx="640080" cy="274320"/>
          </a:xfrm>
          <a:prstGeom prst="rect">
            <a:avLst/>
          </a:prstGeom>
          <a:noFill/>
        </p:spPr>
        <p:txBody>
          <a:bodyPr wrap="square" lIns="0" rIns="0" tIns="0" bIns="0">
            <a:spAutoFit/>
          </a:bodyPr>
          <a:lstStyle/>
          <a:p>
            <a:pPr algn="l"/>
            <a:r>
              <a:rPr sz="900" b="0">
                <a:solidFill>
                  <a:srgbClr val="8A8F98"/>
                </a:solidFill>
                <a:latin typeface="Calibri"/>
              </a:rPr>
              <a:t>22 / 35</a:t>
            </a:r>
          </a:p>
        </p:txBody>
      </p:sp>
      <p:sp>
        <p:nvSpPr>
          <p:cNvPr id="7" name="Rounded Rectangle 6"/>
          <p:cNvSpPr/>
          <p:nvPr/>
        </p:nvSpPr>
        <p:spPr>
          <a:xfrm>
            <a:off x="548640" y="1371600"/>
            <a:ext cx="2542032" cy="932688"/>
          </a:xfrm>
          <a:prstGeom prst="roundRect">
            <a:avLst/>
          </a:prstGeom>
          <a:solidFill>
            <a:srgbClr val="D99A06"/>
          </a:solidFill>
          <a:ln w="12700">
            <a:solidFill>
              <a:srgbClr val="D99A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FFFFF"/>
                </a:solidFill>
                <a:latin typeface="Calibri"/>
              </a:rPr>
              <a:t>Inspector</a:t>
            </a:r>
          </a:p>
          <a:p>
            <a:pPr algn="ctr"/>
            <a:r>
              <a:rPr sz="1000" b="0">
                <a:solidFill>
                  <a:srgbClr val="FFFFFF"/>
                </a:solidFill>
                <a:latin typeface="Calibri"/>
              </a:rPr>
              <a:t>Confirms defect type</a:t>
            </a:r>
          </a:p>
          <a:p>
            <a:pPr algn="ctr"/>
            <a:r>
              <a:rPr sz="1000" b="0">
                <a:solidFill>
                  <a:srgbClr val="FFFFFF"/>
                </a:solidFill>
                <a:latin typeface="Calibri"/>
              </a:rPr>
              <a:t>Reviews flagged frames</a:t>
            </a:r>
          </a:p>
        </p:txBody>
      </p:sp>
      <p:sp>
        <p:nvSpPr>
          <p:cNvPr id="8" name="Rectangle 7"/>
          <p:cNvSpPr/>
          <p:nvPr/>
        </p:nvSpPr>
        <p:spPr>
          <a:xfrm>
            <a:off x="1801368" y="2304288"/>
            <a:ext cx="27432" cy="310896"/>
          </a:xfrm>
          <a:prstGeom prst="rect">
            <a:avLst/>
          </a:prstGeom>
          <a:solidFill>
            <a:srgbClr val="D99A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10712" y="1371600"/>
            <a:ext cx="2542032" cy="932688"/>
          </a:xfrm>
          <a:prstGeom prst="roundRect">
            <a:avLst/>
          </a:prstGeom>
          <a:solidFill>
            <a:srgbClr val="D99A06"/>
          </a:solidFill>
          <a:ln w="12700">
            <a:solidFill>
              <a:srgbClr val="D99A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FFFFF"/>
                </a:solidFill>
                <a:latin typeface="Calibri"/>
              </a:rPr>
              <a:t>Production Planner</a:t>
            </a:r>
          </a:p>
          <a:p>
            <a:pPr algn="ctr"/>
            <a:r>
              <a:rPr sz="1000" b="0">
                <a:solidFill>
                  <a:srgbClr val="FFFFFF"/>
                </a:solidFill>
                <a:latin typeface="Calibri"/>
              </a:rPr>
              <a:t>Reads Ds and hours</a:t>
            </a:r>
          </a:p>
          <a:p>
            <a:pPr algn="ctr"/>
            <a:r>
              <a:rPr sz="1000" b="0">
                <a:solidFill>
                  <a:srgbClr val="FFFFFF"/>
                </a:solidFill>
                <a:latin typeface="Calibri"/>
              </a:rPr>
              <a:t>Plans delivery</a:t>
            </a:r>
          </a:p>
        </p:txBody>
      </p:sp>
      <p:sp>
        <p:nvSpPr>
          <p:cNvPr id="10" name="Rectangle 9"/>
          <p:cNvSpPr/>
          <p:nvPr/>
        </p:nvSpPr>
        <p:spPr>
          <a:xfrm>
            <a:off x="4663440" y="2304288"/>
            <a:ext cx="27432" cy="310896"/>
          </a:xfrm>
          <a:prstGeom prst="rect">
            <a:avLst/>
          </a:prstGeom>
          <a:solidFill>
            <a:srgbClr val="D99A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72783" y="1371600"/>
            <a:ext cx="2542032" cy="932688"/>
          </a:xfrm>
          <a:prstGeom prst="roundRect">
            <a:avLst/>
          </a:prstGeom>
          <a:solidFill>
            <a:srgbClr val="D99A06"/>
          </a:solidFill>
          <a:ln w="12700">
            <a:solidFill>
              <a:srgbClr val="D99A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FFFFF"/>
                </a:solidFill>
                <a:latin typeface="Calibri"/>
              </a:rPr>
              <a:t>Developer</a:t>
            </a:r>
          </a:p>
          <a:p>
            <a:pPr algn="ctr"/>
            <a:r>
              <a:rPr sz="1000" b="0">
                <a:solidFill>
                  <a:srgbClr val="FFFFFF"/>
                </a:solidFill>
                <a:latin typeface="Calibri"/>
              </a:rPr>
              <a:t>Maintains config</a:t>
            </a:r>
          </a:p>
          <a:p>
            <a:pPr algn="ctr"/>
            <a:r>
              <a:rPr sz="1000" b="0">
                <a:solidFill>
                  <a:srgbClr val="FFFFFF"/>
                </a:solidFill>
                <a:latin typeface="Calibri"/>
              </a:rPr>
              <a:t>Re-runs seeded manifest</a:t>
            </a:r>
          </a:p>
        </p:txBody>
      </p:sp>
      <p:sp>
        <p:nvSpPr>
          <p:cNvPr id="12" name="Rectangle 11"/>
          <p:cNvSpPr/>
          <p:nvPr/>
        </p:nvSpPr>
        <p:spPr>
          <a:xfrm>
            <a:off x="7525512" y="2304288"/>
            <a:ext cx="27432" cy="310896"/>
          </a:xfrm>
          <a:prstGeom prst="rect">
            <a:avLst/>
          </a:prstGeom>
          <a:solidFill>
            <a:srgbClr val="D99A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134856" y="1371600"/>
            <a:ext cx="2542032" cy="932688"/>
          </a:xfrm>
          <a:prstGeom prst="roundRect">
            <a:avLst/>
          </a:prstGeom>
          <a:solidFill>
            <a:srgbClr val="D99A06"/>
          </a:solidFill>
          <a:ln w="12700">
            <a:solidFill>
              <a:srgbClr val="D99A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FFFFF"/>
                </a:solidFill>
                <a:latin typeface="Calibri"/>
              </a:rPr>
              <a:t>System</a:t>
            </a:r>
          </a:p>
          <a:p>
            <a:pPr algn="ctr"/>
            <a:r>
              <a:rPr sz="1000" b="0">
                <a:solidFill>
                  <a:srgbClr val="FFFFFF"/>
                </a:solidFill>
                <a:latin typeface="Calibri"/>
              </a:rPr>
              <a:t>Detect • Score • Predict</a:t>
            </a:r>
          </a:p>
          <a:p>
            <a:pPr algn="ctr"/>
            <a:r>
              <a:rPr sz="1000" b="0">
                <a:solidFill>
                  <a:srgbClr val="FFFFFF"/>
                </a:solidFill>
                <a:latin typeface="Calibri"/>
              </a:rPr>
              <a:t>Closed loop, process 0</a:t>
            </a:r>
          </a:p>
        </p:txBody>
      </p:sp>
      <p:sp>
        <p:nvSpPr>
          <p:cNvPr id="14" name="Rectangle 13"/>
          <p:cNvSpPr/>
          <p:nvPr/>
        </p:nvSpPr>
        <p:spPr>
          <a:xfrm>
            <a:off x="10387584" y="2304288"/>
            <a:ext cx="27432" cy="310896"/>
          </a:xfrm>
          <a:prstGeom prst="rect">
            <a:avLst/>
          </a:prstGeom>
          <a:solidFill>
            <a:srgbClr val="D99A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48640" y="2615184"/>
            <a:ext cx="2542032" cy="1024128"/>
          </a:xfrm>
          <a:prstGeom prst="roundRect">
            <a:avLst/>
          </a:prstGeom>
          <a:solidFill>
            <a:srgbClr val="FFFFFF"/>
          </a:solidFill>
          <a:ln w="12700">
            <a:solidFill>
              <a:srgbClr val="144E4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300" b="1">
                <a:solidFill>
                  <a:srgbClr val="144E4C"/>
                </a:solidFill>
                <a:latin typeface="Calibri"/>
              </a:rPr>
              <a:t>Capture &amp; Inspect</a:t>
            </a:r>
          </a:p>
          <a:p>
            <a:pPr algn="ctr"/>
            <a:r>
              <a:rPr sz="1050" b="0">
                <a:solidFill>
                  <a:srgbClr val="5B6570"/>
                </a:solidFill>
                <a:latin typeface="Calibri"/>
              </a:rPr>
              <a:t>Submit image stream</a:t>
            </a:r>
          </a:p>
        </p:txBody>
      </p:sp>
      <p:sp>
        <p:nvSpPr>
          <p:cNvPr id="16" name="Right Arrow 15"/>
          <p:cNvSpPr/>
          <p:nvPr/>
        </p:nvSpPr>
        <p:spPr>
          <a:xfrm>
            <a:off x="3127248" y="3054096"/>
            <a:ext cx="228600" cy="146304"/>
          </a:xfrm>
          <a:prstGeom prst="rightArrow">
            <a:avLst/>
          </a:prstGeom>
          <a:solidFill>
            <a:srgbClr val="D99A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410712" y="2615184"/>
            <a:ext cx="2542032" cy="1024128"/>
          </a:xfrm>
          <a:prstGeom prst="roundRect">
            <a:avLst/>
          </a:prstGeom>
          <a:solidFill>
            <a:srgbClr val="FFFFFF"/>
          </a:solidFill>
          <a:ln w="12700">
            <a:solidFill>
              <a:srgbClr val="144E4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300" b="1">
                <a:solidFill>
                  <a:srgbClr val="144E4C"/>
                </a:solidFill>
                <a:latin typeface="Calibri"/>
              </a:rPr>
              <a:t>Grade Roll</a:t>
            </a:r>
          </a:p>
          <a:p>
            <a:pPr algn="ctr"/>
            <a:r>
              <a:rPr sz="1050" b="0">
                <a:solidFill>
                  <a:srgbClr val="5B6570"/>
                </a:solidFill>
                <a:latin typeface="Calibri"/>
              </a:rPr>
              <a:t>Apply four-point grading</a:t>
            </a:r>
          </a:p>
        </p:txBody>
      </p:sp>
      <p:sp>
        <p:nvSpPr>
          <p:cNvPr id="18" name="Right Arrow 17"/>
          <p:cNvSpPr/>
          <p:nvPr/>
        </p:nvSpPr>
        <p:spPr>
          <a:xfrm>
            <a:off x="5989320" y="3054096"/>
            <a:ext cx="228600" cy="146304"/>
          </a:xfrm>
          <a:prstGeom prst="rightArrow">
            <a:avLst/>
          </a:prstGeom>
          <a:solidFill>
            <a:srgbClr val="D99A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72783" y="2615184"/>
            <a:ext cx="2542032" cy="1024128"/>
          </a:xfrm>
          <a:prstGeom prst="roundRect">
            <a:avLst/>
          </a:prstGeom>
          <a:solidFill>
            <a:srgbClr val="FFFFFF"/>
          </a:solidFill>
          <a:ln w="12700">
            <a:solidFill>
              <a:srgbClr val="144E4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300" b="1">
                <a:solidFill>
                  <a:srgbClr val="144E4C"/>
                </a:solidFill>
                <a:latin typeface="Calibri"/>
              </a:rPr>
              <a:t>Plan Production</a:t>
            </a:r>
          </a:p>
          <a:p>
            <a:pPr algn="ctr"/>
            <a:r>
              <a:rPr sz="1050" b="0">
                <a:solidFill>
                  <a:srgbClr val="5B6570"/>
                </a:solidFill>
                <a:latin typeface="Calibri"/>
              </a:rPr>
              <a:t>Consume Ds + hours</a:t>
            </a:r>
          </a:p>
        </p:txBody>
      </p:sp>
      <p:sp>
        <p:nvSpPr>
          <p:cNvPr id="20" name="Right Arrow 19"/>
          <p:cNvSpPr/>
          <p:nvPr/>
        </p:nvSpPr>
        <p:spPr>
          <a:xfrm>
            <a:off x="8851392" y="3054096"/>
            <a:ext cx="228600" cy="146304"/>
          </a:xfrm>
          <a:prstGeom prst="rightArrow">
            <a:avLst/>
          </a:prstGeom>
          <a:solidFill>
            <a:srgbClr val="D99A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9134856" y="2615184"/>
            <a:ext cx="2542032" cy="1024128"/>
          </a:xfrm>
          <a:prstGeom prst="roundRect">
            <a:avLst/>
          </a:prstGeom>
          <a:solidFill>
            <a:srgbClr val="FFFFFF"/>
          </a:solidFill>
          <a:ln w="12700">
            <a:solidFill>
              <a:srgbClr val="144E4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300" b="1">
                <a:solidFill>
                  <a:srgbClr val="144E4C"/>
                </a:solidFill>
                <a:latin typeface="Calibri"/>
              </a:rPr>
              <a:t>Tune &amp; Reproduce</a:t>
            </a:r>
          </a:p>
          <a:p>
            <a:pPr algn="ctr"/>
            <a:r>
              <a:rPr sz="1050" b="0">
                <a:solidFill>
                  <a:srgbClr val="5B6570"/>
                </a:solidFill>
                <a:latin typeface="Calibri"/>
              </a:rPr>
              <a:t>Re-run from manifest</a:t>
            </a:r>
          </a:p>
        </p:txBody>
      </p:sp>
      <p:sp>
        <p:nvSpPr>
          <p:cNvPr id="22" name="TextBox 21"/>
          <p:cNvSpPr txBox="1"/>
          <p:nvPr/>
        </p:nvSpPr>
        <p:spPr>
          <a:xfrm>
            <a:off x="548640" y="3950208"/>
            <a:ext cx="11109960" cy="1737360"/>
          </a:xfrm>
          <a:prstGeom prst="rect">
            <a:avLst/>
          </a:prstGeom>
          <a:noFill/>
        </p:spPr>
        <p:txBody>
          <a:bodyPr wrap="square" lIns="0" rIns="0" tIns="0" bIns="0">
            <a:spAutoFit/>
          </a:bodyPr>
          <a:lstStyle/>
          <a:p>
            <a:pPr algn="l"/>
            <a:r>
              <a:rPr sz="1300" b="0">
                <a:solidFill>
                  <a:srgbClr val="5B6570"/>
                </a:solidFill>
                <a:latin typeface="Calibri"/>
              </a:rPr>
              <a:t>The diagram shows how each user group interacts with the system. Inspectors capture fabric images and grade rolls; production planners consume the Defect Density Score together with predicted hours; developers reproduce any run from the reviewable, seeded manifest. The planner dashboard is the single surface where computer-vision output becomes a scheduling decision — this is the coupling the literature review found missing (Report §3.2.4, Figure 3.4; §2.2.3).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7EF"/>
        </a:solidFill>
        <a:effectLst/>
      </p:bgPr>
    </p:bg>
    <p:spTree>
      <p:nvGrpSpPr>
        <p:cNvPr id="1" name=""/>
        <p:cNvGrpSpPr/>
        <p:nvPr/>
      </p:nvGrpSpPr>
      <p:grpSpPr/>
      <p:sp>
        <p:nvSpPr>
          <p:cNvPr id="2" name="TextBox 1"/>
          <p:cNvSpPr txBox="1"/>
          <p:nvPr/>
        </p:nvSpPr>
        <p:spPr>
          <a:xfrm>
            <a:off x="548640" y="6419088"/>
            <a:ext cx="9144000" cy="274320"/>
          </a:xfrm>
          <a:prstGeom prst="rect">
            <a:avLst/>
          </a:prstGeom>
          <a:noFill/>
        </p:spPr>
        <p:txBody>
          <a:bodyPr wrap="square">
            <a:spAutoFit/>
          </a:bodyPr>
          <a:lstStyle/>
          <a:p>
            <a:pPr algn="l"/>
            <a:r>
              <a:rPr sz="900" b="0" i="0">
                <a:solidFill>
                  <a:srgbClr val="8A8F98"/>
                </a:solidFill>
                <a:latin typeface="Calibri"/>
              </a:rPr>
              <a:t>Defect-to-Delivery  |  FYDP-I  •  Group: 262-034</a:t>
            </a:r>
          </a:p>
        </p:txBody>
      </p:sp>
      <p:sp>
        <p:nvSpPr>
          <p:cNvPr id="3" name="TextBox 2"/>
          <p:cNvSpPr txBox="1"/>
          <p:nvPr/>
        </p:nvSpPr>
        <p:spPr>
          <a:xfrm>
            <a:off x="10972800" y="6419088"/>
            <a:ext cx="640080" cy="274320"/>
          </a:xfrm>
          <a:prstGeom prst="rect">
            <a:avLst/>
          </a:prstGeom>
          <a:noFill/>
        </p:spPr>
        <p:txBody>
          <a:bodyPr wrap="none">
            <a:spAutoFit/>
          </a:bodyPr>
          <a:lstStyle/>
          <a:p>
            <a:pPr algn="r"/>
            <a:r>
              <a:rPr sz="900">
                <a:solidFill>
                  <a:srgbClr val="8A8F98"/>
                </a:solidFill>
                <a:latin typeface="Calibri"/>
              </a:rPr>
              <a:t>23 / 35</a:t>
            </a:r>
          </a:p>
        </p:txBody>
      </p:sp>
      <p:sp>
        <p:nvSpPr>
          <p:cNvPr id="4" name="Rectangle 3"/>
          <p:cNvSpPr/>
          <p:nvPr/>
        </p:nvSpPr>
        <p:spPr>
          <a:xfrm>
            <a:off x="0" y="0"/>
            <a:ext cx="12188952" cy="64008"/>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20040"/>
            <a:ext cx="11064240" cy="822960"/>
          </a:xfrm>
          <a:prstGeom prst="rect">
            <a:avLst/>
          </a:prstGeom>
          <a:noFill/>
        </p:spPr>
        <p:txBody>
          <a:bodyPr wrap="square">
            <a:spAutoFit/>
          </a:bodyPr>
          <a:lstStyle/>
          <a:p>
            <a:pPr algn="l"/>
            <a:r>
              <a:rPr sz="3400" b="1" i="0">
                <a:solidFill>
                  <a:srgbClr val="144E4C"/>
                </a:solidFill>
                <a:latin typeface="Georgia"/>
              </a:rPr>
              <a:t>Machine Learning Pipeline (Fig. 3.7)</a:t>
            </a:r>
          </a:p>
        </p:txBody>
      </p:sp>
      <p:sp>
        <p:nvSpPr>
          <p:cNvPr id="6" name="Rectangle 5"/>
          <p:cNvSpPr/>
          <p:nvPr/>
        </p:nvSpPr>
        <p:spPr>
          <a:xfrm>
            <a:off x="566928" y="1078992"/>
            <a:ext cx="1005840" cy="50292"/>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554480"/>
            <a:ext cx="1920240" cy="868680"/>
          </a:xfrm>
          <a:prstGeom prst="roundRect">
            <a:avLst>
              <a:gd name="adj" fmla="val 10000"/>
            </a:avLst>
          </a:prstGeom>
          <a:solidFill>
            <a:srgbClr val="FFFFFF"/>
          </a:solidFill>
          <a:ln w="19050">
            <a:solidFill>
              <a:srgbClr val="1B7A6E"/>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a:r>
              <a:rPr sz="1250" b="0">
                <a:solidFill>
                  <a:srgbClr val="5B6570"/>
                </a:solidFill>
                <a:latin typeface="Calibri"/>
              </a:rPr>
              <a:t>Machine Speed</a:t>
            </a:r>
          </a:p>
          <a:p>
            <a:r>
              <a:rPr sz="1250" b="0">
                <a:solidFill>
                  <a:srgbClr val="5B6570"/>
                </a:solidFill>
                <a:latin typeface="Calibri"/>
              </a:rPr>
              <a:t>(m/min)</a:t>
            </a:r>
          </a:p>
        </p:txBody>
      </p:sp>
      <p:sp>
        <p:nvSpPr>
          <p:cNvPr id="8" name="Rounded Rectangle 7"/>
          <p:cNvSpPr/>
          <p:nvPr/>
        </p:nvSpPr>
        <p:spPr>
          <a:xfrm>
            <a:off x="640080" y="2606040"/>
            <a:ext cx="1920240" cy="868680"/>
          </a:xfrm>
          <a:prstGeom prst="roundRect">
            <a:avLst>
              <a:gd name="adj" fmla="val 10000"/>
            </a:avLst>
          </a:prstGeom>
          <a:solidFill>
            <a:srgbClr val="FFFFFF"/>
          </a:solidFill>
          <a:ln w="19050">
            <a:solidFill>
              <a:srgbClr val="1B7A6E"/>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a:r>
              <a:rPr sz="1250" b="0">
                <a:solidFill>
                  <a:srgbClr val="5B6570"/>
                </a:solidFill>
                <a:latin typeface="Calibri"/>
              </a:rPr>
              <a:t>Order Quantity</a:t>
            </a:r>
          </a:p>
          <a:p>
            <a:r>
              <a:rPr sz="1250" b="0">
                <a:solidFill>
                  <a:srgbClr val="5B6570"/>
                </a:solidFill>
                <a:latin typeface="Calibri"/>
              </a:rPr>
              <a:t>(units)</a:t>
            </a:r>
          </a:p>
        </p:txBody>
      </p:sp>
      <p:sp>
        <p:nvSpPr>
          <p:cNvPr id="9" name="Rounded Rectangle 8"/>
          <p:cNvSpPr/>
          <p:nvPr/>
        </p:nvSpPr>
        <p:spPr>
          <a:xfrm>
            <a:off x="640080" y="3657600"/>
            <a:ext cx="1920240" cy="868680"/>
          </a:xfrm>
          <a:prstGeom prst="roundRect">
            <a:avLst>
              <a:gd name="adj" fmla="val 10000"/>
            </a:avLst>
          </a:prstGeom>
          <a:solidFill>
            <a:srgbClr val="FFFFFF"/>
          </a:solidFill>
          <a:ln w="19050">
            <a:solidFill>
              <a:srgbClr val="1B7A6E"/>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a:r>
              <a:rPr sz="1250" b="0">
                <a:solidFill>
                  <a:srgbClr val="5B6570"/>
                </a:solidFill>
                <a:latin typeface="Calibri"/>
              </a:rPr>
              <a:t>Defect Density Ds</a:t>
            </a:r>
          </a:p>
          <a:p>
            <a:r>
              <a:rPr sz="1250" b="0">
                <a:solidFill>
                  <a:srgbClr val="5B6570"/>
                </a:solidFill>
                <a:latin typeface="Calibri"/>
              </a:rPr>
              <a:t>(ratio)</a:t>
            </a:r>
          </a:p>
        </p:txBody>
      </p:sp>
      <p:sp>
        <p:nvSpPr>
          <p:cNvPr id="10" name="Rounded Rectangle 9"/>
          <p:cNvSpPr/>
          <p:nvPr/>
        </p:nvSpPr>
        <p:spPr>
          <a:xfrm>
            <a:off x="3108960" y="2377440"/>
            <a:ext cx="2194560" cy="1188720"/>
          </a:xfrm>
          <a:prstGeom prst="roundRect">
            <a:avLst>
              <a:gd name="adj" fmla="val 10000"/>
            </a:avLst>
          </a:prstGeom>
          <a:solidFill>
            <a:srgbClr val="FFFFFF"/>
          </a:solidFill>
          <a:ln w="19050">
            <a:solidFill>
              <a:srgbClr val="1B7A6E"/>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a:r>
              <a:rPr sz="1250" b="1">
                <a:solidFill>
                  <a:srgbClr val="5B6570"/>
                </a:solidFill>
                <a:latin typeface="Calibri"/>
              </a:rPr>
              <a:t>Random Forest</a:t>
            </a:r>
          </a:p>
          <a:p>
            <a:r>
              <a:rPr sz="1250" b="1">
                <a:solidFill>
                  <a:srgbClr val="5B6570"/>
                </a:solidFill>
                <a:latin typeface="Calibri"/>
              </a:rPr>
              <a:t>Regression</a:t>
            </a:r>
          </a:p>
        </p:txBody>
      </p:sp>
      <p:sp>
        <p:nvSpPr>
          <p:cNvPr id="11" name="Rounded Rectangle 10"/>
          <p:cNvSpPr/>
          <p:nvPr/>
        </p:nvSpPr>
        <p:spPr>
          <a:xfrm>
            <a:off x="5852160" y="2377440"/>
            <a:ext cx="2011680" cy="1188720"/>
          </a:xfrm>
          <a:prstGeom prst="roundRect">
            <a:avLst>
              <a:gd name="adj" fmla="val 10000"/>
            </a:avLst>
          </a:prstGeom>
          <a:solidFill>
            <a:srgbClr val="FFFFFF"/>
          </a:solidFill>
          <a:ln w="19050">
            <a:solidFill>
              <a:srgbClr val="1B7A6E"/>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a:r>
              <a:rPr sz="1250" b="0" i="0">
                <a:solidFill>
                  <a:srgbClr val="1F2937"/>
                </a:solidFill>
                <a:latin typeface="Calibri"/>
              </a:rPr>
              <a:t>Lead Time
Hours</a:t>
            </a:r>
          </a:p>
        </p:txBody>
      </p:sp>
      <p:sp>
        <p:nvSpPr>
          <p:cNvPr id="12" name="Rounded Rectangle 11"/>
          <p:cNvSpPr/>
          <p:nvPr/>
        </p:nvSpPr>
        <p:spPr>
          <a:xfrm>
            <a:off x="8412480" y="2377440"/>
            <a:ext cx="2743200" cy="1188720"/>
          </a:xfrm>
          <a:prstGeom prst="roundRect">
            <a:avLst>
              <a:gd name="adj" fmla="val 10000"/>
            </a:avLst>
          </a:prstGeom>
          <a:solidFill>
            <a:srgbClr val="FFFFFF"/>
          </a:solidFill>
          <a:ln w="19050">
            <a:solidFill>
              <a:srgbClr val="1B7A6E"/>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a:r>
              <a:rPr sz="1250" b="0" i="0">
                <a:solidFill>
                  <a:srgbClr val="1F2937"/>
                </a:solidFill>
                <a:latin typeface="Calibri"/>
              </a:rPr>
              <a:t>MAE / RMSE / R²
Vs Static + No-Ds</a:t>
            </a:r>
          </a:p>
        </p:txBody>
      </p:sp>
      <p:cxnSp>
        <p:nvCxnSpPr>
          <p:cNvPr id="13" name="Connector 12"/>
          <p:cNvCxnSpPr/>
          <p:nvPr/>
        </p:nvCxnSpPr>
        <p:spPr>
          <a:xfrm>
            <a:off x="2578608" y="1984248"/>
            <a:ext cx="512064" cy="667512"/>
          </a:xfrm>
          <a:prstGeom prst="line">
            <a:avLst/>
          </a:prstGeom>
          <a:ln w="19050">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578608" y="2971800"/>
            <a:ext cx="512064" cy="64008"/>
          </a:xfrm>
          <a:prstGeom prst="line">
            <a:avLst/>
          </a:prstGeom>
          <a:ln w="19050">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578608" y="3291840"/>
            <a:ext cx="512064" cy="795528"/>
          </a:xfrm>
          <a:prstGeom prst="line">
            <a:avLst/>
          </a:prstGeom>
          <a:ln w="19050">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303520" y="2971800"/>
            <a:ext cx="530352" cy="0"/>
          </a:xfrm>
          <a:prstGeom prst="line">
            <a:avLst/>
          </a:prstGeom>
          <a:ln w="19050">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863840" y="2971800"/>
            <a:ext cx="530352" cy="0"/>
          </a:xfrm>
          <a:prstGeom prst="line">
            <a:avLst/>
          </a:prstGeom>
          <a:ln w="19050">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1463040" y="5029200"/>
            <a:ext cx="9235440" cy="731520"/>
          </a:xfrm>
          <a:prstGeom prst="roundRect">
            <a:avLst/>
          </a:prstGeom>
          <a:solidFill>
            <a:srgbClr val="2E9E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i="0">
                <a:solidFill>
                  <a:srgbClr val="FFFFFF"/>
                </a:solidFill>
                <a:latin typeface="Calibri"/>
              </a:rPr>
              <a:t>Lead = (Qty / Speed) × 0.1 × (1 + 2 × Ds)</a:t>
            </a:r>
          </a:p>
        </p:txBody>
      </p:sp>
      <p:sp>
        <p:nvSpPr>
          <p:cNvPr id="19" name="TextBox 18"/>
          <p:cNvSpPr txBox="1"/>
          <p:nvPr/>
        </p:nvSpPr>
        <p:spPr>
          <a:xfrm>
            <a:off x="548640" y="5852160"/>
            <a:ext cx="11064240" cy="777240"/>
          </a:xfrm>
          <a:prstGeom prst="rect">
            <a:avLst/>
          </a:prstGeom>
          <a:noFill/>
        </p:spPr>
        <p:txBody>
          <a:bodyPr wrap="square" anchor="ctr">
            <a:spAutoFit/>
          </a:bodyPr>
          <a:lstStyle/>
          <a:p>
            <a:pPr algn="ctr"/>
            <a:r>
              <a:rPr sz="1200" b="0">
                <a:solidFill>
                  <a:srgbClr val="5B6570"/>
                </a:solidFill>
                <a:latin typeface="Calibri"/>
              </a:rPr>
              <a:t>Features: machine speed, order quantity and Defect Density Score (Ds). Random Forest is the main regressor, benchmarked against the static-mean and no-Ds baselines, with XGBoost and MLP as ablations (Report §2.1.4, §3.2.7).</a:t>
            </a:r>
          </a:p>
          <a:p>
            <a:r>
              <a:rPr sz="1200" b="0">
                <a:solidFill>
                  <a:srgbClr val="5B6570"/>
                </a:solidFill>
                <a:latin typeface="Calibri"/>
              </a:rPr>
              <a:t>Formula: Lead = (Qty / Speed) × 0.1 × (1 + 2 × Ds). For example, when Ds = 0.2, production time increases by 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AF7EF"/>
        </a:solidFill>
        <a:effectLst/>
      </p:bgPr>
    </p:bg>
    <p:spTree>
      <p:nvGrpSpPr>
        <p:cNvPr id="1" name=""/>
        <p:cNvGrpSpPr/>
        <p:nvPr/>
      </p:nvGrpSpPr>
      <p:grpSpPr/>
      <p:sp>
        <p:nvSpPr>
          <p:cNvPr id="2" name="TextBox 1"/>
          <p:cNvSpPr txBox="1"/>
          <p:nvPr/>
        </p:nvSpPr>
        <p:spPr>
          <a:xfrm>
            <a:off x="548640" y="6419088"/>
            <a:ext cx="9144000" cy="274320"/>
          </a:xfrm>
          <a:prstGeom prst="rect">
            <a:avLst/>
          </a:prstGeom>
          <a:noFill/>
        </p:spPr>
        <p:txBody>
          <a:bodyPr wrap="square">
            <a:spAutoFit/>
          </a:bodyPr>
          <a:lstStyle/>
          <a:p>
            <a:pPr algn="l"/>
            <a:r>
              <a:rPr sz="900" b="0" i="0">
                <a:solidFill>
                  <a:srgbClr val="8A8F98"/>
                </a:solidFill>
                <a:latin typeface="Calibri"/>
              </a:rPr>
              <a:t>Defect-to-Delivery  |  FYDP-I  •  Group: 262-034</a:t>
            </a:r>
          </a:p>
        </p:txBody>
      </p:sp>
      <p:sp>
        <p:nvSpPr>
          <p:cNvPr id="3" name="TextBox 2"/>
          <p:cNvSpPr txBox="1"/>
          <p:nvPr/>
        </p:nvSpPr>
        <p:spPr>
          <a:xfrm>
            <a:off x="10972800" y="6419088"/>
            <a:ext cx="640080" cy="274320"/>
          </a:xfrm>
          <a:prstGeom prst="rect">
            <a:avLst/>
          </a:prstGeom>
          <a:noFill/>
        </p:spPr>
        <p:txBody>
          <a:bodyPr wrap="none">
            <a:spAutoFit/>
          </a:bodyPr>
          <a:lstStyle/>
          <a:p>
            <a:pPr algn="r"/>
            <a:r>
              <a:rPr sz="900">
                <a:solidFill>
                  <a:srgbClr val="8A8F98"/>
                </a:solidFill>
                <a:latin typeface="Calibri"/>
              </a:rPr>
              <a:t>24 / 35</a:t>
            </a:r>
          </a:p>
        </p:txBody>
      </p:sp>
      <p:sp>
        <p:nvSpPr>
          <p:cNvPr id="4" name="Rectangle 3"/>
          <p:cNvSpPr/>
          <p:nvPr/>
        </p:nvSpPr>
        <p:spPr>
          <a:xfrm>
            <a:off x="0" y="0"/>
            <a:ext cx="12188952" cy="64008"/>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20040"/>
            <a:ext cx="11064240" cy="822960"/>
          </a:xfrm>
          <a:prstGeom prst="rect">
            <a:avLst/>
          </a:prstGeom>
          <a:noFill/>
        </p:spPr>
        <p:txBody>
          <a:bodyPr wrap="square">
            <a:spAutoFit/>
          </a:bodyPr>
          <a:lstStyle/>
          <a:p>
            <a:pPr algn="l"/>
            <a:r>
              <a:rPr sz="3400" b="1" i="0">
                <a:solidFill>
                  <a:srgbClr val="144E4C"/>
                </a:solidFill>
                <a:latin typeface="Georgia"/>
              </a:rPr>
              <a:t>Four-Point Inspection Grading (Fig. 3.8)</a:t>
            </a:r>
          </a:p>
        </p:txBody>
      </p:sp>
      <p:sp>
        <p:nvSpPr>
          <p:cNvPr id="6" name="Rectangle 5"/>
          <p:cNvSpPr/>
          <p:nvPr/>
        </p:nvSpPr>
        <p:spPr>
          <a:xfrm>
            <a:off x="566928" y="1078992"/>
            <a:ext cx="1005840" cy="50292"/>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480560" y="1463040"/>
            <a:ext cx="3200400" cy="640080"/>
          </a:xfrm>
          <a:prstGeom prst="roundRect">
            <a:avLst>
              <a:gd name="adj" fmla="val 10000"/>
            </a:avLst>
          </a:prstGeom>
          <a:solidFill>
            <a:srgbClr val="FFFFFF"/>
          </a:solidFill>
          <a:ln w="19050">
            <a:solidFill>
              <a:srgbClr val="1B7A6E"/>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a:r>
              <a:rPr sz="1200" b="0" i="0">
                <a:solidFill>
                  <a:srgbClr val="1F2937"/>
                </a:solidFill>
                <a:latin typeface="Calibri"/>
              </a:rPr>
              <a:t>Calibrate Pixels To Inches (Fixed Geometry)</a:t>
            </a:r>
          </a:p>
        </p:txBody>
      </p:sp>
      <p:cxnSp>
        <p:nvCxnSpPr>
          <p:cNvPr id="8" name="Connector 7"/>
          <p:cNvCxnSpPr/>
          <p:nvPr/>
        </p:nvCxnSpPr>
        <p:spPr>
          <a:xfrm>
            <a:off x="6080760" y="2121408"/>
            <a:ext cx="0" cy="146304"/>
          </a:xfrm>
          <a:prstGeom prst="line">
            <a:avLst/>
          </a:prstGeom>
          <a:ln w="19050">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480560" y="2286000"/>
            <a:ext cx="3200400" cy="640080"/>
          </a:xfrm>
          <a:prstGeom prst="roundRect">
            <a:avLst>
              <a:gd name="adj" fmla="val 10000"/>
            </a:avLst>
          </a:prstGeom>
          <a:solidFill>
            <a:srgbClr val="FFFFFF"/>
          </a:solidFill>
          <a:ln w="19050">
            <a:solidFill>
              <a:srgbClr val="1B7A6E"/>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a:r>
              <a:rPr sz="1200" b="0" i="0">
                <a:solidFill>
                  <a:srgbClr val="1F2937"/>
                </a:solidFill>
                <a:latin typeface="Calibri"/>
              </a:rPr>
              <a:t>Measure Fault Length</a:t>
            </a:r>
          </a:p>
        </p:txBody>
      </p:sp>
      <p:cxnSp>
        <p:nvCxnSpPr>
          <p:cNvPr id="10" name="Connector 9"/>
          <p:cNvCxnSpPr/>
          <p:nvPr/>
        </p:nvCxnSpPr>
        <p:spPr>
          <a:xfrm>
            <a:off x="6080760" y="2944368"/>
            <a:ext cx="0" cy="146304"/>
          </a:xfrm>
          <a:prstGeom prst="line">
            <a:avLst/>
          </a:prstGeom>
          <a:ln w="19050">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Diamond 10"/>
          <p:cNvSpPr/>
          <p:nvPr/>
        </p:nvSpPr>
        <p:spPr>
          <a:xfrm>
            <a:off x="5349240" y="3108960"/>
            <a:ext cx="1463040" cy="914400"/>
          </a:xfrm>
          <a:prstGeom prst="diamond">
            <a:avLst/>
          </a:prstGeom>
          <a:solidFill>
            <a:srgbClr val="FFFFFF"/>
          </a:solidFill>
          <a:ln w="19050">
            <a:solidFill>
              <a:srgbClr val="1B7A6E"/>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a:r>
              <a:rPr sz="1250" b="1" i="0">
                <a:solidFill>
                  <a:srgbClr val="1F2937"/>
                </a:solidFill>
                <a:latin typeface="Calibri"/>
              </a:rPr>
              <a:t>Length?</a:t>
            </a:r>
          </a:p>
        </p:txBody>
      </p:sp>
      <p:sp>
        <p:nvSpPr>
          <p:cNvPr id="12" name="Rounded Rectangle 11"/>
          <p:cNvSpPr/>
          <p:nvPr/>
        </p:nvSpPr>
        <p:spPr>
          <a:xfrm>
            <a:off x="640080" y="4480560"/>
            <a:ext cx="2560320" cy="777240"/>
          </a:xfrm>
          <a:prstGeom prst="roundRect">
            <a:avLst>
              <a:gd name="adj" fmla="val 10000"/>
            </a:avLst>
          </a:prstGeom>
          <a:solidFill>
            <a:srgbClr val="FFFFFF"/>
          </a:solidFill>
          <a:ln w="19050">
            <a:solidFill>
              <a:srgbClr val="1B7A6E"/>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a:r>
              <a:rPr sz="1150" b="0" i="0">
                <a:solidFill>
                  <a:srgbClr val="1F2937"/>
                </a:solidFill>
                <a:latin typeface="Calibri"/>
              </a:rPr>
              <a:t>Under 3 In
1 Point</a:t>
            </a:r>
          </a:p>
        </p:txBody>
      </p:sp>
      <p:cxnSp>
        <p:nvCxnSpPr>
          <p:cNvPr id="13" name="Connector 12"/>
          <p:cNvCxnSpPr/>
          <p:nvPr/>
        </p:nvCxnSpPr>
        <p:spPr>
          <a:xfrm flipH="1">
            <a:off x="1920239" y="4041648"/>
            <a:ext cx="3840481" cy="420624"/>
          </a:xfrm>
          <a:prstGeom prst="line">
            <a:avLst/>
          </a:prstGeom>
          <a:ln w="19050">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410712" y="4480560"/>
            <a:ext cx="2560320" cy="777240"/>
          </a:xfrm>
          <a:prstGeom prst="roundRect">
            <a:avLst>
              <a:gd name="adj" fmla="val 10000"/>
            </a:avLst>
          </a:prstGeom>
          <a:solidFill>
            <a:srgbClr val="FFFFFF"/>
          </a:solidFill>
          <a:ln w="19050">
            <a:solidFill>
              <a:srgbClr val="1B7A6E"/>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a:r>
              <a:rPr sz="1150" b="0" i="0">
                <a:solidFill>
                  <a:srgbClr val="1F2937"/>
                </a:solidFill>
                <a:latin typeface="Calibri"/>
              </a:rPr>
              <a:t>3 To 6 In
2 Points</a:t>
            </a:r>
          </a:p>
        </p:txBody>
      </p:sp>
      <p:cxnSp>
        <p:nvCxnSpPr>
          <p:cNvPr id="15" name="Connector 14"/>
          <p:cNvCxnSpPr/>
          <p:nvPr/>
        </p:nvCxnSpPr>
        <p:spPr>
          <a:xfrm flipH="1">
            <a:off x="4690872" y="4041648"/>
            <a:ext cx="1298448" cy="420624"/>
          </a:xfrm>
          <a:prstGeom prst="line">
            <a:avLst/>
          </a:prstGeom>
          <a:ln w="19050">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181344" y="4480560"/>
            <a:ext cx="2560320" cy="777240"/>
          </a:xfrm>
          <a:prstGeom prst="roundRect">
            <a:avLst>
              <a:gd name="adj" fmla="val 10000"/>
            </a:avLst>
          </a:prstGeom>
          <a:solidFill>
            <a:srgbClr val="FFFFFF"/>
          </a:solidFill>
          <a:ln w="19050">
            <a:solidFill>
              <a:srgbClr val="1B7A6E"/>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a:r>
              <a:rPr sz="1150" b="0" i="0">
                <a:solidFill>
                  <a:srgbClr val="1F2937"/>
                </a:solidFill>
                <a:latin typeface="Calibri"/>
              </a:rPr>
              <a:t>6 To 9 In
3 Points</a:t>
            </a:r>
          </a:p>
        </p:txBody>
      </p:sp>
      <p:cxnSp>
        <p:nvCxnSpPr>
          <p:cNvPr id="17" name="Connector 16"/>
          <p:cNvCxnSpPr/>
          <p:nvPr/>
        </p:nvCxnSpPr>
        <p:spPr>
          <a:xfrm>
            <a:off x="6217920" y="4041648"/>
            <a:ext cx="1243584" cy="420624"/>
          </a:xfrm>
          <a:prstGeom prst="line">
            <a:avLst/>
          </a:prstGeom>
          <a:ln w="19050">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951976" y="4480560"/>
            <a:ext cx="2560320" cy="777240"/>
          </a:xfrm>
          <a:prstGeom prst="roundRect">
            <a:avLst>
              <a:gd name="adj" fmla="val 10000"/>
            </a:avLst>
          </a:prstGeom>
          <a:solidFill>
            <a:srgbClr val="FFFFFF"/>
          </a:solidFill>
          <a:ln w="19050">
            <a:solidFill>
              <a:srgbClr val="1B7A6E"/>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a:r>
              <a:rPr sz="1150" b="0" i="0">
                <a:solidFill>
                  <a:srgbClr val="1F2937"/>
                </a:solidFill>
                <a:latin typeface="Calibri"/>
              </a:rPr>
              <a:t>Over 9 In Or
Hole Over 1 In
4 Points</a:t>
            </a:r>
          </a:p>
        </p:txBody>
      </p:sp>
      <p:cxnSp>
        <p:nvCxnSpPr>
          <p:cNvPr id="19" name="Connector 18"/>
          <p:cNvCxnSpPr/>
          <p:nvPr/>
        </p:nvCxnSpPr>
        <p:spPr>
          <a:xfrm>
            <a:off x="6446520" y="4041648"/>
            <a:ext cx="3785616" cy="420624"/>
          </a:xfrm>
          <a:prstGeom prst="line">
            <a:avLst/>
          </a:prstGeom>
          <a:ln w="19050">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800600" y="5440680"/>
            <a:ext cx="2560320" cy="731520"/>
          </a:xfrm>
          <a:prstGeom prst="roundRect">
            <a:avLst>
              <a:gd name="adj" fmla="val 10000"/>
            </a:avLst>
          </a:prstGeom>
          <a:solidFill>
            <a:srgbClr val="FFFFFF"/>
          </a:solidFill>
          <a:ln w="19050">
            <a:solidFill>
              <a:srgbClr val="1B7A6E"/>
            </a:solidFill>
          </a:ln>
        </p:spPr>
        <p:style>
          <a:lnRef idx="1">
            <a:schemeClr val="accent1"/>
          </a:lnRef>
          <a:fillRef idx="3">
            <a:schemeClr val="accent1"/>
          </a:fillRef>
          <a:effectRef idx="2">
            <a:schemeClr val="accent1"/>
          </a:effectRef>
          <a:fontRef idx="minor">
            <a:schemeClr val="lt1"/>
          </a:fontRef>
        </p:style>
        <p:txBody>
          <a:bodyPr rtlCol="0" anchor="ctr" wrap="square">
            <a:normAutofit/>
          </a:bodyPr>
          <a:lstStyle/>
          <a:p>
            <a:pPr algn="ctr"/>
            <a:r>
              <a:rPr sz="1150" b="0" i="0">
                <a:solidFill>
                  <a:srgbClr val="1F2937"/>
                </a:solidFill>
                <a:latin typeface="Calibri"/>
              </a:rPr>
              <a:t>Roll Grade From Total + Length + Weight</a:t>
            </a:r>
          </a:p>
        </p:txBody>
      </p:sp>
      <p:cxnSp>
        <p:nvCxnSpPr>
          <p:cNvPr id="21" name="Connector 20"/>
          <p:cNvCxnSpPr/>
          <p:nvPr/>
        </p:nvCxnSpPr>
        <p:spPr>
          <a:xfrm>
            <a:off x="1920239" y="5276088"/>
            <a:ext cx="0" cy="118872"/>
          </a:xfrm>
          <a:prstGeom prst="line">
            <a:avLst/>
          </a:prstGeom>
          <a:ln w="19050">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690872" y="5276088"/>
            <a:ext cx="0" cy="118872"/>
          </a:xfrm>
          <a:prstGeom prst="line">
            <a:avLst/>
          </a:prstGeom>
          <a:ln w="19050">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461504" y="5276088"/>
            <a:ext cx="0" cy="118872"/>
          </a:xfrm>
          <a:prstGeom prst="line">
            <a:avLst/>
          </a:prstGeom>
          <a:ln w="19050">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232136" y="5276088"/>
            <a:ext cx="0" cy="118872"/>
          </a:xfrm>
          <a:prstGeom prst="line">
            <a:avLst/>
          </a:prstGeom>
          <a:ln w="19050">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920240" y="5394960"/>
            <a:ext cx="8311896" cy="0"/>
          </a:xfrm>
          <a:prstGeom prst="line">
            <a:avLst/>
          </a:prstGeom>
          <a:ln w="19050">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080760" y="5394960"/>
            <a:ext cx="0" cy="27432"/>
          </a:xfrm>
          <a:prstGeom prst="line">
            <a:avLst/>
          </a:prstGeom>
          <a:ln w="19050">
            <a:solidFill>
              <a:srgbClr val="1F2937"/>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AF7EF"/>
        </a:solidFill>
        <a:effectLst/>
      </p:bgPr>
    </p:bg>
    <p:spTree>
      <p:nvGrpSpPr>
        <p:cNvPr id="1" name=""/>
        <p:cNvGrpSpPr/>
        <p:nvPr/>
      </p:nvGrpSpPr>
      <p:grpSpPr/>
      <p:sp>
        <p:nvSpPr>
          <p:cNvPr id="2" name="TextBox 1"/>
          <p:cNvSpPr txBox="1"/>
          <p:nvPr/>
        </p:nvSpPr>
        <p:spPr>
          <a:xfrm>
            <a:off x="548640" y="6419088"/>
            <a:ext cx="9144000" cy="274320"/>
          </a:xfrm>
          <a:prstGeom prst="rect">
            <a:avLst/>
          </a:prstGeom>
          <a:noFill/>
        </p:spPr>
        <p:txBody>
          <a:bodyPr wrap="square">
            <a:spAutoFit/>
          </a:bodyPr>
          <a:lstStyle/>
          <a:p>
            <a:pPr algn="l"/>
            <a:r>
              <a:rPr sz="900" b="0" i="0">
                <a:solidFill>
                  <a:srgbClr val="8A8F98"/>
                </a:solidFill>
                <a:latin typeface="Calibri"/>
              </a:rPr>
              <a:t>Defect-to-Delivery  |  FYDP-I  •  Group: 262-034</a:t>
            </a:r>
          </a:p>
        </p:txBody>
      </p:sp>
      <p:sp>
        <p:nvSpPr>
          <p:cNvPr id="3" name="TextBox 2"/>
          <p:cNvSpPr txBox="1"/>
          <p:nvPr/>
        </p:nvSpPr>
        <p:spPr>
          <a:xfrm>
            <a:off x="10972800" y="6419088"/>
            <a:ext cx="640080" cy="274320"/>
          </a:xfrm>
          <a:prstGeom prst="rect">
            <a:avLst/>
          </a:prstGeom>
          <a:noFill/>
        </p:spPr>
        <p:txBody>
          <a:bodyPr wrap="none">
            <a:spAutoFit/>
          </a:bodyPr>
          <a:lstStyle/>
          <a:p>
            <a:pPr algn="r"/>
            <a:r>
              <a:rPr sz="900">
                <a:solidFill>
                  <a:srgbClr val="8A8F98"/>
                </a:solidFill>
                <a:latin typeface="Calibri"/>
              </a:rPr>
              <a:t>25 / 35</a:t>
            </a:r>
          </a:p>
        </p:txBody>
      </p:sp>
      <p:sp>
        <p:nvSpPr>
          <p:cNvPr id="4" name="Rectangle 3"/>
          <p:cNvSpPr/>
          <p:nvPr/>
        </p:nvSpPr>
        <p:spPr>
          <a:xfrm>
            <a:off x="0" y="0"/>
            <a:ext cx="12188952" cy="64008"/>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20040"/>
            <a:ext cx="11064240" cy="822960"/>
          </a:xfrm>
          <a:prstGeom prst="rect">
            <a:avLst/>
          </a:prstGeom>
          <a:noFill/>
        </p:spPr>
        <p:txBody>
          <a:bodyPr wrap="square">
            <a:spAutoFit/>
          </a:bodyPr>
          <a:lstStyle/>
          <a:p>
            <a:pPr algn="l"/>
            <a:r>
              <a:rPr sz="3400" b="1" i="0">
                <a:solidFill>
                  <a:srgbClr val="144E4C"/>
                </a:solidFill>
                <a:latin typeface="Georgia"/>
              </a:rPr>
              <a:t>Standards &amp; Compliance</a:t>
            </a:r>
          </a:p>
        </p:txBody>
      </p:sp>
      <p:sp>
        <p:nvSpPr>
          <p:cNvPr id="6" name="Rectangle 5"/>
          <p:cNvSpPr/>
          <p:nvPr/>
        </p:nvSpPr>
        <p:spPr>
          <a:xfrm>
            <a:off x="566928" y="1078992"/>
            <a:ext cx="1005840" cy="50292"/>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1554480"/>
            <a:ext cx="3520440" cy="2651760"/>
          </a:xfrm>
          <a:prstGeom prst="roundRect">
            <a:avLst>
              <a:gd name="adj" fmla="val 6000"/>
            </a:avLst>
          </a:prstGeom>
          <a:solidFill>
            <a:srgbClr val="FFFFFF"/>
          </a:solidFill>
          <a:ln w="15875">
            <a:solidFill>
              <a:srgbClr val="D8D2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 y="1554480"/>
            <a:ext cx="3520440" cy="82296"/>
          </a:xfrm>
          <a:prstGeom prst="round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04672" y="1847088"/>
            <a:ext cx="475488" cy="475488"/>
          </a:xfrm>
          <a:prstGeom prst="ellipse">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44E4C"/>
                </a:solidFill>
                <a:latin typeface="Calibri"/>
              </a:rPr>
              <a:t>1</a:t>
            </a:r>
          </a:p>
        </p:txBody>
      </p:sp>
      <p:sp>
        <p:nvSpPr>
          <p:cNvPr id="10" name="TextBox 9"/>
          <p:cNvSpPr txBox="1"/>
          <p:nvPr/>
        </p:nvSpPr>
        <p:spPr>
          <a:xfrm>
            <a:off x="1417319" y="1810512"/>
            <a:ext cx="2468880" cy="2240279"/>
          </a:xfrm>
          <a:prstGeom prst="rect">
            <a:avLst/>
          </a:prstGeom>
          <a:noFill/>
        </p:spPr>
        <p:txBody>
          <a:bodyPr wrap="square">
            <a:normAutofit/>
          </a:bodyPr>
          <a:lstStyle/>
          <a:p>
            <a:pPr algn="l">
              <a:spcAft>
                <a:spcPts val="600"/>
              </a:spcAft>
            </a:pPr>
            <a:r>
              <a:rPr sz="1600" b="1" i="0">
                <a:solidFill>
                  <a:srgbClr val="144E4C"/>
                </a:solidFill>
                <a:latin typeface="Calibri"/>
              </a:rPr>
              <a:t>Software</a:t>
            </a:r>
          </a:p>
          <a:p>
            <a:pPr algn="l">
              <a:spcBef>
                <a:spcPts val="0"/>
              </a:spcBef>
              <a:spcAft>
                <a:spcPts val="300"/>
              </a:spcAft>
            </a:pPr>
            <a:r>
              <a:rPr sz="1350" b="0" i="0">
                <a:solidFill>
                  <a:srgbClr val="5B6570"/>
                </a:solidFill>
                <a:latin typeface="Calibri"/>
              </a:rPr>
              <a:t>Reusable Packages, Central Configuration, Version Control With Reviewable Manifests, Seeded Deterministic Training, COCO / YOLO Interchange Formats.</a:t>
            </a:r>
          </a:p>
        </p:txBody>
      </p:sp>
      <p:sp>
        <p:nvSpPr>
          <p:cNvPr id="11" name="Rounded Rectangle 10"/>
          <p:cNvSpPr/>
          <p:nvPr/>
        </p:nvSpPr>
        <p:spPr>
          <a:xfrm>
            <a:off x="4251959" y="1554480"/>
            <a:ext cx="3520440" cy="2651760"/>
          </a:xfrm>
          <a:prstGeom prst="roundRect">
            <a:avLst>
              <a:gd name="adj" fmla="val 6000"/>
            </a:avLst>
          </a:prstGeom>
          <a:solidFill>
            <a:srgbClr val="FFFFFF"/>
          </a:solidFill>
          <a:ln w="15875">
            <a:solidFill>
              <a:srgbClr val="D8D2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251959" y="1554480"/>
            <a:ext cx="3520440" cy="82296"/>
          </a:xfrm>
          <a:prstGeom prst="round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507992" y="1847088"/>
            <a:ext cx="475488" cy="475488"/>
          </a:xfrm>
          <a:prstGeom prst="ellipse">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44E4C"/>
                </a:solidFill>
                <a:latin typeface="Calibri"/>
              </a:rPr>
              <a:t>2</a:t>
            </a:r>
          </a:p>
        </p:txBody>
      </p:sp>
      <p:sp>
        <p:nvSpPr>
          <p:cNvPr id="14" name="TextBox 13"/>
          <p:cNvSpPr txBox="1"/>
          <p:nvPr/>
        </p:nvSpPr>
        <p:spPr>
          <a:xfrm>
            <a:off x="5120640" y="1810512"/>
            <a:ext cx="2468880" cy="2240279"/>
          </a:xfrm>
          <a:prstGeom prst="rect">
            <a:avLst/>
          </a:prstGeom>
          <a:noFill/>
        </p:spPr>
        <p:txBody>
          <a:bodyPr wrap="square">
            <a:normAutofit/>
          </a:bodyPr>
          <a:lstStyle/>
          <a:p>
            <a:pPr algn="l">
              <a:spcAft>
                <a:spcPts val="600"/>
              </a:spcAft>
            </a:pPr>
            <a:r>
              <a:rPr sz="1600" b="1" i="0">
                <a:solidFill>
                  <a:srgbClr val="144E4C"/>
                </a:solidFill>
                <a:latin typeface="Calibri"/>
              </a:rPr>
              <a:t>Hardware</a:t>
            </a:r>
          </a:p>
          <a:p>
            <a:pPr algn="l">
              <a:spcBef>
                <a:spcPts val="0"/>
              </a:spcBef>
              <a:spcAft>
                <a:spcPts val="300"/>
              </a:spcAft>
            </a:pPr>
            <a:r>
              <a:rPr sz="1350" b="0" i="0">
                <a:solidFill>
                  <a:srgbClr val="5B6570"/>
                </a:solidFill>
                <a:latin typeface="Calibri"/>
              </a:rPr>
              <a:t>Fixed-Geometry Calibration For Grading, Jetson-Class Edge Device With TensorRT, Factory-Safe Power Envelope.</a:t>
            </a:r>
          </a:p>
        </p:txBody>
      </p:sp>
      <p:sp>
        <p:nvSpPr>
          <p:cNvPr id="15" name="Rounded Rectangle 14"/>
          <p:cNvSpPr/>
          <p:nvPr/>
        </p:nvSpPr>
        <p:spPr>
          <a:xfrm>
            <a:off x="7955279" y="1554480"/>
            <a:ext cx="3520440" cy="2651760"/>
          </a:xfrm>
          <a:prstGeom prst="roundRect">
            <a:avLst>
              <a:gd name="adj" fmla="val 6000"/>
            </a:avLst>
          </a:prstGeom>
          <a:solidFill>
            <a:srgbClr val="FFFFFF"/>
          </a:solidFill>
          <a:ln w="15875">
            <a:solidFill>
              <a:srgbClr val="D8D2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955279" y="1554480"/>
            <a:ext cx="3520440" cy="82296"/>
          </a:xfrm>
          <a:prstGeom prst="round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11311" y="1847088"/>
            <a:ext cx="475488" cy="475488"/>
          </a:xfrm>
          <a:prstGeom prst="ellipse">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44E4C"/>
                </a:solidFill>
                <a:latin typeface="Calibri"/>
              </a:rPr>
              <a:t>3</a:t>
            </a:r>
          </a:p>
        </p:txBody>
      </p:sp>
      <p:sp>
        <p:nvSpPr>
          <p:cNvPr id="18" name="TextBox 17"/>
          <p:cNvSpPr txBox="1"/>
          <p:nvPr/>
        </p:nvSpPr>
        <p:spPr>
          <a:xfrm>
            <a:off x="8823959" y="1810512"/>
            <a:ext cx="2468880" cy="2240279"/>
          </a:xfrm>
          <a:prstGeom prst="rect">
            <a:avLst/>
          </a:prstGeom>
          <a:noFill/>
        </p:spPr>
        <p:txBody>
          <a:bodyPr wrap="square">
            <a:normAutofit/>
          </a:bodyPr>
          <a:lstStyle/>
          <a:p>
            <a:pPr algn="l">
              <a:spcAft>
                <a:spcPts val="600"/>
              </a:spcAft>
            </a:pPr>
            <a:r>
              <a:rPr sz="1600" b="1" i="0">
                <a:solidFill>
                  <a:srgbClr val="144E4C"/>
                </a:solidFill>
                <a:latin typeface="Calibri"/>
              </a:rPr>
              <a:t>Communication</a:t>
            </a:r>
          </a:p>
          <a:p>
            <a:pPr algn="l">
              <a:spcBef>
                <a:spcPts val="0"/>
              </a:spcBef>
              <a:spcAft>
                <a:spcPts val="300"/>
              </a:spcAft>
            </a:pPr>
            <a:r>
              <a:rPr sz="1350" b="0" i="0">
                <a:solidFill>
                  <a:srgbClr val="5B6570"/>
                </a:solidFill>
                <a:latin typeface="Calibri"/>
              </a:rPr>
              <a:t>REST File Handoff To The MES And Dashboard Over HTTP; No Proprietary Protocols.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AF7EF"/>
        </a:solidFill>
        <a:effectLst/>
      </p:bgPr>
    </p:bg>
    <p:spTree>
      <p:nvGrpSpPr>
        <p:cNvPr id="1" name=""/>
        <p:cNvGrpSpPr/>
        <p:nvPr/>
      </p:nvGrpSpPr>
      <p:grpSpPr/>
      <p:sp>
        <p:nvSpPr>
          <p:cNvPr id="2" name="TextBox 1"/>
          <p:cNvSpPr txBox="1"/>
          <p:nvPr/>
        </p:nvSpPr>
        <p:spPr>
          <a:xfrm>
            <a:off x="548640" y="6419088"/>
            <a:ext cx="9144000" cy="274320"/>
          </a:xfrm>
          <a:prstGeom prst="rect">
            <a:avLst/>
          </a:prstGeom>
          <a:noFill/>
        </p:spPr>
        <p:txBody>
          <a:bodyPr wrap="square">
            <a:spAutoFit/>
          </a:bodyPr>
          <a:lstStyle/>
          <a:p>
            <a:pPr algn="l"/>
            <a:r>
              <a:rPr sz="900" b="0" i="0">
                <a:solidFill>
                  <a:srgbClr val="8A8F98"/>
                </a:solidFill>
                <a:latin typeface="Calibri"/>
              </a:rPr>
              <a:t>Defect-to-Delivery  |  FYDP-I  •  Group: 262-034</a:t>
            </a:r>
          </a:p>
        </p:txBody>
      </p:sp>
      <p:sp>
        <p:nvSpPr>
          <p:cNvPr id="3" name="TextBox 2"/>
          <p:cNvSpPr txBox="1"/>
          <p:nvPr/>
        </p:nvSpPr>
        <p:spPr>
          <a:xfrm>
            <a:off x="10972800" y="6419088"/>
            <a:ext cx="640080" cy="274320"/>
          </a:xfrm>
          <a:prstGeom prst="rect">
            <a:avLst/>
          </a:prstGeom>
          <a:noFill/>
        </p:spPr>
        <p:txBody>
          <a:bodyPr wrap="none">
            <a:spAutoFit/>
          </a:bodyPr>
          <a:lstStyle/>
          <a:p>
            <a:pPr algn="r"/>
            <a:r>
              <a:rPr sz="900">
                <a:solidFill>
                  <a:srgbClr val="8A8F98"/>
                </a:solidFill>
                <a:latin typeface="Calibri"/>
              </a:rPr>
              <a:t>26 / 35</a:t>
            </a:r>
          </a:p>
        </p:txBody>
      </p:sp>
      <p:sp>
        <p:nvSpPr>
          <p:cNvPr id="4" name="Rectangle 3"/>
          <p:cNvSpPr/>
          <p:nvPr/>
        </p:nvSpPr>
        <p:spPr>
          <a:xfrm>
            <a:off x="0" y="0"/>
            <a:ext cx="12188952" cy="64008"/>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20040"/>
            <a:ext cx="11064240" cy="822960"/>
          </a:xfrm>
          <a:prstGeom prst="rect">
            <a:avLst/>
          </a:prstGeom>
          <a:noFill/>
        </p:spPr>
        <p:txBody>
          <a:bodyPr wrap="square">
            <a:spAutoFit/>
          </a:bodyPr>
          <a:lstStyle/>
          <a:p>
            <a:pPr algn="l"/>
            <a:r>
              <a:rPr sz="3400" b="1" i="0">
                <a:solidFill>
                  <a:srgbClr val="144E4C"/>
                </a:solidFill>
                <a:latin typeface="Georgia"/>
              </a:rPr>
              <a:t>Design Constraints</a:t>
            </a:r>
          </a:p>
        </p:txBody>
      </p:sp>
      <p:sp>
        <p:nvSpPr>
          <p:cNvPr id="6" name="Rectangle 5"/>
          <p:cNvSpPr/>
          <p:nvPr/>
        </p:nvSpPr>
        <p:spPr>
          <a:xfrm>
            <a:off x="566928" y="1078992"/>
            <a:ext cx="1005840" cy="50292"/>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463040"/>
          <a:ext cx="11064240" cy="4937759"/>
        </p:xfrm>
        <a:graphic>
          <a:graphicData uri="http://schemas.openxmlformats.org/drawingml/2006/table">
            <a:tbl>
              <a:tblPr firstRow="1" bandRow="1">
                <a:tableStyleId>{5C22544A-7EE6-4342-B048-85BDC9FD1C3A}</a:tableStyleId>
              </a:tblPr>
              <a:tblGrid>
                <a:gridCol w="2743200"/>
                <a:gridCol w="8321040"/>
              </a:tblGrid>
              <a:tr h="548639">
                <a:tc>
                  <a:txBody>
                    <a:bodyPr/>
                    <a:lstStyle/>
                    <a:p>
                      <a:pPr algn="ctr"/>
                      <a:r>
                        <a:rPr sz="1350" b="1" i="0">
                          <a:solidFill>
                            <a:srgbClr val="FFFFFF"/>
                          </a:solidFill>
                          <a:latin typeface="Calibri"/>
                        </a:rPr>
                        <a:t>Constraint</a:t>
                      </a:r>
                    </a:p>
                  </a:txBody>
                  <a:tcPr anchor="ctr" marL="73152" marR="73152">
                    <a:solidFill>
                      <a:srgbClr val="144E4C"/>
                    </a:solidFill>
                  </a:tcPr>
                </a:tc>
                <a:tc>
                  <a:txBody>
                    <a:bodyPr/>
                    <a:lstStyle/>
                    <a:p>
                      <a:pPr algn="ctr"/>
                      <a:r>
                        <a:rPr sz="1350" b="1" i="0">
                          <a:solidFill>
                            <a:srgbClr val="FFFFFF"/>
                          </a:solidFill>
                          <a:latin typeface="Calibri"/>
                        </a:rPr>
                        <a:t>How We Handle It</a:t>
                      </a:r>
                    </a:p>
                  </a:txBody>
                  <a:tcPr anchor="ctr" marL="73152" marR="73152">
                    <a:solidFill>
                      <a:srgbClr val="144E4C"/>
                    </a:solidFill>
                  </a:tcPr>
                </a:tc>
              </a:tr>
              <a:tr h="548639">
                <a:tc>
                  <a:txBody>
                    <a:bodyPr/>
                    <a:lstStyle/>
                    <a:p>
                      <a:pPr algn="ctr"/>
                      <a:r>
                        <a:rPr sz="1250" b="0" i="0">
                          <a:solidFill>
                            <a:srgbClr val="1F2937"/>
                          </a:solidFill>
                          <a:latin typeface="Calibri"/>
                        </a:rPr>
                        <a:t>Economic</a:t>
                      </a:r>
                    </a:p>
                  </a:txBody>
                  <a:tcPr anchor="ctr" marL="73152" marR="73152">
                    <a:solidFill>
                      <a:srgbClr val="FFFFFF"/>
                    </a:solidFill>
                  </a:tcPr>
                </a:tc>
                <a:tc>
                  <a:txBody>
                    <a:bodyPr/>
                    <a:lstStyle/>
                    <a:p>
                      <a:pPr algn="ctr"/>
                      <a:r>
                        <a:rPr sz="1250" b="0" i="0">
                          <a:solidFill>
                            <a:srgbClr val="1F2937"/>
                          </a:solidFill>
                          <a:latin typeface="Calibri"/>
                        </a:rPr>
                        <a:t>Zero Software Cost; ROI Via Reduced DHU / Chargeback In 2–3 Years At Expected Trial Performance.</a:t>
                      </a:r>
                    </a:p>
                  </a:txBody>
                  <a:tcPr anchor="ctr" marL="73152" marR="73152">
                    <a:solidFill>
                      <a:srgbClr val="FFFFFF"/>
                    </a:solidFill>
                  </a:tcPr>
                </a:tc>
              </a:tr>
              <a:tr h="548639">
                <a:tc>
                  <a:txBody>
                    <a:bodyPr/>
                    <a:lstStyle/>
                    <a:p>
                      <a:pPr algn="ctr"/>
                      <a:r>
                        <a:rPr sz="1250" b="0" i="0">
                          <a:solidFill>
                            <a:srgbClr val="1F2937"/>
                          </a:solidFill>
                          <a:latin typeface="Calibri"/>
                        </a:rPr>
                        <a:t>Environmental</a:t>
                      </a:r>
                    </a:p>
                  </a:txBody>
                  <a:tcPr anchor="ctr" marL="73152" marR="73152">
                    <a:solidFill>
                      <a:srgbClr val="EFEAD9"/>
                    </a:solidFill>
                  </a:tcPr>
                </a:tc>
                <a:tc>
                  <a:txBody>
                    <a:bodyPr/>
                    <a:lstStyle/>
                    <a:p>
                      <a:pPr algn="ctr"/>
                      <a:r>
                        <a:rPr sz="1250" b="0" i="0">
                          <a:solidFill>
                            <a:srgbClr val="1F2937"/>
                          </a:solidFill>
                          <a:latin typeface="Calibri"/>
                        </a:rPr>
                        <a:t>Small Training Footprint, Low Edge Power Draw, Fewer Faulty Shipments.</a:t>
                      </a:r>
                    </a:p>
                  </a:txBody>
                  <a:tcPr anchor="ctr" marL="73152" marR="73152">
                    <a:solidFill>
                      <a:srgbClr val="EFEAD9"/>
                    </a:solidFill>
                  </a:tcPr>
                </a:tc>
              </a:tr>
              <a:tr h="548639">
                <a:tc>
                  <a:txBody>
                    <a:bodyPr/>
                    <a:lstStyle/>
                    <a:p>
                      <a:pPr algn="ctr"/>
                      <a:r>
                        <a:rPr sz="1250" b="0" i="0">
                          <a:solidFill>
                            <a:srgbClr val="1F2937"/>
                          </a:solidFill>
                          <a:latin typeface="Calibri"/>
                        </a:rPr>
                        <a:t>Ethical</a:t>
                      </a:r>
                    </a:p>
                  </a:txBody>
                  <a:tcPr anchor="ctr" marL="73152" marR="73152">
                    <a:solidFill>
                      <a:srgbClr val="FFFFFF"/>
                    </a:solidFill>
                  </a:tcPr>
                </a:tc>
                <a:tc>
                  <a:txBody>
                    <a:bodyPr/>
                    <a:lstStyle/>
                    <a:p>
                      <a:pPr algn="ctr"/>
                      <a:r>
                        <a:rPr sz="1250" b="0" i="0">
                          <a:solidFill>
                            <a:srgbClr val="1F2937"/>
                          </a:solidFill>
                          <a:latin typeface="Calibri"/>
                        </a:rPr>
                        <a:t>Cameras Face Fabric, Not Workers; Wrong Labels Are Corrected, Not Ignored; Planning Data Stays Labeled Until Factory Records Take Over.</a:t>
                      </a:r>
                    </a:p>
                  </a:txBody>
                  <a:tcPr anchor="ctr" marL="73152" marR="73152">
                    <a:solidFill>
                      <a:srgbClr val="FFFFFF"/>
                    </a:solidFill>
                  </a:tcPr>
                </a:tc>
              </a:tr>
              <a:tr h="548639">
                <a:tc>
                  <a:txBody>
                    <a:bodyPr/>
                    <a:lstStyle/>
                    <a:p>
                      <a:pPr algn="ctr"/>
                      <a:r>
                        <a:rPr sz="1250" b="0" i="0">
                          <a:solidFill>
                            <a:srgbClr val="1F2937"/>
                          </a:solidFill>
                          <a:latin typeface="Calibri"/>
                        </a:rPr>
                        <a:t>Health &amp; Safety</a:t>
                      </a:r>
                    </a:p>
                  </a:txBody>
                  <a:tcPr anchor="ctr" marL="73152" marR="73152">
                    <a:solidFill>
                      <a:srgbClr val="EFEAD9"/>
                    </a:solidFill>
                  </a:tcPr>
                </a:tc>
                <a:tc>
                  <a:txBody>
                    <a:bodyPr/>
                    <a:lstStyle/>
                    <a:p>
                      <a:pPr algn="ctr"/>
                      <a:r>
                        <a:rPr sz="1250" b="0" i="0">
                          <a:solidFill>
                            <a:srgbClr val="1F2937"/>
                          </a:solidFill>
                          <a:latin typeface="Calibri"/>
                        </a:rPr>
                        <a:t>Enclosed System Helps Reduce Inspector Eye Strain.</a:t>
                      </a:r>
                    </a:p>
                  </a:txBody>
                  <a:tcPr anchor="ctr" marL="73152" marR="73152">
                    <a:solidFill>
                      <a:srgbClr val="EFEAD9"/>
                    </a:solidFill>
                  </a:tcPr>
                </a:tc>
              </a:tr>
              <a:tr h="548639">
                <a:tc>
                  <a:txBody>
                    <a:bodyPr/>
                    <a:lstStyle/>
                    <a:p>
                      <a:pPr algn="ctr"/>
                      <a:r>
                        <a:rPr sz="1250" b="0" i="0">
                          <a:solidFill>
                            <a:srgbClr val="1F2937"/>
                          </a:solidFill>
                          <a:latin typeface="Calibri"/>
                        </a:rPr>
                        <a:t>Social</a:t>
                      </a:r>
                    </a:p>
                  </a:txBody>
                  <a:tcPr anchor="ctr" marL="73152" marR="73152">
                    <a:solidFill>
                      <a:srgbClr val="FFFFFF"/>
                    </a:solidFill>
                  </a:tcPr>
                </a:tc>
                <a:tc>
                  <a:txBody>
                    <a:bodyPr/>
                    <a:lstStyle/>
                    <a:p>
                      <a:pPr algn="ctr"/>
                      <a:r>
                        <a:rPr sz="1250" b="0" i="0">
                          <a:solidFill>
                            <a:srgbClr val="1F2937"/>
                          </a:solidFill>
                          <a:latin typeface="Calibri"/>
                        </a:rPr>
                        <a:t>Bangla-Language Labels; Inspectors Trained Toward Supervisor Roles.</a:t>
                      </a:r>
                    </a:p>
                  </a:txBody>
                  <a:tcPr anchor="ctr" marL="73152" marR="73152">
                    <a:solidFill>
                      <a:srgbClr val="FFFFFF"/>
                    </a:solidFill>
                  </a:tcPr>
                </a:tc>
              </a:tr>
              <a:tr h="548639">
                <a:tc>
                  <a:txBody>
                    <a:bodyPr/>
                    <a:lstStyle/>
                    <a:p>
                      <a:pPr algn="ctr"/>
                      <a:r>
                        <a:rPr sz="1250" b="0" i="0">
                          <a:solidFill>
                            <a:srgbClr val="1F2937"/>
                          </a:solidFill>
                          <a:latin typeface="Calibri"/>
                        </a:rPr>
                        <a:t>Political</a:t>
                      </a:r>
                    </a:p>
                  </a:txBody>
                  <a:tcPr anchor="ctr" marL="73152" marR="73152">
                    <a:solidFill>
                      <a:srgbClr val="EFEAD9"/>
                    </a:solidFill>
                  </a:tcPr>
                </a:tc>
                <a:tc>
                  <a:txBody>
                    <a:bodyPr/>
                    <a:lstStyle/>
                    <a:p>
                      <a:pPr algn="ctr"/>
                      <a:r>
                        <a:rPr sz="1250" b="0" i="0">
                          <a:solidFill>
                            <a:srgbClr val="1F2937"/>
                          </a:solidFill>
                          <a:latin typeface="Calibri"/>
                        </a:rPr>
                        <a:t>No Approvals Required.</a:t>
                      </a:r>
                    </a:p>
                  </a:txBody>
                  <a:tcPr anchor="ctr" marL="73152" marR="73152">
                    <a:solidFill>
                      <a:srgbClr val="EFEAD9"/>
                    </a:solidFill>
                  </a:tcPr>
                </a:tc>
              </a:tr>
              <a:tr h="548639">
                <a:tc>
                  <a:txBody>
                    <a:bodyPr/>
                    <a:lstStyle/>
                    <a:p>
                      <a:pPr algn="ctr"/>
                      <a:r>
                        <a:rPr sz="1250" b="0" i="0">
                          <a:solidFill>
                            <a:srgbClr val="1F2937"/>
                          </a:solidFill>
                          <a:latin typeface="Calibri"/>
                        </a:rPr>
                        <a:t>Manufacturability &amp; Cost</a:t>
                      </a:r>
                    </a:p>
                  </a:txBody>
                  <a:tcPr anchor="ctr" marL="73152" marR="73152">
                    <a:solidFill>
                      <a:srgbClr val="FFFFFF"/>
                    </a:solidFill>
                  </a:tcPr>
                </a:tc>
                <a:tc>
                  <a:txBody>
                    <a:bodyPr/>
                    <a:lstStyle/>
                    <a:p>
                      <a:pPr algn="ctr"/>
                      <a:r>
                        <a:rPr sz="1250" b="0" i="0">
                          <a:solidFill>
                            <a:srgbClr val="1F2937"/>
                          </a:solidFill>
                          <a:latin typeface="Calibri"/>
                        </a:rPr>
                        <a:t>Computers, Cameras, And Jetson Hardware Are All Moderate-Cost And Readily Available.</a:t>
                      </a:r>
                    </a:p>
                  </a:txBody>
                  <a:tcPr anchor="ctr" marL="73152" marR="73152">
                    <a:solidFill>
                      <a:srgbClr val="FFFFFF"/>
                    </a:solidFill>
                  </a:tcPr>
                </a:tc>
              </a:tr>
              <a:tr h="548647">
                <a:tc>
                  <a:txBody>
                    <a:bodyPr/>
                    <a:lstStyle/>
                    <a:p>
                      <a:pPr algn="ctr"/>
                      <a:r>
                        <a:rPr sz="1250" b="0" i="0">
                          <a:solidFill>
                            <a:srgbClr val="1F2937"/>
                          </a:solidFill>
                          <a:latin typeface="Calibri"/>
                        </a:rPr>
                        <a:t>Sustainability</a:t>
                      </a:r>
                    </a:p>
                  </a:txBody>
                  <a:tcPr anchor="ctr" marL="73152" marR="73152">
                    <a:solidFill>
                      <a:srgbClr val="EFEAD9"/>
                    </a:solidFill>
                  </a:tcPr>
                </a:tc>
                <a:tc>
                  <a:txBody>
                    <a:bodyPr/>
                    <a:lstStyle/>
                    <a:p>
                      <a:pPr algn="ctr"/>
                      <a:r>
                        <a:rPr sz="1250" b="0" i="0">
                          <a:solidFill>
                            <a:srgbClr val="1F2937"/>
                          </a:solidFill>
                          <a:latin typeface="Calibri"/>
                        </a:rPr>
                        <a:t>Open Formats, Maintainable Scripts, An Expandable Dataset.</a:t>
                      </a:r>
                    </a:p>
                  </a:txBody>
                  <a:tcPr anchor="ctr" marL="73152" marR="73152">
                    <a:solidFill>
                      <a:srgbClr val="EFEAD9"/>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AF7EF"/>
        </a:solidFill>
        <a:effectLst/>
      </p:bgPr>
    </p:bg>
    <p:spTree>
      <p:nvGrpSpPr>
        <p:cNvPr id="1" name=""/>
        <p:cNvGrpSpPr/>
        <p:nvPr/>
      </p:nvGrpSpPr>
      <p:grpSpPr/>
      <p:sp>
        <p:nvSpPr>
          <p:cNvPr id="2" name="TextBox 1"/>
          <p:cNvSpPr txBox="1"/>
          <p:nvPr/>
        </p:nvSpPr>
        <p:spPr>
          <a:xfrm>
            <a:off x="548640" y="6419088"/>
            <a:ext cx="9144000" cy="274320"/>
          </a:xfrm>
          <a:prstGeom prst="rect">
            <a:avLst/>
          </a:prstGeom>
          <a:noFill/>
        </p:spPr>
        <p:txBody>
          <a:bodyPr wrap="square">
            <a:spAutoFit/>
          </a:bodyPr>
          <a:lstStyle/>
          <a:p>
            <a:pPr algn="l"/>
            <a:r>
              <a:rPr sz="900" b="0" i="0">
                <a:solidFill>
                  <a:srgbClr val="8A8F98"/>
                </a:solidFill>
                <a:latin typeface="Calibri"/>
              </a:rPr>
              <a:t>Defect-to-Delivery  |  FYDP-I  •  Group: 262-034</a:t>
            </a:r>
          </a:p>
        </p:txBody>
      </p:sp>
      <p:sp>
        <p:nvSpPr>
          <p:cNvPr id="3" name="TextBox 2"/>
          <p:cNvSpPr txBox="1"/>
          <p:nvPr/>
        </p:nvSpPr>
        <p:spPr>
          <a:xfrm>
            <a:off x="10972800" y="6419088"/>
            <a:ext cx="640080" cy="274320"/>
          </a:xfrm>
          <a:prstGeom prst="rect">
            <a:avLst/>
          </a:prstGeom>
          <a:noFill/>
        </p:spPr>
        <p:txBody>
          <a:bodyPr wrap="none">
            <a:spAutoFit/>
          </a:bodyPr>
          <a:lstStyle/>
          <a:p>
            <a:pPr algn="r"/>
            <a:r>
              <a:rPr sz="900">
                <a:solidFill>
                  <a:srgbClr val="8A8F98"/>
                </a:solidFill>
                <a:latin typeface="Calibri"/>
              </a:rPr>
              <a:t>27 / 35</a:t>
            </a:r>
          </a:p>
        </p:txBody>
      </p:sp>
      <p:sp>
        <p:nvSpPr>
          <p:cNvPr id="4" name="Rectangle 3"/>
          <p:cNvSpPr/>
          <p:nvPr/>
        </p:nvSpPr>
        <p:spPr>
          <a:xfrm>
            <a:off x="0" y="0"/>
            <a:ext cx="12188952" cy="64008"/>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20040"/>
            <a:ext cx="11064240" cy="822960"/>
          </a:xfrm>
          <a:prstGeom prst="rect">
            <a:avLst/>
          </a:prstGeom>
          <a:noFill/>
        </p:spPr>
        <p:txBody>
          <a:bodyPr wrap="square">
            <a:spAutoFit/>
          </a:bodyPr>
          <a:lstStyle/>
          <a:p>
            <a:pPr algn="l"/>
            <a:r>
              <a:rPr sz="3400" b="1" i="0">
                <a:solidFill>
                  <a:srgbClr val="144E4C"/>
                </a:solidFill>
                <a:latin typeface="Georgia"/>
              </a:rPr>
              <a:t>Estimated Project Budget (Table 5.1)</a:t>
            </a:r>
          </a:p>
        </p:txBody>
      </p:sp>
      <p:sp>
        <p:nvSpPr>
          <p:cNvPr id="6" name="Rectangle 5"/>
          <p:cNvSpPr/>
          <p:nvPr/>
        </p:nvSpPr>
        <p:spPr>
          <a:xfrm>
            <a:off x="566928" y="1078992"/>
            <a:ext cx="1005840" cy="50292"/>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144000" y="2743200"/>
            <a:ext cx="2468880" cy="1371600"/>
          </a:xfrm>
          <a:prstGeom prst="roundRect">
            <a:avLst/>
          </a:prstGeom>
          <a:solidFill>
            <a:srgbClr val="D9A4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i="0">
                <a:solidFill>
                  <a:srgbClr val="1F2937"/>
                </a:solidFill>
                <a:latin typeface="Calibri"/>
              </a:rPr>
              <a:t>Estimation Total
16,000 BDT</a:t>
            </a:r>
          </a:p>
        </p:txBody>
      </p:sp>
      <p:graphicFrame>
        <p:nvGraphicFramePr>
          <p:cNvPr id="9" name="Table 8"/>
          <p:cNvGraphicFramePr>
            <a:graphicFrameLocks noGrp="1"/>
          </p:cNvGraphicFramePr>
          <p:nvPr/>
        </p:nvGraphicFramePr>
        <p:xfrm>
          <a:off x="548640" y="1417320"/>
          <a:ext cx="8138160" cy="4526280"/>
        </p:xfrm>
        <a:graphic>
          <a:graphicData uri="http://schemas.openxmlformats.org/drawingml/2006/table">
            <a:tbl>
              <a:tblPr firstRow="1" bandRow="1">
                <a:tableStyleId>{5C22544A-7EE6-4342-B048-85BDC9FD1C3A}</a:tableStyleId>
              </a:tblPr>
              <a:tblGrid>
                <a:gridCol w="5760720"/>
                <a:gridCol w="2377440"/>
              </a:tblGrid>
              <a:tr h="502920">
                <a:tc>
                  <a:txBody>
                    <a:bodyPr/>
                    <a:lstStyle/>
                    <a:p>
                      <a:pPr algn="ctr"/>
                      <a:r>
                        <a:rPr sz="1300" b="1">
                          <a:solidFill>
                            <a:srgbClr val="FFFFFF"/>
                          </a:solidFill>
                          <a:latin typeface="Calibri"/>
                        </a:rPr>
                        <a:t>Cost Category</a:t>
                      </a:r>
                    </a:p>
                  </a:txBody>
                  <a:tcPr anchor="ctr">
                    <a:solidFill>
                      <a:srgbClr val="144E4C"/>
                    </a:solidFill>
                  </a:tcPr>
                </a:tc>
                <a:tc>
                  <a:txBody>
                    <a:bodyPr/>
                    <a:lstStyle/>
                    <a:p>
                      <a:pPr algn="ctr"/>
                      <a:r>
                        <a:rPr sz="1300" b="1">
                          <a:solidFill>
                            <a:srgbClr val="FFFFFF"/>
                          </a:solidFill>
                          <a:latin typeface="Calibri"/>
                        </a:rPr>
                        <a:t>Estimated Cost (BDT)</a:t>
                      </a:r>
                    </a:p>
                  </a:txBody>
                  <a:tcPr anchor="ctr">
                    <a:solidFill>
                      <a:srgbClr val="144E4C"/>
                    </a:solidFill>
                  </a:tcPr>
                </a:tc>
              </a:tr>
              <a:tr h="502920">
                <a:tc>
                  <a:txBody>
                    <a:bodyPr/>
                    <a:lstStyle/>
                    <a:p>
                      <a:pPr algn="ctr"/>
                      <a:r>
                        <a:rPr sz="1200" b="0">
                          <a:solidFill>
                            <a:srgbClr val="1F2937"/>
                          </a:solidFill>
                          <a:latin typeface="Calibri"/>
                        </a:rPr>
                        <a:t>Dataset Preparation And Auditing</a:t>
                      </a:r>
                    </a:p>
                  </a:txBody>
                  <a:tcPr anchor="ctr">
                    <a:solidFill>
                      <a:srgbClr val="FFFFFF"/>
                    </a:solidFill>
                  </a:tcPr>
                </a:tc>
                <a:tc>
                  <a:txBody>
                    <a:bodyPr/>
                    <a:lstStyle/>
                    <a:p>
                      <a:pPr algn="ctr"/>
                      <a:r>
                        <a:rPr sz="1200" b="0">
                          <a:solidFill>
                            <a:srgbClr val="1F2937"/>
                          </a:solidFill>
                          <a:latin typeface="Calibri"/>
                        </a:rPr>
                        <a:t>2,000</a:t>
                      </a:r>
                    </a:p>
                  </a:txBody>
                  <a:tcPr anchor="ctr">
                    <a:solidFill>
                      <a:srgbClr val="FFFFFF"/>
                    </a:solidFill>
                  </a:tcPr>
                </a:tc>
              </a:tr>
              <a:tr h="502920">
                <a:tc>
                  <a:txBody>
                    <a:bodyPr/>
                    <a:lstStyle/>
                    <a:p>
                      <a:pPr algn="ctr"/>
                      <a:r>
                        <a:rPr sz="1200" b="0">
                          <a:solidFill>
                            <a:srgbClr val="1F2937"/>
                          </a:solidFill>
                          <a:latin typeface="Calibri"/>
                        </a:rPr>
                        <a:t>Camera And Image Acquisition Resources</a:t>
                      </a:r>
                    </a:p>
                  </a:txBody>
                  <a:tcPr anchor="ctr">
                    <a:solidFill>
                      <a:srgbClr val="EFEAD9"/>
                    </a:solidFill>
                  </a:tcPr>
                </a:tc>
                <a:tc>
                  <a:txBody>
                    <a:bodyPr/>
                    <a:lstStyle/>
                    <a:p>
                      <a:pPr algn="ctr"/>
                      <a:r>
                        <a:rPr sz="1200" b="0">
                          <a:solidFill>
                            <a:srgbClr val="1F2937"/>
                          </a:solidFill>
                          <a:latin typeface="Calibri"/>
                        </a:rPr>
                        <a:t>4,000</a:t>
                      </a:r>
                    </a:p>
                  </a:txBody>
                  <a:tcPr anchor="ctr">
                    <a:solidFill>
                      <a:srgbClr val="EFEAD9"/>
                    </a:solidFill>
                  </a:tcPr>
                </a:tc>
              </a:tr>
              <a:tr h="502920">
                <a:tc>
                  <a:txBody>
                    <a:bodyPr/>
                    <a:lstStyle/>
                    <a:p>
                      <a:pPr algn="ctr"/>
                      <a:r>
                        <a:rPr sz="1200" b="0">
                          <a:solidFill>
                            <a:srgbClr val="1F2937"/>
                          </a:solidFill>
                          <a:latin typeface="Calibri"/>
                        </a:rPr>
                        <a:t>Computing And Development Resources</a:t>
                      </a:r>
                    </a:p>
                  </a:txBody>
                  <a:tcPr anchor="ctr">
                    <a:solidFill>
                      <a:srgbClr val="FFFFFF"/>
                    </a:solidFill>
                  </a:tcPr>
                </a:tc>
                <a:tc>
                  <a:txBody>
                    <a:bodyPr/>
                    <a:lstStyle/>
                    <a:p>
                      <a:pPr algn="ctr"/>
                      <a:r>
                        <a:rPr sz="1200" b="0">
                          <a:solidFill>
                            <a:srgbClr val="1F2937"/>
                          </a:solidFill>
                          <a:latin typeface="Calibri"/>
                        </a:rPr>
                        <a:t>3,000</a:t>
                      </a:r>
                    </a:p>
                  </a:txBody>
                  <a:tcPr anchor="ctr">
                    <a:solidFill>
                      <a:srgbClr val="FFFFFF"/>
                    </a:solidFill>
                  </a:tcPr>
                </a:tc>
              </a:tr>
              <a:tr h="502920">
                <a:tc>
                  <a:txBody>
                    <a:bodyPr/>
                    <a:lstStyle/>
                    <a:p>
                      <a:pPr algn="ctr"/>
                      <a:r>
                        <a:rPr sz="1200" b="0">
                          <a:solidFill>
                            <a:srgbClr val="1F2937"/>
                          </a:solidFill>
                          <a:latin typeface="Calibri"/>
                        </a:rPr>
                        <a:t>Testing And Integration</a:t>
                      </a:r>
                    </a:p>
                  </a:txBody>
                  <a:tcPr anchor="ctr">
                    <a:solidFill>
                      <a:srgbClr val="EFEAD9"/>
                    </a:solidFill>
                  </a:tcPr>
                </a:tc>
                <a:tc>
                  <a:txBody>
                    <a:bodyPr/>
                    <a:lstStyle/>
                    <a:p>
                      <a:pPr algn="ctr"/>
                      <a:r>
                        <a:rPr sz="1200" b="0">
                          <a:solidFill>
                            <a:srgbClr val="1F2937"/>
                          </a:solidFill>
                          <a:latin typeface="Calibri"/>
                        </a:rPr>
                        <a:t>2,000</a:t>
                      </a:r>
                    </a:p>
                  </a:txBody>
                  <a:tcPr anchor="ctr">
                    <a:solidFill>
                      <a:srgbClr val="EFEAD9"/>
                    </a:solidFill>
                  </a:tcPr>
                </a:tc>
              </a:tr>
              <a:tr h="502920">
                <a:tc>
                  <a:txBody>
                    <a:bodyPr/>
                    <a:lstStyle/>
                    <a:p>
                      <a:pPr algn="ctr"/>
                      <a:r>
                        <a:rPr sz="1200" b="0">
                          <a:solidFill>
                            <a:srgbClr val="1F2937"/>
                          </a:solidFill>
                          <a:latin typeface="Calibri"/>
                        </a:rPr>
                        <a:t>Edge Deployment And Hardware-Related Resources</a:t>
                      </a:r>
                    </a:p>
                  </a:txBody>
                  <a:tcPr anchor="ctr">
                    <a:solidFill>
                      <a:srgbClr val="FFFFFF"/>
                    </a:solidFill>
                  </a:tcPr>
                </a:tc>
                <a:tc>
                  <a:txBody>
                    <a:bodyPr/>
                    <a:lstStyle/>
                    <a:p>
                      <a:pPr algn="ctr"/>
                      <a:r>
                        <a:rPr sz="1200" b="0">
                          <a:solidFill>
                            <a:srgbClr val="1F2937"/>
                          </a:solidFill>
                          <a:latin typeface="Calibri"/>
                        </a:rPr>
                        <a:t>3,000</a:t>
                      </a:r>
                    </a:p>
                  </a:txBody>
                  <a:tcPr anchor="ctr">
                    <a:solidFill>
                      <a:srgbClr val="FFFFFF"/>
                    </a:solidFill>
                  </a:tcPr>
                </a:tc>
              </a:tr>
              <a:tr h="502920">
                <a:tc>
                  <a:txBody>
                    <a:bodyPr/>
                    <a:lstStyle/>
                    <a:p>
                      <a:pPr algn="ctr"/>
                      <a:r>
                        <a:rPr sz="1200" b="0">
                          <a:solidFill>
                            <a:srgbClr val="1F2937"/>
                          </a:solidFill>
                          <a:latin typeface="Calibri"/>
                        </a:rPr>
                        <a:t>Documentation And Presentation</a:t>
                      </a:r>
                    </a:p>
                  </a:txBody>
                  <a:tcPr anchor="ctr">
                    <a:solidFill>
                      <a:srgbClr val="EFEAD9"/>
                    </a:solidFill>
                  </a:tcPr>
                </a:tc>
                <a:tc>
                  <a:txBody>
                    <a:bodyPr/>
                    <a:lstStyle/>
                    <a:p>
                      <a:pPr algn="ctr"/>
                      <a:r>
                        <a:rPr sz="1200" b="0">
                          <a:solidFill>
                            <a:srgbClr val="1F2937"/>
                          </a:solidFill>
                          <a:latin typeface="Calibri"/>
                        </a:rPr>
                        <a:t>1,000</a:t>
                      </a:r>
                    </a:p>
                  </a:txBody>
                  <a:tcPr anchor="ctr">
                    <a:solidFill>
                      <a:srgbClr val="EFEAD9"/>
                    </a:solidFill>
                  </a:tcPr>
                </a:tc>
              </a:tr>
              <a:tr h="502920">
                <a:tc>
                  <a:txBody>
                    <a:bodyPr/>
                    <a:lstStyle/>
                    <a:p>
                      <a:pPr algn="ctr"/>
                      <a:r>
                        <a:rPr sz="1200" b="0">
                          <a:solidFill>
                            <a:srgbClr val="1F2937"/>
                          </a:solidFill>
                          <a:latin typeface="Calibri"/>
                        </a:rPr>
                        <a:t>Miscellaneous Expenses</a:t>
                      </a:r>
                    </a:p>
                  </a:txBody>
                  <a:tcPr anchor="ctr">
                    <a:solidFill>
                      <a:srgbClr val="FFFFFF"/>
                    </a:solidFill>
                  </a:tcPr>
                </a:tc>
                <a:tc>
                  <a:txBody>
                    <a:bodyPr/>
                    <a:lstStyle/>
                    <a:p>
                      <a:pPr algn="ctr"/>
                      <a:r>
                        <a:rPr sz="1200" b="0">
                          <a:solidFill>
                            <a:srgbClr val="1F2937"/>
                          </a:solidFill>
                          <a:latin typeface="Calibri"/>
                        </a:rPr>
                        <a:t>1,000</a:t>
                      </a:r>
                    </a:p>
                  </a:txBody>
                  <a:tcPr anchor="ctr">
                    <a:solidFill>
                      <a:srgbClr val="FFFFFF"/>
                    </a:solidFill>
                  </a:tcPr>
                </a:tc>
              </a:tr>
              <a:tr h="502920">
                <a:tc>
                  <a:txBody>
                    <a:bodyPr/>
                    <a:lstStyle/>
                    <a:p>
                      <a:pPr algn="ctr"/>
                      <a:r>
                        <a:rPr sz="1200" b="1">
                          <a:solidFill>
                            <a:srgbClr val="1F2937"/>
                          </a:solidFill>
                          <a:latin typeface="Calibri"/>
                        </a:rPr>
                        <a:t>Total</a:t>
                      </a:r>
                    </a:p>
                  </a:txBody>
                  <a:tcPr anchor="ctr">
                    <a:solidFill>
                      <a:srgbClr val="EFEAD9"/>
                    </a:solidFill>
                  </a:tcPr>
                </a:tc>
                <a:tc>
                  <a:txBody>
                    <a:bodyPr/>
                    <a:lstStyle/>
                    <a:p>
                      <a:pPr algn="ctr"/>
                      <a:r>
                        <a:rPr sz="1200" b="1">
                          <a:solidFill>
                            <a:srgbClr val="1F2937"/>
                          </a:solidFill>
                          <a:latin typeface="Calibri"/>
                        </a:rPr>
                        <a:t>16,000</a:t>
                      </a:r>
                    </a:p>
                  </a:txBody>
                  <a:tcPr anchor="ctr">
                    <a:solidFill>
                      <a:srgbClr val="EFEAD9"/>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AF7EF"/>
        </a:solidFill>
        <a:effectLst/>
      </p:bgPr>
    </p:bg>
    <p:spTree>
      <p:nvGrpSpPr>
        <p:cNvPr id="1" name=""/>
        <p:cNvGrpSpPr/>
        <p:nvPr/>
      </p:nvGrpSpPr>
      <p:grpSpPr/>
      <p:sp>
        <p:nvSpPr>
          <p:cNvPr id="2" name="TextBox 1"/>
          <p:cNvSpPr txBox="1"/>
          <p:nvPr/>
        </p:nvSpPr>
        <p:spPr>
          <a:xfrm>
            <a:off x="548640" y="6419088"/>
            <a:ext cx="9144000" cy="274320"/>
          </a:xfrm>
          <a:prstGeom prst="rect">
            <a:avLst/>
          </a:prstGeom>
          <a:noFill/>
        </p:spPr>
        <p:txBody>
          <a:bodyPr wrap="square">
            <a:spAutoFit/>
          </a:bodyPr>
          <a:lstStyle/>
          <a:p>
            <a:pPr algn="l"/>
            <a:r>
              <a:rPr sz="900" b="0" i="0">
                <a:solidFill>
                  <a:srgbClr val="8A8F98"/>
                </a:solidFill>
                <a:latin typeface="Calibri"/>
              </a:rPr>
              <a:t>Defect-to-Delivery  |  FYDP-I  •  Group: 262-034</a:t>
            </a:r>
          </a:p>
        </p:txBody>
      </p:sp>
      <p:sp>
        <p:nvSpPr>
          <p:cNvPr id="3" name="TextBox 2"/>
          <p:cNvSpPr txBox="1"/>
          <p:nvPr/>
        </p:nvSpPr>
        <p:spPr>
          <a:xfrm>
            <a:off x="10972800" y="6419088"/>
            <a:ext cx="640080" cy="274320"/>
          </a:xfrm>
          <a:prstGeom prst="rect">
            <a:avLst/>
          </a:prstGeom>
          <a:noFill/>
        </p:spPr>
        <p:txBody>
          <a:bodyPr wrap="none">
            <a:spAutoFit/>
          </a:bodyPr>
          <a:lstStyle/>
          <a:p>
            <a:pPr algn="r"/>
            <a:r>
              <a:rPr sz="900">
                <a:solidFill>
                  <a:srgbClr val="8A8F98"/>
                </a:solidFill>
                <a:latin typeface="Calibri"/>
              </a:rPr>
              <a:t>28 / 35</a:t>
            </a:r>
          </a:p>
        </p:txBody>
      </p:sp>
      <p:sp>
        <p:nvSpPr>
          <p:cNvPr id="4" name="Rectangle 3"/>
          <p:cNvSpPr/>
          <p:nvPr/>
        </p:nvSpPr>
        <p:spPr>
          <a:xfrm>
            <a:off x="0" y="0"/>
            <a:ext cx="12188952" cy="64008"/>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20040"/>
            <a:ext cx="11064240" cy="822960"/>
          </a:xfrm>
          <a:prstGeom prst="rect">
            <a:avLst/>
          </a:prstGeom>
          <a:noFill/>
        </p:spPr>
        <p:txBody>
          <a:bodyPr wrap="square">
            <a:spAutoFit/>
          </a:bodyPr>
          <a:lstStyle/>
          <a:p>
            <a:pPr algn="l"/>
            <a:r>
              <a:rPr sz="3400" b="1" i="0">
                <a:solidFill>
                  <a:srgbClr val="144E4C"/>
                </a:solidFill>
                <a:latin typeface="Georgia"/>
              </a:rPr>
              <a:t>Project Plan (Table 3.7; Gantt: Fig. 3.9)</a:t>
            </a:r>
          </a:p>
        </p:txBody>
      </p:sp>
      <p:sp>
        <p:nvSpPr>
          <p:cNvPr id="6" name="Rectangle 5"/>
          <p:cNvSpPr/>
          <p:nvPr/>
        </p:nvSpPr>
        <p:spPr>
          <a:xfrm>
            <a:off x="566928" y="1078992"/>
            <a:ext cx="1005840" cy="50292"/>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5806440"/>
            <a:ext cx="11064240" cy="457200"/>
          </a:xfrm>
          <a:prstGeom prst="rect">
            <a:avLst/>
          </a:prstGeom>
          <a:noFill/>
        </p:spPr>
        <p:txBody>
          <a:bodyPr wrap="square" anchor="ctr">
            <a:spAutoFit/>
          </a:bodyPr>
          <a:lstStyle/>
          <a:p>
            <a:pPr algn="ctr"/>
            <a:r>
              <a:rPr sz="1300" b="0" i="0">
                <a:solidFill>
                  <a:srgbClr val="5B6570"/>
                </a:solidFill>
                <a:latin typeface="Calibri"/>
              </a:rPr>
              <a:t>Audit / Split (Done) → Reproduction → Segmentation → Anomaly → Planning → Edge → Write-Up, Over 32 Weeks. Full Gantt: Report Fig. 3.9.</a:t>
            </a:r>
          </a:p>
        </p:txBody>
      </p:sp>
      <p:graphicFrame>
        <p:nvGraphicFramePr>
          <p:cNvPr id="9" name="Table 8"/>
          <p:cNvGraphicFramePr>
            <a:graphicFrameLocks noGrp="1"/>
          </p:cNvGraphicFramePr>
          <p:nvPr/>
        </p:nvGraphicFramePr>
        <p:xfrm>
          <a:off x="548640" y="1463040"/>
          <a:ext cx="11064240" cy="4526280"/>
        </p:xfrm>
        <a:graphic>
          <a:graphicData uri="http://schemas.openxmlformats.org/drawingml/2006/table">
            <a:tbl>
              <a:tblPr firstRow="1" bandRow="1">
                <a:tableStyleId>{5C22544A-7EE6-4342-B048-85BDC9FD1C3A}</a:tableStyleId>
              </a:tblPr>
              <a:tblGrid>
                <a:gridCol w="5760720"/>
                <a:gridCol w="5303520"/>
              </a:tblGrid>
              <a:tr h="502920">
                <a:tc>
                  <a:txBody>
                    <a:bodyPr/>
                    <a:lstStyle/>
                    <a:p>
                      <a:pPr algn="ctr"/>
                      <a:r>
                        <a:rPr sz="1300" b="1">
                          <a:solidFill>
                            <a:srgbClr val="FFFFFF"/>
                          </a:solidFill>
                          <a:latin typeface="Calibri"/>
                        </a:rPr>
                        <a:t>Stage</a:t>
                      </a:r>
                    </a:p>
                  </a:txBody>
                  <a:tcPr anchor="ctr">
                    <a:solidFill>
                      <a:srgbClr val="144E4C"/>
                    </a:solidFill>
                  </a:tcPr>
                </a:tc>
                <a:tc>
                  <a:txBody>
                    <a:bodyPr/>
                    <a:lstStyle/>
                    <a:p>
                      <a:pPr algn="ctr"/>
                      <a:r>
                        <a:rPr sz="1300" b="1">
                          <a:solidFill>
                            <a:srgbClr val="FFFFFF"/>
                          </a:solidFill>
                          <a:latin typeface="Calibri"/>
                        </a:rPr>
                        <a:t>Schedule / Status</a:t>
                      </a:r>
                    </a:p>
                  </a:txBody>
                  <a:tcPr anchor="ctr">
                    <a:solidFill>
                      <a:srgbClr val="144E4C"/>
                    </a:solidFill>
                  </a:tcPr>
                </a:tc>
              </a:tr>
              <a:tr h="502920">
                <a:tc>
                  <a:txBody>
                    <a:bodyPr/>
                    <a:lstStyle/>
                    <a:p>
                      <a:pPr algn="ctr"/>
                      <a:r>
                        <a:rPr sz="1200" b="0">
                          <a:solidFill>
                            <a:srgbClr val="1F2937"/>
                          </a:solidFill>
                          <a:latin typeface="Calibri"/>
                        </a:rPr>
                        <a:t>Audit / Split</a:t>
                      </a:r>
                    </a:p>
                  </a:txBody>
                  <a:tcPr anchor="ctr">
                    <a:solidFill>
                      <a:srgbClr val="FFFFFF"/>
                    </a:solidFill>
                  </a:tcPr>
                </a:tc>
                <a:tc>
                  <a:txBody>
                    <a:bodyPr/>
                    <a:lstStyle/>
                    <a:p>
                      <a:pPr algn="ctr"/>
                      <a:r>
                        <a:rPr sz="1200" b="0">
                          <a:solidFill>
                            <a:srgbClr val="1F2937"/>
                          </a:solidFill>
                          <a:latin typeface="Calibri"/>
                        </a:rPr>
                        <a:t>Completed</a:t>
                      </a:r>
                    </a:p>
                  </a:txBody>
                  <a:tcPr anchor="ctr">
                    <a:solidFill>
                      <a:srgbClr val="FFFFFF"/>
                    </a:solidFill>
                  </a:tcPr>
                </a:tc>
              </a:tr>
              <a:tr h="502920">
                <a:tc>
                  <a:txBody>
                    <a:bodyPr/>
                    <a:lstStyle/>
                    <a:p>
                      <a:pPr algn="ctr"/>
                      <a:r>
                        <a:rPr sz="1200" b="0">
                          <a:solidFill>
                            <a:srgbClr val="1F2937"/>
                          </a:solidFill>
                          <a:latin typeface="Calibri"/>
                        </a:rPr>
                        <a:t>Reproduction</a:t>
                      </a:r>
                    </a:p>
                  </a:txBody>
                  <a:tcPr anchor="ctr">
                    <a:solidFill>
                      <a:srgbClr val="EFEAD9"/>
                    </a:solidFill>
                  </a:tcPr>
                </a:tc>
                <a:tc>
                  <a:txBody>
                    <a:bodyPr/>
                    <a:lstStyle/>
                    <a:p>
                      <a:pPr algn="ctr"/>
                      <a:r>
                        <a:rPr sz="1200" b="0">
                          <a:solidFill>
                            <a:srgbClr val="1F2937"/>
                          </a:solidFill>
                          <a:latin typeface="Calibri"/>
                        </a:rPr>
                        <a:t>Weeks 1–2</a:t>
                      </a:r>
                    </a:p>
                  </a:txBody>
                  <a:tcPr anchor="ctr">
                    <a:solidFill>
                      <a:srgbClr val="EFEAD9"/>
                    </a:solidFill>
                  </a:tcPr>
                </a:tc>
              </a:tr>
              <a:tr h="502920">
                <a:tc>
                  <a:txBody>
                    <a:bodyPr/>
                    <a:lstStyle/>
                    <a:p>
                      <a:pPr algn="ctr"/>
                      <a:r>
                        <a:rPr sz="1200" b="0">
                          <a:solidFill>
                            <a:srgbClr val="1F2937"/>
                          </a:solidFill>
                          <a:latin typeface="Calibri"/>
                        </a:rPr>
                        <a:t>Segmentation</a:t>
                      </a:r>
                    </a:p>
                  </a:txBody>
                  <a:tcPr anchor="ctr">
                    <a:solidFill>
                      <a:srgbClr val="FFFFFF"/>
                    </a:solidFill>
                  </a:tcPr>
                </a:tc>
                <a:tc>
                  <a:txBody>
                    <a:bodyPr/>
                    <a:lstStyle/>
                    <a:p>
                      <a:pPr algn="ctr"/>
                      <a:r>
                        <a:rPr sz="1200" b="0">
                          <a:solidFill>
                            <a:srgbClr val="1F2937"/>
                          </a:solidFill>
                          <a:latin typeface="Calibri"/>
                        </a:rPr>
                        <a:t>Weeks 3–10</a:t>
                      </a:r>
                    </a:p>
                  </a:txBody>
                  <a:tcPr anchor="ctr">
                    <a:solidFill>
                      <a:srgbClr val="FFFFFF"/>
                    </a:solidFill>
                  </a:tcPr>
                </a:tc>
              </a:tr>
              <a:tr h="502920">
                <a:tc>
                  <a:txBody>
                    <a:bodyPr/>
                    <a:lstStyle/>
                    <a:p>
                      <a:pPr algn="ctr"/>
                      <a:r>
                        <a:rPr sz="1200" b="0">
                          <a:solidFill>
                            <a:srgbClr val="1F2937"/>
                          </a:solidFill>
                          <a:latin typeface="Calibri"/>
                        </a:rPr>
                        <a:t>Anomaly Detection</a:t>
                      </a:r>
                    </a:p>
                  </a:txBody>
                  <a:tcPr anchor="ctr">
                    <a:solidFill>
                      <a:srgbClr val="EFEAD9"/>
                    </a:solidFill>
                  </a:tcPr>
                </a:tc>
                <a:tc>
                  <a:txBody>
                    <a:bodyPr/>
                    <a:lstStyle/>
                    <a:p>
                      <a:pPr algn="ctr"/>
                      <a:r>
                        <a:rPr sz="1200" b="0">
                          <a:solidFill>
                            <a:srgbClr val="1F2937"/>
                          </a:solidFill>
                          <a:latin typeface="Calibri"/>
                        </a:rPr>
                        <a:t>Weeks 8–14</a:t>
                      </a:r>
                    </a:p>
                  </a:txBody>
                  <a:tcPr anchor="ctr">
                    <a:solidFill>
                      <a:srgbClr val="EFEAD9"/>
                    </a:solidFill>
                  </a:tcPr>
                </a:tc>
              </a:tr>
              <a:tr h="502920">
                <a:tc>
                  <a:txBody>
                    <a:bodyPr/>
                    <a:lstStyle/>
                    <a:p>
                      <a:pPr algn="ctr"/>
                      <a:r>
                        <a:rPr sz="1200" b="0">
                          <a:solidFill>
                            <a:srgbClr val="1F2937"/>
                          </a:solidFill>
                          <a:latin typeface="Calibri"/>
                        </a:rPr>
                        <a:t>Lead-Time Planning</a:t>
                      </a:r>
                    </a:p>
                  </a:txBody>
                  <a:tcPr anchor="ctr">
                    <a:solidFill>
                      <a:srgbClr val="FFFFFF"/>
                    </a:solidFill>
                  </a:tcPr>
                </a:tc>
                <a:tc>
                  <a:txBody>
                    <a:bodyPr/>
                    <a:lstStyle/>
                    <a:p>
                      <a:pPr algn="ctr"/>
                      <a:r>
                        <a:rPr sz="1200" b="0">
                          <a:solidFill>
                            <a:srgbClr val="1F2937"/>
                          </a:solidFill>
                          <a:latin typeface="Calibri"/>
                        </a:rPr>
                        <a:t>Weeks 12–18</a:t>
                      </a:r>
                    </a:p>
                  </a:txBody>
                  <a:tcPr anchor="ctr">
                    <a:solidFill>
                      <a:srgbClr val="FFFFFF"/>
                    </a:solidFill>
                  </a:tcPr>
                </a:tc>
              </a:tr>
              <a:tr h="502920">
                <a:tc>
                  <a:txBody>
                    <a:bodyPr/>
                    <a:lstStyle/>
                    <a:p>
                      <a:pPr algn="ctr"/>
                      <a:r>
                        <a:rPr sz="1200" b="0">
                          <a:solidFill>
                            <a:srgbClr val="1F2937"/>
                          </a:solidFill>
                          <a:latin typeface="Calibri"/>
                        </a:rPr>
                        <a:t>Edge Deployment</a:t>
                      </a:r>
                    </a:p>
                  </a:txBody>
                  <a:tcPr anchor="ctr">
                    <a:solidFill>
                      <a:srgbClr val="EFEAD9"/>
                    </a:solidFill>
                  </a:tcPr>
                </a:tc>
                <a:tc>
                  <a:txBody>
                    <a:bodyPr/>
                    <a:lstStyle/>
                    <a:p>
                      <a:pPr algn="ctr"/>
                      <a:r>
                        <a:rPr sz="1200" b="0">
                          <a:solidFill>
                            <a:srgbClr val="1F2937"/>
                          </a:solidFill>
                          <a:latin typeface="Calibri"/>
                        </a:rPr>
                        <a:t>Weeks 16–24</a:t>
                      </a:r>
                    </a:p>
                  </a:txBody>
                  <a:tcPr anchor="ctr">
                    <a:solidFill>
                      <a:srgbClr val="EFEAD9"/>
                    </a:solidFill>
                  </a:tcPr>
                </a:tc>
              </a:tr>
              <a:tr h="502920">
                <a:tc>
                  <a:txBody>
                    <a:bodyPr/>
                    <a:lstStyle/>
                    <a:p>
                      <a:pPr algn="ctr"/>
                      <a:r>
                        <a:rPr sz="1200" b="0">
                          <a:solidFill>
                            <a:srgbClr val="1F2937"/>
                          </a:solidFill>
                          <a:latin typeface="Calibri"/>
                        </a:rPr>
                        <a:t>Testing And Evaluation</a:t>
                      </a:r>
                    </a:p>
                  </a:txBody>
                  <a:tcPr anchor="ctr">
                    <a:solidFill>
                      <a:srgbClr val="FFFFFF"/>
                    </a:solidFill>
                  </a:tcPr>
                </a:tc>
                <a:tc>
                  <a:txBody>
                    <a:bodyPr/>
                    <a:lstStyle/>
                    <a:p>
                      <a:pPr algn="ctr"/>
                      <a:r>
                        <a:rPr sz="1200" b="0">
                          <a:solidFill>
                            <a:srgbClr val="1F2937"/>
                          </a:solidFill>
                          <a:latin typeface="Calibri"/>
                        </a:rPr>
                        <a:t>Weeks 24–28</a:t>
                      </a:r>
                    </a:p>
                  </a:txBody>
                  <a:tcPr anchor="ctr">
                    <a:solidFill>
                      <a:srgbClr val="FFFFFF"/>
                    </a:solidFill>
                  </a:tcPr>
                </a:tc>
              </a:tr>
              <a:tr h="502920">
                <a:tc>
                  <a:txBody>
                    <a:bodyPr/>
                    <a:lstStyle/>
                    <a:p>
                      <a:pPr algn="ctr"/>
                      <a:r>
                        <a:rPr sz="1200" b="0">
                          <a:solidFill>
                            <a:srgbClr val="1F2937"/>
                          </a:solidFill>
                          <a:latin typeface="Calibri"/>
                        </a:rPr>
                        <a:t>Documentation And Write-Up</a:t>
                      </a:r>
                    </a:p>
                  </a:txBody>
                  <a:tcPr anchor="ctr">
                    <a:solidFill>
                      <a:srgbClr val="EFEAD9"/>
                    </a:solidFill>
                  </a:tcPr>
                </a:tc>
                <a:tc>
                  <a:txBody>
                    <a:bodyPr/>
                    <a:lstStyle/>
                    <a:p>
                      <a:pPr algn="ctr"/>
                      <a:r>
                        <a:rPr sz="1200" b="0">
                          <a:solidFill>
                            <a:srgbClr val="1F2937"/>
                          </a:solidFill>
                          <a:latin typeface="Calibri"/>
                        </a:rPr>
                        <a:t>Weeks 24–32</a:t>
                      </a:r>
                    </a:p>
                  </a:txBody>
                  <a:tcPr anchor="ctr">
                    <a:solidFill>
                      <a:srgbClr val="EFEAD9"/>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AE7EF"/>
        </a:solidFill>
        <a:effectLst/>
      </p:bgPr>
    </p:bg>
    <p:spTree>
      <p:nvGrpSpPr>
        <p:cNvPr id="1" name=""/>
        <p:cNvGrpSpPr/>
        <p:nvPr/>
      </p:nvGrpSpPr>
      <p:grpSpPr/>
      <p:sp>
        <p:nvSpPr>
          <p:cNvPr id="2" name="Title 1"/>
          <p:cNvSpPr>
            <a:spLocks noGrp="1"/>
          </p:cNvSpPr>
          <p:nvPr>
            <p:ph type="title"/>
          </p:nvPr>
        </p:nvSpPr>
        <p:spPr/>
        <p:txBody>
          <a:bodyPr/>
          <a:lstStyle/>
          <a:p>
            <a:pPr>
              <a:defRPr/>
            </a:pPr>
          </a:p>
        </p:txBody>
      </p:sp>
      <p:sp>
        <p:nvSpPr>
          <p:cNvPr id="3" name="TextBox 2"/>
          <p:cNvSpPr txBox="1"/>
          <p:nvPr/>
        </p:nvSpPr>
        <p:spPr>
          <a:xfrm>
            <a:off x="548640" y="320040"/>
            <a:ext cx="11064240" cy="822960"/>
          </a:xfrm>
          <a:prstGeom prst="rect">
            <a:avLst/>
          </a:prstGeom>
          <a:noFill/>
        </p:spPr>
        <p:txBody>
          <a:bodyPr wrap="none">
            <a:spAutoFit/>
          </a:bodyPr>
          <a:lstStyle/>
          <a:p>
            <a:pPr algn="l">
              <a:defRPr sz="3400" b="1">
                <a:solidFill>
                  <a:srgbClr val="144E4C"/>
                </a:solidFill>
                <a:latin typeface="Georgia"/>
              </a:defRPr>
            </a:pPr>
            <a:r>
              <a:rPr sz="3400" b="1">
                <a:solidFill>
                  <a:srgbClr val="144E4C"/>
                </a:solidFill>
                <a:latin typeface="Georgia"/>
              </a:rPr>
              <a:t>Complex Engineering Problem (Tables 5.2, 5.3)</a:t>
            </a:r>
          </a:p>
        </p:txBody>
      </p:sp>
      <p:graphicFrame>
        <p:nvGraphicFramePr>
          <p:cNvPr id="4" name="Table 3"/>
          <p:cNvGraphicFramePr>
            <a:graphicFrameLocks noGrp="1"/>
          </p:cNvGraphicFramePr>
          <p:nvPr/>
        </p:nvGraphicFramePr>
        <p:xfrm>
          <a:off x="548640" y="1325880"/>
          <a:ext cx="11064240" cy="1508760"/>
        </p:xfrm>
        <a:graphic>
          <a:graphicData uri="http://schemas.openxmlformats.org/drawingml/2006/table">
            <a:tbl>
              <a:tblPr firstRow="1" bandRow="1">
                <a:tableStyleId>{5C22544A-7EE6-4342-B048-85BDC9FD1C3A}</a:tableStyleId>
              </a:tblPr>
              <a:tblGrid>
                <a:gridCol w="1580605"/>
                <a:gridCol w="1580605"/>
                <a:gridCol w="1580605"/>
                <a:gridCol w="1580605"/>
                <a:gridCol w="1580605"/>
                <a:gridCol w="1580605"/>
                <a:gridCol w="1580610"/>
              </a:tblGrid>
              <a:tr h="502920">
                <a:tc>
                  <a:txBody>
                    <a:bodyPr/>
                    <a:lstStyle/>
                    <a:p>
                      <a:pPr algn="ctr"/>
                      <a:r>
                        <a:rPr sz="1300" b="1">
                          <a:solidFill>
                            <a:srgbClr val="FFFFFF"/>
                          </a:solidFill>
                          <a:latin typeface="Calibri"/>
                        </a:rPr>
                        <a:t>P1</a:t>
                      </a:r>
                    </a:p>
                  </a:txBody>
                  <a:tcPr anchor="ctr">
                    <a:solidFill>
                      <a:srgbClr val="144E4C"/>
                    </a:solidFill>
                  </a:tcPr>
                </a:tc>
                <a:tc>
                  <a:txBody>
                    <a:bodyPr/>
                    <a:lstStyle/>
                    <a:p>
                      <a:pPr algn="ctr"/>
                      <a:r>
                        <a:rPr sz="1300" b="1">
                          <a:solidFill>
                            <a:srgbClr val="FFFFFF"/>
                          </a:solidFill>
                          <a:latin typeface="Calibri"/>
                        </a:rPr>
                        <a:t>P2</a:t>
                      </a:r>
                    </a:p>
                  </a:txBody>
                  <a:tcPr anchor="ctr">
                    <a:solidFill>
                      <a:srgbClr val="144E4C"/>
                    </a:solidFill>
                  </a:tcPr>
                </a:tc>
                <a:tc>
                  <a:txBody>
                    <a:bodyPr/>
                    <a:lstStyle/>
                    <a:p>
                      <a:pPr algn="ctr"/>
                      <a:r>
                        <a:rPr sz="1300" b="1">
                          <a:solidFill>
                            <a:srgbClr val="FFFFFF"/>
                          </a:solidFill>
                          <a:latin typeface="Calibri"/>
                        </a:rPr>
                        <a:t>P3</a:t>
                      </a:r>
                    </a:p>
                  </a:txBody>
                  <a:tcPr anchor="ctr">
                    <a:solidFill>
                      <a:srgbClr val="144E4C"/>
                    </a:solidFill>
                  </a:tcPr>
                </a:tc>
                <a:tc>
                  <a:txBody>
                    <a:bodyPr/>
                    <a:lstStyle/>
                    <a:p>
                      <a:pPr algn="ctr"/>
                      <a:r>
                        <a:rPr sz="1300" b="1">
                          <a:solidFill>
                            <a:srgbClr val="FFFFFF"/>
                          </a:solidFill>
                          <a:latin typeface="Calibri"/>
                        </a:rPr>
                        <a:t>P4</a:t>
                      </a:r>
                    </a:p>
                  </a:txBody>
                  <a:tcPr anchor="ctr">
                    <a:solidFill>
                      <a:srgbClr val="144E4C"/>
                    </a:solidFill>
                  </a:tcPr>
                </a:tc>
                <a:tc>
                  <a:txBody>
                    <a:bodyPr/>
                    <a:lstStyle/>
                    <a:p>
                      <a:pPr algn="ctr"/>
                      <a:r>
                        <a:rPr sz="1300" b="1">
                          <a:solidFill>
                            <a:srgbClr val="FFFFFF"/>
                          </a:solidFill>
                          <a:latin typeface="Calibri"/>
                        </a:rPr>
                        <a:t>P5</a:t>
                      </a:r>
                    </a:p>
                  </a:txBody>
                  <a:tcPr anchor="ctr">
                    <a:solidFill>
                      <a:srgbClr val="144E4C"/>
                    </a:solidFill>
                  </a:tcPr>
                </a:tc>
                <a:tc>
                  <a:txBody>
                    <a:bodyPr/>
                    <a:lstStyle/>
                    <a:p>
                      <a:pPr algn="ctr"/>
                      <a:r>
                        <a:rPr sz="1300" b="1">
                          <a:solidFill>
                            <a:srgbClr val="FFFFFF"/>
                          </a:solidFill>
                          <a:latin typeface="Calibri"/>
                        </a:rPr>
                        <a:t>P6</a:t>
                      </a:r>
                    </a:p>
                  </a:txBody>
                  <a:tcPr anchor="ctr">
                    <a:solidFill>
                      <a:srgbClr val="144E4C"/>
                    </a:solidFill>
                  </a:tcPr>
                </a:tc>
                <a:tc>
                  <a:txBody>
                    <a:bodyPr/>
                    <a:lstStyle/>
                    <a:p>
                      <a:pPr algn="ctr"/>
                      <a:r>
                        <a:rPr sz="1300" b="1">
                          <a:solidFill>
                            <a:srgbClr val="FFFFFF"/>
                          </a:solidFill>
                          <a:latin typeface="Calibri"/>
                        </a:rPr>
                        <a:t>P7</a:t>
                      </a:r>
                    </a:p>
                  </a:txBody>
                  <a:tcPr anchor="ctr">
                    <a:solidFill>
                      <a:srgbClr val="144E4C"/>
                    </a:solidFill>
                  </a:tcPr>
                </a:tc>
              </a:tr>
              <a:tr h="502920">
                <a:tc>
                  <a:txBody>
                    <a:bodyPr/>
                    <a:lstStyle/>
                    <a:p>
                      <a:pPr algn="ctr"/>
                      <a:r>
                        <a:rPr sz="1000" b="0">
                          <a:solidFill>
                            <a:srgbClr val="1F2937"/>
                          </a:solidFill>
                          <a:latin typeface="Calibri"/>
                        </a:rPr>
                        <a:t>Depth Of
Knowledge</a:t>
                      </a:r>
                    </a:p>
                  </a:txBody>
                  <a:tcPr anchor="ctr">
                    <a:solidFill>
                      <a:srgbClr val="FFFFFF"/>
                    </a:solidFill>
                  </a:tcPr>
                </a:tc>
                <a:tc>
                  <a:txBody>
                    <a:bodyPr/>
                    <a:lstStyle/>
                    <a:p>
                      <a:pPr algn="ctr"/>
                      <a:r>
                        <a:rPr sz="1000" b="0">
                          <a:solidFill>
                            <a:srgbClr val="1F2937"/>
                          </a:solidFill>
                          <a:latin typeface="Calibri"/>
                        </a:rPr>
                        <a:t>Conflicting
Requirements</a:t>
                      </a:r>
                    </a:p>
                  </a:txBody>
                  <a:tcPr anchor="ctr">
                    <a:solidFill>
                      <a:srgbClr val="FFFFFF"/>
                    </a:solidFill>
                  </a:tcPr>
                </a:tc>
                <a:tc>
                  <a:txBody>
                    <a:bodyPr/>
                    <a:lstStyle/>
                    <a:p>
                      <a:pPr algn="ctr"/>
                      <a:r>
                        <a:rPr sz="1000" b="0">
                          <a:solidFill>
                            <a:srgbClr val="1F2937"/>
                          </a:solidFill>
                          <a:latin typeface="Calibri"/>
                        </a:rPr>
                        <a:t>Depth Of
Analysis</a:t>
                      </a:r>
                    </a:p>
                  </a:txBody>
                  <a:tcPr anchor="ctr">
                    <a:solidFill>
                      <a:srgbClr val="FFFFFF"/>
                    </a:solidFill>
                  </a:tcPr>
                </a:tc>
                <a:tc>
                  <a:txBody>
                    <a:bodyPr/>
                    <a:lstStyle/>
                    <a:p>
                      <a:pPr algn="ctr"/>
                      <a:r>
                        <a:rPr sz="1000" b="0">
                          <a:solidFill>
                            <a:srgbClr val="1F2937"/>
                          </a:solidFill>
                          <a:latin typeface="Calibri"/>
                        </a:rPr>
                        <a:t>Familiarity
Of Issues</a:t>
                      </a:r>
                    </a:p>
                  </a:txBody>
                  <a:tcPr anchor="ctr">
                    <a:solidFill>
                      <a:srgbClr val="FFFFFF"/>
                    </a:solidFill>
                  </a:tcPr>
                </a:tc>
                <a:tc>
                  <a:txBody>
                    <a:bodyPr/>
                    <a:lstStyle/>
                    <a:p>
                      <a:pPr algn="ctr"/>
                      <a:r>
                        <a:rPr sz="1000" b="0">
                          <a:solidFill>
                            <a:srgbClr val="1F2937"/>
                          </a:solidFill>
                          <a:latin typeface="Calibri"/>
                        </a:rPr>
                        <a:t>Applicable
Codes</a:t>
                      </a:r>
                    </a:p>
                  </a:txBody>
                  <a:tcPr anchor="ctr">
                    <a:solidFill>
                      <a:srgbClr val="FFFFFF"/>
                    </a:solidFill>
                  </a:tcPr>
                </a:tc>
                <a:tc>
                  <a:txBody>
                    <a:bodyPr/>
                    <a:lstStyle/>
                    <a:p>
                      <a:pPr algn="ctr"/>
                      <a:r>
                        <a:rPr sz="1000" b="0">
                          <a:solidFill>
                            <a:srgbClr val="1F2937"/>
                          </a:solidFill>
                          <a:latin typeface="Calibri"/>
                        </a:rPr>
                        <a:t>Stakeholder
Involvement</a:t>
                      </a:r>
                    </a:p>
                  </a:txBody>
                  <a:tcPr anchor="ctr">
                    <a:solidFill>
                      <a:srgbClr val="FFFFFF"/>
                    </a:solidFill>
                  </a:tcPr>
                </a:tc>
                <a:tc>
                  <a:txBody>
                    <a:bodyPr/>
                    <a:lstStyle/>
                    <a:p>
                      <a:pPr algn="ctr"/>
                      <a:r>
                        <a:rPr sz="1000" b="0">
                          <a:solidFill>
                            <a:srgbClr val="1F2937"/>
                          </a:solidFill>
                          <a:latin typeface="Calibri"/>
                        </a:rPr>
                        <a:t>Inter-
Dependence</a:t>
                      </a:r>
                    </a:p>
                  </a:txBody>
                  <a:tcPr anchor="ctr">
                    <a:solidFill>
                      <a:srgbClr val="FFFFFF"/>
                    </a:solidFill>
                  </a:tcPr>
                </a:tc>
              </a:tr>
              <a:tr h="502920">
                <a:tc>
                  <a:txBody>
                    <a:bodyPr/>
                    <a:lstStyle/>
                    <a:p>
                      <a:pPr algn="ctr"/>
                      <a:r>
                        <a:rPr sz="1600" b="1">
                          <a:solidFill>
                            <a:srgbClr val="144E4C"/>
                          </a:solidFill>
                          <a:latin typeface="Calibri"/>
                        </a:rPr>
                        <a:t>✓</a:t>
                      </a:r>
                    </a:p>
                  </a:txBody>
                  <a:tcPr anchor="ctr">
                    <a:solidFill>
                      <a:srgbClr val="EFEAD9"/>
                    </a:solidFill>
                  </a:tcPr>
                </a:tc>
                <a:tc>
                  <a:txBody>
                    <a:bodyPr/>
                    <a:lstStyle/>
                    <a:p>
                      <a:pPr algn="ctr"/>
                      <a:r>
                        <a:rPr sz="1600" b="1">
                          <a:solidFill>
                            <a:srgbClr val="144E4C"/>
                          </a:solidFill>
                          <a:latin typeface="Calibri"/>
                        </a:rPr>
                        <a:t>✓</a:t>
                      </a:r>
                    </a:p>
                  </a:txBody>
                  <a:tcPr anchor="ctr">
                    <a:solidFill>
                      <a:srgbClr val="EFEAD9"/>
                    </a:solidFill>
                  </a:tcPr>
                </a:tc>
                <a:tc>
                  <a:txBody>
                    <a:bodyPr/>
                    <a:lstStyle/>
                    <a:p>
                      <a:pPr algn="ctr"/>
                      <a:r>
                        <a:rPr sz="1600" b="1">
                          <a:solidFill>
                            <a:srgbClr val="144E4C"/>
                          </a:solidFill>
                          <a:latin typeface="Calibri"/>
                        </a:rPr>
                        <a:t>✓</a:t>
                      </a:r>
                    </a:p>
                  </a:txBody>
                  <a:tcPr anchor="ctr">
                    <a:solidFill>
                      <a:srgbClr val="EFEAD9"/>
                    </a:solidFill>
                  </a:tcPr>
                </a:tc>
                <a:tc>
                  <a:txBody>
                    <a:bodyPr/>
                    <a:lstStyle/>
                    <a:p>
                      <a:pPr algn="ctr"/>
                      <a:r>
                        <a:rPr sz="1600" b="1">
                          <a:solidFill>
                            <a:srgbClr val="144E4C"/>
                          </a:solidFill>
                          <a:latin typeface="Calibri"/>
                        </a:rPr>
                        <a:t>✗</a:t>
                      </a:r>
                    </a:p>
                  </a:txBody>
                  <a:tcPr anchor="ctr">
                    <a:solidFill>
                      <a:srgbClr val="EFEAD9"/>
                    </a:solidFill>
                  </a:tcPr>
                </a:tc>
                <a:tc>
                  <a:txBody>
                    <a:bodyPr/>
                    <a:lstStyle/>
                    <a:p>
                      <a:pPr algn="ctr"/>
                      <a:r>
                        <a:rPr sz="1600" b="1">
                          <a:solidFill>
                            <a:srgbClr val="144E4C"/>
                          </a:solidFill>
                          <a:latin typeface="Calibri"/>
                        </a:rPr>
                        <a:t>✗</a:t>
                      </a:r>
                    </a:p>
                  </a:txBody>
                  <a:tcPr anchor="ctr">
                    <a:solidFill>
                      <a:srgbClr val="EFEAD9"/>
                    </a:solidFill>
                  </a:tcPr>
                </a:tc>
                <a:tc>
                  <a:txBody>
                    <a:bodyPr/>
                    <a:lstStyle/>
                    <a:p>
                      <a:pPr algn="ctr"/>
                      <a:r>
                        <a:rPr sz="1600" b="1">
                          <a:solidFill>
                            <a:srgbClr val="144E4C"/>
                          </a:solidFill>
                          <a:latin typeface="Calibri"/>
                        </a:rPr>
                        <a:t>✓</a:t>
                      </a:r>
                    </a:p>
                  </a:txBody>
                  <a:tcPr anchor="ctr">
                    <a:solidFill>
                      <a:srgbClr val="EFEAD9"/>
                    </a:solidFill>
                  </a:tcPr>
                </a:tc>
                <a:tc>
                  <a:txBody>
                    <a:bodyPr/>
                    <a:lstStyle/>
                    <a:p>
                      <a:pPr algn="ctr"/>
                      <a:r>
                        <a:rPr sz="1600" b="1">
                          <a:solidFill>
                            <a:srgbClr val="144E4C"/>
                          </a:solidFill>
                          <a:latin typeface="Calibri"/>
                        </a:rPr>
                        <a:t>✓</a:t>
                      </a:r>
                    </a:p>
                  </a:txBody>
                  <a:tcPr anchor="ctr">
                    <a:solidFill>
                      <a:srgbClr val="EFEAD9"/>
                    </a:solidFill>
                  </a:tcPr>
                </a:tc>
              </a:tr>
            </a:tbl>
          </a:graphicData>
        </a:graphic>
      </p:graphicFrame>
      <p:graphicFrame>
        <p:nvGraphicFramePr>
          <p:cNvPr id="5" name="Table 4"/>
          <p:cNvGraphicFramePr>
            <a:graphicFrameLocks noGrp="1"/>
          </p:cNvGraphicFramePr>
          <p:nvPr/>
        </p:nvGraphicFramePr>
        <p:xfrm>
          <a:off x="1463040" y="3063240"/>
          <a:ext cx="9235440" cy="1051560"/>
        </p:xfrm>
        <a:graphic>
          <a:graphicData uri="http://schemas.openxmlformats.org/drawingml/2006/table">
            <a:tbl>
              <a:tblPr firstRow="1" bandRow="1">
                <a:tableStyleId>{5C22544A-7EE6-4342-B048-85BDC9FD1C3A}</a:tableStyleId>
              </a:tblPr>
              <a:tblGrid>
                <a:gridCol w="1847088"/>
                <a:gridCol w="1847088"/>
                <a:gridCol w="1847088"/>
                <a:gridCol w="1847088"/>
                <a:gridCol w="1847088"/>
              </a:tblGrid>
              <a:tr h="525780">
                <a:tc>
                  <a:txBody>
                    <a:bodyPr/>
                    <a:lstStyle/>
                    <a:p>
                      <a:pPr algn="ctr"/>
                      <a:r>
                        <a:rPr sz="1000" b="1">
                          <a:solidFill>
                            <a:srgbClr val="FFFFFF"/>
                          </a:solidFill>
                          <a:latin typeface="Calibri"/>
                        </a:rPr>
                        <a:t>A1: Range Of Resources</a:t>
                      </a:r>
                    </a:p>
                  </a:txBody>
                  <a:tcPr anchor="ctr">
                    <a:solidFill>
                      <a:srgbClr val="144E4C"/>
                    </a:solidFill>
                  </a:tcPr>
                </a:tc>
                <a:tc>
                  <a:txBody>
                    <a:bodyPr/>
                    <a:lstStyle/>
                    <a:p>
                      <a:pPr algn="ctr"/>
                      <a:r>
                        <a:rPr sz="1000" b="1">
                          <a:solidFill>
                            <a:srgbClr val="FFFFFF"/>
                          </a:solidFill>
                          <a:latin typeface="Calibri"/>
                        </a:rPr>
                        <a:t>A2: Level Of Interaction</a:t>
                      </a:r>
                    </a:p>
                  </a:txBody>
                  <a:tcPr anchor="ctr">
                    <a:solidFill>
                      <a:srgbClr val="144E4C"/>
                    </a:solidFill>
                  </a:tcPr>
                </a:tc>
                <a:tc>
                  <a:txBody>
                    <a:bodyPr/>
                    <a:lstStyle/>
                    <a:p>
                      <a:pPr algn="ctr"/>
                      <a:r>
                        <a:rPr sz="1000" b="1">
                          <a:solidFill>
                            <a:srgbClr val="FFFFFF"/>
                          </a:solidFill>
                          <a:latin typeface="Calibri"/>
                        </a:rPr>
                        <a:t>A3: Innovation</a:t>
                      </a:r>
                    </a:p>
                  </a:txBody>
                  <a:tcPr anchor="ctr">
                    <a:solidFill>
                      <a:srgbClr val="144E4C"/>
                    </a:solidFill>
                  </a:tcPr>
                </a:tc>
                <a:tc>
                  <a:txBody>
                    <a:bodyPr/>
                    <a:lstStyle/>
                    <a:p>
                      <a:pPr algn="ctr"/>
                      <a:r>
                        <a:rPr sz="1000" b="1">
                          <a:solidFill>
                            <a:srgbClr val="FFFFFF"/>
                          </a:solidFill>
                          <a:latin typeface="Calibri"/>
                        </a:rPr>
                        <a:t>A4: Consequences For Society And Environment</a:t>
                      </a:r>
                    </a:p>
                  </a:txBody>
                  <a:tcPr anchor="ctr">
                    <a:solidFill>
                      <a:srgbClr val="144E4C"/>
                    </a:solidFill>
                  </a:tcPr>
                </a:tc>
                <a:tc>
                  <a:txBody>
                    <a:bodyPr/>
                    <a:lstStyle/>
                    <a:p>
                      <a:pPr algn="ctr"/>
                      <a:r>
                        <a:rPr sz="1000" b="1">
                          <a:solidFill>
                            <a:srgbClr val="FFFFFF"/>
                          </a:solidFill>
                          <a:latin typeface="Calibri"/>
                        </a:rPr>
                        <a:t>A5: Familiarity</a:t>
                      </a:r>
                    </a:p>
                  </a:txBody>
                  <a:tcPr anchor="ctr">
                    <a:solidFill>
                      <a:srgbClr val="144E4C"/>
                    </a:solidFill>
                  </a:tcPr>
                </a:tc>
              </a:tr>
              <a:tr h="525780">
                <a:tc>
                  <a:txBody>
                    <a:bodyPr/>
                    <a:lstStyle/>
                    <a:p>
                      <a:pPr algn="ctr"/>
                      <a:r>
                        <a:rPr sz="1600" b="1">
                          <a:solidFill>
                            <a:srgbClr val="144E4C"/>
                          </a:solidFill>
                          <a:latin typeface="Calibri"/>
                        </a:rPr>
                        <a:t>✓</a:t>
                      </a:r>
                    </a:p>
                  </a:txBody>
                  <a:tcPr anchor="ctr">
                    <a:solidFill>
                      <a:srgbClr val="EFEAD9"/>
                    </a:solidFill>
                  </a:tcPr>
                </a:tc>
                <a:tc>
                  <a:txBody>
                    <a:bodyPr/>
                    <a:lstStyle/>
                    <a:p>
                      <a:pPr algn="ctr"/>
                      <a:r>
                        <a:rPr sz="1600" b="1">
                          <a:solidFill>
                            <a:srgbClr val="144E4C"/>
                          </a:solidFill>
                          <a:latin typeface="Calibri"/>
                        </a:rPr>
                        <a:t>✓</a:t>
                      </a:r>
                    </a:p>
                  </a:txBody>
                  <a:tcPr anchor="ctr">
                    <a:solidFill>
                      <a:srgbClr val="EFEAD9"/>
                    </a:solidFill>
                  </a:tcPr>
                </a:tc>
                <a:tc>
                  <a:txBody>
                    <a:bodyPr/>
                    <a:lstStyle/>
                    <a:p>
                      <a:pPr algn="ctr"/>
                      <a:r>
                        <a:rPr sz="1600" b="1">
                          <a:solidFill>
                            <a:srgbClr val="144E4C"/>
                          </a:solidFill>
                          <a:latin typeface="Calibri"/>
                        </a:rPr>
                        <a:t>✓</a:t>
                      </a:r>
                    </a:p>
                  </a:txBody>
                  <a:tcPr anchor="ctr">
                    <a:solidFill>
                      <a:srgbClr val="EFEAD9"/>
                    </a:solidFill>
                  </a:tcPr>
                </a:tc>
                <a:tc>
                  <a:txBody>
                    <a:bodyPr/>
                    <a:lstStyle/>
                    <a:p>
                      <a:pPr algn="ctr"/>
                      <a:r>
                        <a:rPr sz="1600" b="1">
                          <a:solidFill>
                            <a:srgbClr val="144E4C"/>
                          </a:solidFill>
                          <a:latin typeface="Calibri"/>
                        </a:rPr>
                        <a:t>✓</a:t>
                      </a:r>
                    </a:p>
                  </a:txBody>
                  <a:tcPr anchor="ctr">
                    <a:solidFill>
                      <a:srgbClr val="EFEAD9"/>
                    </a:solidFill>
                  </a:tcPr>
                </a:tc>
                <a:tc>
                  <a:txBody>
                    <a:bodyPr/>
                    <a:lstStyle/>
                    <a:p>
                      <a:pPr algn="ctr"/>
                      <a:r>
                        <a:rPr sz="1600" b="1">
                          <a:solidFill>
                            <a:srgbClr val="144E4C"/>
                          </a:solidFill>
                          <a:latin typeface="Calibri"/>
                        </a:rPr>
                        <a:t>✓</a:t>
                      </a:r>
                    </a:p>
                  </a:txBody>
                  <a:tcPr anchor="ctr">
                    <a:solidFill>
                      <a:srgbClr val="EFEAD9"/>
                    </a:solidFill>
                  </a:tcPr>
                </a:tc>
              </a:tr>
            </a:tbl>
          </a:graphicData>
        </a:graphic>
      </p:graphicFrame>
      <p:sp>
        <p:nvSpPr>
          <p:cNvPr id="6" name="TextBox 5"/>
          <p:cNvSpPr txBox="1"/>
          <p:nvPr/>
        </p:nvSpPr>
        <p:spPr>
          <a:xfrm>
            <a:off x="548640" y="4434840"/>
            <a:ext cx="11064240" cy="1554480"/>
          </a:xfrm>
          <a:prstGeom prst="rect">
            <a:avLst/>
          </a:prstGeom>
          <a:noFill/>
        </p:spPr>
        <p:txBody>
          <a:bodyPr wrap="none">
            <a:spAutoFit/>
          </a:bodyPr>
          <a:lstStyle/>
          <a:p>
            <a:pPr algn="ctr">
              <a:defRPr sz="1200">
                <a:solidFill>
                  <a:srgbClr val="1F2937"/>
                </a:solidFill>
                <a:latin typeface="Calibri"/>
              </a:defRPr>
            </a:pPr>
            <a:r>
              <a:rPr sz="1200">
                <a:solidFill>
                  <a:srgbClr val="1F2937"/>
                </a:solidFill>
                <a:latin typeface="Calibri"/>
              </a:rPr>
              <a:t>P1–P3: CV, DL, Anomaly, RF And Edge Knowledge; Audit, Split, mAP/MAE Analysis. P6–P7: Inspectors And Planners Served; Errors Propagate Preprocess → Ds → Hours.</a:t>
            </a:r>
          </a:p>
          <a:p>
            <a:pPr algn="ctr">
              <a:defRPr sz="1200">
                <a:solidFill>
                  <a:srgbClr val="1F2937"/>
                </a:solidFill>
                <a:latin typeface="Calibri"/>
              </a:defRPr>
            </a:pPr>
            <a:r>
              <a:rPr sz="1200">
                <a:solidFill>
                  <a:srgbClr val="1F2937"/>
                </a:solidFill>
                <a:latin typeface="Calibri"/>
              </a:rPr>
              <a:t>A1–A5: Full-Stack Resources; Tight Module Interaction; Ds-Fusion Innovation. (Report §5.4)</a:t>
            </a:r>
          </a:p>
        </p:txBody>
      </p:sp>
      <p:sp>
        <p:nvSpPr>
          <p:cNvPr id="7" name="TextBox 6"/>
          <p:cNvSpPr txBox="1"/>
          <p:nvPr/>
        </p:nvSpPr>
        <p:spPr>
          <a:xfrm>
            <a:off x="548640" y="6419088"/>
            <a:ext cx="9144000" cy="274320"/>
          </a:xfrm>
          <a:prstGeom prst="rect">
            <a:avLst/>
          </a:prstGeom>
          <a:noFill/>
        </p:spPr>
        <p:txBody>
          <a:bodyPr wrap="none">
            <a:spAutoFit/>
          </a:bodyPr>
          <a:lstStyle/>
          <a:p>
            <a:pPr>
              <a:defRPr>
                <a:solidFill/>
              </a:defRPr>
            </a:pPr>
            <a:r>
              <a:rPr sz="900">
                <a:solidFill>
                  <a:srgbClr val="8A8F98"/>
                </a:solidFill>
                <a:latin typeface="Calibri"/>
              </a:rPr>
              <a:t>Defect-to-Delivery  |  FYDP-I  •  Group: 262-034</a:t>
            </a:r>
          </a:p>
        </p:txBody>
      </p:sp>
      <p:sp>
        <p:nvSpPr>
          <p:cNvPr id="8" name="TextBox 7"/>
          <p:cNvSpPr txBox="1"/>
          <p:nvPr/>
        </p:nvSpPr>
        <p:spPr>
          <a:xfrm>
            <a:off x="10972800" y="6419088"/>
            <a:ext cx="640080" cy="274320"/>
          </a:xfrm>
          <a:prstGeom prst="rect">
            <a:avLst/>
          </a:prstGeom>
          <a:noFill/>
        </p:spPr>
        <p:txBody>
          <a:bodyPr wrap="none">
            <a:spAutoFit/>
          </a:bodyPr>
          <a:lstStyle/>
          <a:p>
            <a:pPr algn="r">
              <a:defRPr>
                <a:solidFill/>
              </a:defRPr>
            </a:pPr>
            <a:r>
              <a:rPr sz="900">
                <a:solidFill>
                  <a:srgbClr val="8A8F98"/>
                </a:solidFill>
                <a:latin typeface="Calibri"/>
              </a:rPr>
              <a:t>29 / 35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AF7EF"/>
        </a:solidFill>
        <a:effectLst/>
      </p:bgPr>
    </p:bg>
    <p:spTree>
      <p:nvGrpSpPr>
        <p:cNvPr id="1" name=""/>
        <p:cNvGrpSpPr/>
        <p:nvPr/>
      </p:nvGrpSpPr>
      <p:grpSpPr/>
      <p:sp>
        <p:nvSpPr>
          <p:cNvPr id="2" name="TextBox 1"/>
          <p:cNvSpPr txBox="1"/>
          <p:nvPr/>
        </p:nvSpPr>
        <p:spPr>
          <a:xfrm>
            <a:off x="548640" y="6419088"/>
            <a:ext cx="9144000" cy="274320"/>
          </a:xfrm>
          <a:prstGeom prst="rect">
            <a:avLst/>
          </a:prstGeom>
          <a:noFill/>
        </p:spPr>
        <p:txBody>
          <a:bodyPr wrap="square">
            <a:spAutoFit/>
          </a:bodyPr>
          <a:lstStyle/>
          <a:p>
            <a:pPr algn="l"/>
            <a:r>
              <a:rPr sz="900" b="0" i="0">
                <a:solidFill>
                  <a:srgbClr val="8A8F98"/>
                </a:solidFill>
                <a:latin typeface="Calibri"/>
              </a:rPr>
              <a:t>Defect-to-Delivery  |  FYDP-I  •  Group: 262-034</a:t>
            </a:r>
          </a:p>
        </p:txBody>
      </p:sp>
      <p:sp>
        <p:nvSpPr>
          <p:cNvPr id="3" name="TextBox 2"/>
          <p:cNvSpPr txBox="1"/>
          <p:nvPr/>
        </p:nvSpPr>
        <p:spPr>
          <a:xfrm>
            <a:off x="10972800" y="6419088"/>
            <a:ext cx="640080" cy="274320"/>
          </a:xfrm>
          <a:prstGeom prst="rect">
            <a:avLst/>
          </a:prstGeom>
          <a:noFill/>
        </p:spPr>
        <p:txBody>
          <a:bodyPr wrap="none">
            <a:spAutoFit/>
          </a:bodyPr>
          <a:lstStyle/>
          <a:p>
            <a:pPr algn="r"/>
            <a:r>
              <a:rPr sz="900">
                <a:solidFill>
                  <a:srgbClr val="8A8F98"/>
                </a:solidFill>
                <a:latin typeface="Calibri"/>
              </a:rPr>
              <a:t>30 / 35</a:t>
            </a:r>
          </a:p>
        </p:txBody>
      </p:sp>
      <p:sp>
        <p:nvSpPr>
          <p:cNvPr id="4" name="Rectangle 3"/>
          <p:cNvSpPr/>
          <p:nvPr/>
        </p:nvSpPr>
        <p:spPr>
          <a:xfrm>
            <a:off x="0" y="0"/>
            <a:ext cx="12188952" cy="64008"/>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20040"/>
            <a:ext cx="11064240" cy="822960"/>
          </a:xfrm>
          <a:prstGeom prst="rect">
            <a:avLst/>
          </a:prstGeom>
          <a:noFill/>
        </p:spPr>
        <p:txBody>
          <a:bodyPr wrap="square">
            <a:spAutoFit/>
          </a:bodyPr>
          <a:lstStyle/>
          <a:p>
            <a:pPr algn="l"/>
            <a:r>
              <a:rPr sz="3400" b="1" i="0">
                <a:solidFill>
                  <a:srgbClr val="144E4C"/>
                </a:solidFill>
                <a:latin typeface="Georgia"/>
              </a:rPr>
              <a:t>Risks &amp; Mitigations</a:t>
            </a:r>
          </a:p>
        </p:txBody>
      </p:sp>
      <p:sp>
        <p:nvSpPr>
          <p:cNvPr id="6" name="Rectangle 5"/>
          <p:cNvSpPr/>
          <p:nvPr/>
        </p:nvSpPr>
        <p:spPr>
          <a:xfrm>
            <a:off x="566928" y="1078992"/>
            <a:ext cx="1005840" cy="50292"/>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1463040"/>
            <a:ext cx="5394960" cy="3291840"/>
          </a:xfrm>
          <a:prstGeom prst="roundRect">
            <a:avLst>
              <a:gd name="adj" fmla="val 6000"/>
            </a:avLst>
          </a:prstGeom>
          <a:solidFill>
            <a:srgbClr val="FFFFFF"/>
          </a:solidFill>
          <a:ln w="15875">
            <a:solidFill>
              <a:srgbClr val="D8D2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 y="1463040"/>
            <a:ext cx="5394960" cy="82296"/>
          </a:xfrm>
          <a:prstGeom prst="round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04672" y="1755648"/>
            <a:ext cx="475488" cy="475488"/>
          </a:xfrm>
          <a:prstGeom prst="ellipse">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44E4C"/>
                </a:solidFill>
                <a:latin typeface="Calibri"/>
              </a:rPr>
              <a:t>⚠</a:t>
            </a:r>
          </a:p>
        </p:txBody>
      </p:sp>
      <p:sp>
        <p:nvSpPr>
          <p:cNvPr id="10" name="TextBox 9"/>
          <p:cNvSpPr txBox="1"/>
          <p:nvPr/>
        </p:nvSpPr>
        <p:spPr>
          <a:xfrm>
            <a:off x="1417319" y="1719072"/>
            <a:ext cx="4343400" cy="2880360"/>
          </a:xfrm>
          <a:prstGeom prst="rect">
            <a:avLst/>
          </a:prstGeom>
          <a:noFill/>
        </p:spPr>
        <p:txBody>
          <a:bodyPr wrap="square">
            <a:normAutofit/>
          </a:bodyPr>
          <a:lstStyle/>
          <a:p>
            <a:pPr algn="l">
              <a:spcAft>
                <a:spcPts val="600"/>
              </a:spcAft>
            </a:pPr>
            <a:r>
              <a:rPr sz="1200" b="1" i="0">
                <a:solidFill>
                  <a:srgbClr val="144E4C"/>
                </a:solidFill>
                <a:latin typeface="Calibri"/>
              </a:rPr>
              <a:t>Key Risks</a:t>
            </a:r>
          </a:p>
          <a:p>
            <a:pPr algn="l">
              <a:spcBef>
                <a:spcPts val="0"/>
              </a:spcBef>
              <a:spcAft>
                <a:spcPts val="300"/>
              </a:spcAft>
            </a:pPr>
            <a:r>
              <a:rPr sz="1100" b="0" i="0">
                <a:solidFill>
                  <a:srgbClr val="5B6570"/>
                </a:solidFill>
                <a:latin typeface="Calibri"/>
              </a:rPr>
              <a:t>Free T4 GPU quota: already exhausted once; fallback to Kaggle (30h/week) or local M1 overnight run.</a:t>
            </a:r>
          </a:p>
          <a:p>
            <a:pPr algn="l">
              <a:spcBef>
                <a:spcPts val="0"/>
              </a:spcBef>
              <a:spcAft>
                <a:spcPts val="300"/>
              </a:spcAft>
            </a:pPr>
            <a:r>
              <a:rPr sz="1100" b="0" i="0">
                <a:solidFill>
                  <a:srgbClr val="5B6570"/>
                </a:solidFill>
                <a:latin typeface="Calibri"/>
              </a:rPr>
              <a:t>Factory data access: if unavailable, fallback to calibrated queuing simulation with documented parameters; paired Ds‑vs‑defect analysis is the contribution.</a:t>
            </a:r>
          </a:p>
          <a:p>
            <a:pPr algn="l">
              <a:spcBef>
                <a:spcPts val="0"/>
              </a:spcBef>
              <a:spcAft>
                <a:spcPts val="300"/>
              </a:spcAft>
            </a:pPr>
            <a:r>
              <a:rPr sz="1100" b="0" i="0">
                <a:solidFill>
                  <a:srgbClr val="5B6570"/>
                </a:solidFill>
                <a:latin typeface="Calibri"/>
              </a:rPr>
              <a:t>Quarantine ambiguity: 152‑file lines batch may hide a second quarantine; visual review still open.</a:t>
            </a:r>
          </a:p>
        </p:txBody>
      </p:sp>
      <p:sp>
        <p:nvSpPr>
          <p:cNvPr id="11" name="Rounded Rectangle 10"/>
          <p:cNvSpPr/>
          <p:nvPr/>
        </p:nvSpPr>
        <p:spPr>
          <a:xfrm>
            <a:off x="6245352" y="1463040"/>
            <a:ext cx="5394960" cy="3291840"/>
          </a:xfrm>
          <a:prstGeom prst="roundRect">
            <a:avLst>
              <a:gd name="adj" fmla="val 6000"/>
            </a:avLst>
          </a:prstGeom>
          <a:solidFill>
            <a:srgbClr val="FFFFFF"/>
          </a:solidFill>
          <a:ln w="15875">
            <a:solidFill>
              <a:srgbClr val="D8D2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45352" y="1463040"/>
            <a:ext cx="5394960" cy="82296"/>
          </a:xfrm>
          <a:prstGeom prst="round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501384" y="1755648"/>
            <a:ext cx="475488" cy="475488"/>
          </a:xfrm>
          <a:prstGeom prst="ellipse">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44E4C"/>
                </a:solidFill>
                <a:latin typeface="Calibri"/>
              </a:rPr>
              <a:t>✓</a:t>
            </a:r>
          </a:p>
        </p:txBody>
      </p:sp>
      <p:sp>
        <p:nvSpPr>
          <p:cNvPr id="14" name="TextBox 13"/>
          <p:cNvSpPr txBox="1"/>
          <p:nvPr/>
        </p:nvSpPr>
        <p:spPr>
          <a:xfrm>
            <a:off x="7114032" y="1719072"/>
            <a:ext cx="4343400" cy="2880360"/>
          </a:xfrm>
          <a:prstGeom prst="rect">
            <a:avLst/>
          </a:prstGeom>
          <a:noFill/>
        </p:spPr>
        <p:txBody>
          <a:bodyPr wrap="square">
            <a:normAutofit/>
          </a:bodyPr>
          <a:lstStyle/>
          <a:p>
            <a:pPr algn="l">
              <a:spcAft>
                <a:spcPts val="600"/>
              </a:spcAft>
            </a:pPr>
            <a:r>
              <a:rPr sz="1200" b="1" i="0">
                <a:solidFill>
                  <a:srgbClr val="144E4C"/>
                </a:solidFill>
                <a:latin typeface="Calibri"/>
              </a:rPr>
              <a:t>Mitigations</a:t>
            </a:r>
          </a:p>
          <a:p>
            <a:pPr algn="l">
              <a:spcBef>
                <a:spcPts val="0"/>
              </a:spcBef>
              <a:spcAft>
                <a:spcPts val="300"/>
              </a:spcAft>
            </a:pPr>
            <a:r>
              <a:rPr sz="1100" b="0" i="0">
                <a:solidFill>
                  <a:srgbClr val="5B6570"/>
                </a:solidFill>
                <a:latin typeface="Calibri"/>
              </a:rPr>
              <a:t>Checkpoint sync every 10 min during training so quota loss costs minutes, not hours.</a:t>
            </a:r>
          </a:p>
          <a:p>
            <a:pPr algn="l">
              <a:spcBef>
                <a:spcPts val="0"/>
              </a:spcBef>
              <a:spcAft>
                <a:spcPts val="300"/>
              </a:spcAft>
            </a:pPr>
            <a:r>
              <a:rPr sz="1100" b="0" i="0">
                <a:solidFill>
                  <a:srgbClr val="5B6570"/>
                </a:solidFill>
                <a:latin typeface="Calibri"/>
              </a:rPr>
              <a:t>Paired dataset (defect counts + our Ds) is itself a contribution if factory declines.</a:t>
            </a:r>
          </a:p>
          <a:p>
            <a:pPr algn="l">
              <a:spcBef>
                <a:spcPts val="0"/>
              </a:spcBef>
              <a:spcAft>
                <a:spcPts val="300"/>
              </a:spcAft>
            </a:pPr>
            <a:r>
              <a:rPr sz="1100" b="0" i="0">
                <a:solidFill>
                  <a:srgbClr val="5B6570"/>
                </a:solidFill>
                <a:latin typeface="Calibri"/>
              </a:rPr>
              <a:t>Visual review of lines batch in progress; interim: report as ‘suspicious’ in datasheet.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AF7EF"/>
        </a:solidFill>
        <a:effectLst/>
      </p:bgPr>
    </p:bg>
    <p:spTree>
      <p:nvGrpSpPr>
        <p:cNvPr id="1" name=""/>
        <p:cNvGrpSpPr/>
        <p:nvPr/>
      </p:nvGrpSpPr>
      <p:grpSpPr/>
      <p:sp>
        <p:nvSpPr>
          <p:cNvPr id="2" name="TextBox 1"/>
          <p:cNvSpPr txBox="1"/>
          <p:nvPr/>
        </p:nvSpPr>
        <p:spPr>
          <a:xfrm>
            <a:off x="548640" y="6419088"/>
            <a:ext cx="9144000" cy="274320"/>
          </a:xfrm>
          <a:prstGeom prst="rect">
            <a:avLst/>
          </a:prstGeom>
          <a:noFill/>
        </p:spPr>
        <p:txBody>
          <a:bodyPr wrap="square">
            <a:spAutoFit/>
          </a:bodyPr>
          <a:lstStyle/>
          <a:p>
            <a:pPr algn="l"/>
            <a:r>
              <a:rPr sz="900" b="0" i="0">
                <a:solidFill>
                  <a:srgbClr val="8A8F98"/>
                </a:solidFill>
                <a:latin typeface="Calibri"/>
              </a:rPr>
              <a:t>Defect-to-Delivery  |  FYDP-I  •  Group: 262-034</a:t>
            </a:r>
          </a:p>
        </p:txBody>
      </p:sp>
      <p:sp>
        <p:nvSpPr>
          <p:cNvPr id="3" name="TextBox 2"/>
          <p:cNvSpPr txBox="1"/>
          <p:nvPr/>
        </p:nvSpPr>
        <p:spPr>
          <a:xfrm>
            <a:off x="10972800" y="6419088"/>
            <a:ext cx="640080" cy="274320"/>
          </a:xfrm>
          <a:prstGeom prst="rect">
            <a:avLst/>
          </a:prstGeom>
          <a:noFill/>
        </p:spPr>
        <p:txBody>
          <a:bodyPr wrap="none">
            <a:spAutoFit/>
          </a:bodyPr>
          <a:lstStyle/>
          <a:p>
            <a:pPr algn="r"/>
            <a:r>
              <a:rPr sz="900">
                <a:solidFill>
                  <a:srgbClr val="8A8F98"/>
                </a:solidFill>
                <a:latin typeface="Calibri"/>
              </a:rPr>
              <a:t>31 / 35</a:t>
            </a:r>
          </a:p>
        </p:txBody>
      </p:sp>
      <p:sp>
        <p:nvSpPr>
          <p:cNvPr id="4" name="Rectangle 3"/>
          <p:cNvSpPr/>
          <p:nvPr/>
        </p:nvSpPr>
        <p:spPr>
          <a:xfrm>
            <a:off x="0" y="0"/>
            <a:ext cx="12188952" cy="64008"/>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20040"/>
            <a:ext cx="11064240" cy="822960"/>
          </a:xfrm>
          <a:prstGeom prst="rect">
            <a:avLst/>
          </a:prstGeom>
          <a:noFill/>
        </p:spPr>
        <p:txBody>
          <a:bodyPr wrap="square">
            <a:spAutoFit/>
          </a:bodyPr>
          <a:lstStyle/>
          <a:p>
            <a:pPr algn="l"/>
            <a:r>
              <a:rPr sz="3400" b="1" i="0">
                <a:solidFill>
                  <a:srgbClr val="144E4C"/>
                </a:solidFill>
                <a:latin typeface="Georgia"/>
              </a:rPr>
              <a:t>Task Allocation</a:t>
            </a:r>
          </a:p>
        </p:txBody>
      </p:sp>
      <p:sp>
        <p:nvSpPr>
          <p:cNvPr id="6" name="Rectangle 5"/>
          <p:cNvSpPr/>
          <p:nvPr/>
        </p:nvSpPr>
        <p:spPr>
          <a:xfrm>
            <a:off x="566928" y="1078992"/>
            <a:ext cx="1005840" cy="50292"/>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463040"/>
          <a:ext cx="11064240" cy="4608576"/>
        </p:xfrm>
        <a:graphic>
          <a:graphicData uri="http://schemas.openxmlformats.org/drawingml/2006/table">
            <a:tbl>
              <a:tblPr firstRow="1" bandRow="1">
                <a:tableStyleId>{5C22544A-7EE6-4342-B048-85BDC9FD1C3A}</a:tableStyleId>
              </a:tblPr>
              <a:tblGrid>
                <a:gridCol w="3291840"/>
                <a:gridCol w="7772400"/>
              </a:tblGrid>
              <a:tr h="658368">
                <a:tc>
                  <a:txBody>
                    <a:bodyPr/>
                    <a:lstStyle/>
                    <a:p>
                      <a:pPr algn="ctr"/>
                      <a:r>
                        <a:rPr sz="1350" b="1" i="0">
                          <a:solidFill>
                            <a:srgbClr val="FFFFFF"/>
                          </a:solidFill>
                          <a:latin typeface="Calibri"/>
                        </a:rPr>
                        <a:t>Member</a:t>
                      </a:r>
                    </a:p>
                  </a:txBody>
                  <a:tcPr anchor="ctr" marL="73152" marR="73152">
                    <a:solidFill>
                      <a:srgbClr val="144E4C"/>
                    </a:solidFill>
                  </a:tcPr>
                </a:tc>
                <a:tc>
                  <a:txBody>
                    <a:bodyPr/>
                    <a:lstStyle/>
                    <a:p>
                      <a:pPr algn="ctr"/>
                      <a:r>
                        <a:rPr sz="1350" b="1" i="0">
                          <a:solidFill>
                            <a:srgbClr val="FFFFFF"/>
                          </a:solidFill>
                          <a:latin typeface="Calibri"/>
                        </a:rPr>
                        <a:t>Primary Responsibility</a:t>
                      </a:r>
                    </a:p>
                  </a:txBody>
                  <a:tcPr anchor="ctr" marL="73152" marR="73152">
                    <a:solidFill>
                      <a:srgbClr val="144E4C"/>
                    </a:solidFill>
                  </a:tcPr>
                </a:tc>
              </a:tr>
              <a:tr h="658368">
                <a:tc>
                  <a:txBody>
                    <a:bodyPr/>
                    <a:lstStyle/>
                    <a:p>
                      <a:pPr algn="ctr"/>
                      <a:r>
                        <a:rPr sz="1250" b="0" i="0">
                          <a:solidFill>
                            <a:srgbClr val="1F2937"/>
                          </a:solidFill>
                          <a:latin typeface="Calibri"/>
                        </a:rPr>
                        <a:t>Abdullah Al Fahim Zahin</a:t>
                      </a:r>
                    </a:p>
                  </a:txBody>
                  <a:tcPr anchor="ctr" marL="73152" marR="73152">
                    <a:solidFill>
                      <a:srgbClr val="FFFFFF"/>
                    </a:solidFill>
                  </a:tcPr>
                </a:tc>
                <a:tc>
                  <a:txBody>
                    <a:bodyPr/>
                    <a:lstStyle/>
                    <a:p>
                      <a:pPr algn="ctr"/>
                      <a:r>
                        <a:rPr sz="1250" b="0" i="0">
                          <a:solidFill>
                            <a:srgbClr val="1F2937"/>
                          </a:solidFill>
                          <a:latin typeface="Calibri"/>
                        </a:rPr>
                        <a:t>Baseline Reproduction, YOLO Model Training And Evaluation, Lead-Time Prediction</a:t>
                      </a:r>
                    </a:p>
                  </a:txBody>
                  <a:tcPr anchor="ctr" marL="73152" marR="73152">
                    <a:solidFill>
                      <a:srgbClr val="FFFFFF"/>
                    </a:solidFill>
                  </a:tcPr>
                </a:tc>
              </a:tr>
              <a:tr h="658368">
                <a:tc>
                  <a:txBody>
                    <a:bodyPr/>
                    <a:lstStyle/>
                    <a:p>
                      <a:pPr algn="ctr"/>
                      <a:r>
                        <a:rPr sz="1250" b="0" i="0">
                          <a:solidFill>
                            <a:srgbClr val="1F2937"/>
                          </a:solidFill>
                          <a:latin typeface="Calibri"/>
                        </a:rPr>
                        <a:t>Nafiz Imtiaz Labib</a:t>
                      </a:r>
                    </a:p>
                  </a:txBody>
                  <a:tcPr anchor="ctr" marL="73152" marR="73152">
                    <a:solidFill>
                      <a:srgbClr val="EFEAD9"/>
                    </a:solidFill>
                  </a:tcPr>
                </a:tc>
                <a:tc>
                  <a:txBody>
                    <a:bodyPr/>
                    <a:lstStyle/>
                    <a:p>
                      <a:pPr algn="ctr"/>
                      <a:r>
                        <a:rPr sz="1250" b="0" i="0">
                          <a:solidFill>
                            <a:srgbClr val="1F2937"/>
                          </a:solidFill>
                          <a:latin typeface="Calibri"/>
                        </a:rPr>
                        <a:t>Dataset Collection And Auditing, Dataset Split And Preparation, Edge Deployment And Validation</a:t>
                      </a:r>
                    </a:p>
                  </a:txBody>
                  <a:tcPr anchor="ctr" marL="73152" marR="73152">
                    <a:solidFill>
                      <a:srgbClr val="EFEAD9"/>
                    </a:solidFill>
                  </a:tcPr>
                </a:tc>
              </a:tr>
              <a:tr h="658368">
                <a:tc>
                  <a:txBody>
                    <a:bodyPr/>
                    <a:lstStyle/>
                    <a:p>
                      <a:pPr algn="ctr"/>
                      <a:r>
                        <a:rPr sz="1250" b="0" i="0">
                          <a:solidFill>
                            <a:srgbClr val="1F2937"/>
                          </a:solidFill>
                          <a:latin typeface="Calibri"/>
                        </a:rPr>
                        <a:t>Ms. Riya Akter Satu</a:t>
                      </a:r>
                    </a:p>
                  </a:txBody>
                  <a:tcPr anchor="ctr" marL="73152" marR="73152">
                    <a:solidFill>
                      <a:srgbClr val="FFFFFF"/>
                    </a:solidFill>
                  </a:tcPr>
                </a:tc>
                <a:tc>
                  <a:txBody>
                    <a:bodyPr/>
                    <a:lstStyle/>
                    <a:p>
                      <a:pPr algn="ctr"/>
                      <a:r>
                        <a:rPr sz="1250" b="0" i="0">
                          <a:solidFill>
                            <a:srgbClr val="1F2937"/>
                          </a:solidFill>
                          <a:latin typeface="Calibri"/>
                        </a:rPr>
                        <a:t>Requirement Analysis, Image Preprocessing, Documentation And Report Writing</a:t>
                      </a:r>
                    </a:p>
                  </a:txBody>
                  <a:tcPr anchor="ctr" marL="73152" marR="73152">
                    <a:solidFill>
                      <a:srgbClr val="FFFFFF"/>
                    </a:solidFill>
                  </a:tcPr>
                </a:tc>
              </a:tr>
              <a:tr h="658368">
                <a:tc>
                  <a:txBody>
                    <a:bodyPr/>
                    <a:lstStyle/>
                    <a:p>
                      <a:pPr algn="ctr"/>
                      <a:r>
                        <a:rPr sz="1250" b="0" i="0">
                          <a:solidFill>
                            <a:srgbClr val="1F2937"/>
                          </a:solidFill>
                          <a:latin typeface="Calibri"/>
                        </a:rPr>
                        <a:t>Mohammad Amin</a:t>
                      </a:r>
                    </a:p>
                  </a:txBody>
                  <a:tcPr anchor="ctr" marL="73152" marR="73152">
                    <a:solidFill>
                      <a:srgbClr val="EFEAD9"/>
                    </a:solidFill>
                  </a:tcPr>
                </a:tc>
                <a:tc>
                  <a:txBody>
                    <a:bodyPr/>
                    <a:lstStyle/>
                    <a:p>
                      <a:pPr algn="ctr"/>
                      <a:r>
                        <a:rPr sz="1250" b="0" i="0">
                          <a:solidFill>
                            <a:srgbClr val="1F2937"/>
                          </a:solidFill>
                          <a:latin typeface="Calibri"/>
                        </a:rPr>
                        <a:t>Few-Shot Anomaly Detection Using PatchCore / DINOv2</a:t>
                      </a:r>
                    </a:p>
                  </a:txBody>
                  <a:tcPr anchor="ctr" marL="73152" marR="73152">
                    <a:solidFill>
                      <a:srgbClr val="EFEAD9"/>
                    </a:solidFill>
                  </a:tcPr>
                </a:tc>
              </a:tr>
              <a:tr h="658368">
                <a:tc>
                  <a:txBody>
                    <a:bodyPr/>
                    <a:lstStyle/>
                    <a:p>
                      <a:pPr algn="ctr"/>
                      <a:r>
                        <a:rPr sz="1250" b="0" i="0">
                          <a:solidFill>
                            <a:srgbClr val="1F2937"/>
                          </a:solidFill>
                          <a:latin typeface="Calibri"/>
                        </a:rPr>
                        <a:t>Fahim Ferdous Niloy</a:t>
                      </a:r>
                    </a:p>
                  </a:txBody>
                  <a:tcPr anchor="ctr" marL="73152" marR="73152">
                    <a:solidFill>
                      <a:srgbClr val="FFFFFF"/>
                    </a:solidFill>
                  </a:tcPr>
                </a:tc>
                <a:tc>
                  <a:txBody>
                    <a:bodyPr/>
                    <a:lstStyle/>
                    <a:p>
                      <a:pPr algn="ctr"/>
                      <a:r>
                        <a:rPr sz="1250" b="0" i="0">
                          <a:solidFill>
                            <a:srgbClr val="1F2937"/>
                          </a:solidFill>
                          <a:latin typeface="Calibri"/>
                        </a:rPr>
                        <a:t>Metadata Bridge, Defect Density Score (Ds) Calculation, Rolling Average, Planner Dashboard Development</a:t>
                      </a:r>
                    </a:p>
                  </a:txBody>
                  <a:tcPr anchor="ctr" marL="73152" marR="73152">
                    <a:solidFill>
                      <a:srgbClr val="FFFFFF"/>
                    </a:solidFill>
                  </a:tcPr>
                </a:tc>
              </a:tr>
              <a:tr h="658368">
                <a:tc>
                  <a:txBody>
                    <a:bodyPr/>
                    <a:lstStyle/>
                    <a:p>
                      <a:pPr algn="ctr"/>
                      <a:r>
                        <a:rPr sz="1250" b="0" i="0">
                          <a:solidFill>
                            <a:srgbClr val="1F2937"/>
                          </a:solidFill>
                          <a:latin typeface="Calibri"/>
                        </a:rPr>
                        <a:t>Mustafizur Rahman Murad</a:t>
                      </a:r>
                    </a:p>
                  </a:txBody>
                  <a:tcPr anchor="ctr" marL="73152" marR="73152">
                    <a:solidFill>
                      <a:srgbClr val="EFEAD9"/>
                    </a:solidFill>
                  </a:tcPr>
                </a:tc>
                <a:tc>
                  <a:txBody>
                    <a:bodyPr/>
                    <a:lstStyle/>
                    <a:p>
                      <a:pPr algn="ctr"/>
                      <a:r>
                        <a:rPr sz="1250" b="0" i="0">
                          <a:solidFill>
                            <a:srgbClr val="1F2937"/>
                          </a:solidFill>
                          <a:latin typeface="Calibri"/>
                        </a:rPr>
                        <a:t>Testing And Evaluation</a:t>
                      </a:r>
                    </a:p>
                  </a:txBody>
                  <a:tcPr anchor="ctr" marL="73152" marR="73152">
                    <a:solidFill>
                      <a:srgbClr val="EFEAD9"/>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AF7EF"/>
        </a:solidFill>
        <a:effectLst/>
      </p:bgPr>
    </p:bg>
    <p:spTree>
      <p:nvGrpSpPr>
        <p:cNvPr id="1" name=""/>
        <p:cNvGrpSpPr/>
        <p:nvPr/>
      </p:nvGrpSpPr>
      <p:grpSpPr/>
      <p:sp>
        <p:nvSpPr>
          <p:cNvPr id="2" name="TextBox 1"/>
          <p:cNvSpPr txBox="1"/>
          <p:nvPr/>
        </p:nvSpPr>
        <p:spPr>
          <a:xfrm>
            <a:off x="548640" y="6419088"/>
            <a:ext cx="9144000" cy="274320"/>
          </a:xfrm>
          <a:prstGeom prst="rect">
            <a:avLst/>
          </a:prstGeom>
          <a:noFill/>
        </p:spPr>
        <p:txBody>
          <a:bodyPr wrap="square">
            <a:spAutoFit/>
          </a:bodyPr>
          <a:lstStyle/>
          <a:p>
            <a:pPr algn="l"/>
            <a:r>
              <a:rPr sz="900" b="0" i="0">
                <a:solidFill>
                  <a:srgbClr val="8A8F98"/>
                </a:solidFill>
                <a:latin typeface="Calibri"/>
              </a:rPr>
              <a:t>Defect-to-Delivery  |  FYDP-I  •  Group: 262-034</a:t>
            </a:r>
          </a:p>
        </p:txBody>
      </p:sp>
      <p:sp>
        <p:nvSpPr>
          <p:cNvPr id="3" name="TextBox 2"/>
          <p:cNvSpPr txBox="1"/>
          <p:nvPr/>
        </p:nvSpPr>
        <p:spPr>
          <a:xfrm>
            <a:off x="10972800" y="6419088"/>
            <a:ext cx="640080" cy="274320"/>
          </a:xfrm>
          <a:prstGeom prst="rect">
            <a:avLst/>
          </a:prstGeom>
          <a:noFill/>
        </p:spPr>
        <p:txBody>
          <a:bodyPr wrap="none">
            <a:spAutoFit/>
          </a:bodyPr>
          <a:lstStyle/>
          <a:p>
            <a:pPr algn="r"/>
            <a:r>
              <a:rPr sz="900">
                <a:solidFill>
                  <a:srgbClr val="8A8F98"/>
                </a:solidFill>
                <a:latin typeface="Calibri"/>
              </a:rPr>
              <a:t>32 / 35</a:t>
            </a:r>
          </a:p>
        </p:txBody>
      </p:sp>
      <p:sp>
        <p:nvSpPr>
          <p:cNvPr id="4" name="Rectangle 3"/>
          <p:cNvSpPr/>
          <p:nvPr/>
        </p:nvSpPr>
        <p:spPr>
          <a:xfrm>
            <a:off x="0" y="0"/>
            <a:ext cx="12188952" cy="64008"/>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20040"/>
            <a:ext cx="11064240" cy="822960"/>
          </a:xfrm>
          <a:prstGeom prst="rect">
            <a:avLst/>
          </a:prstGeom>
          <a:noFill/>
        </p:spPr>
        <p:txBody>
          <a:bodyPr wrap="square">
            <a:spAutoFit/>
          </a:bodyPr>
          <a:lstStyle/>
          <a:p>
            <a:pPr algn="l"/>
            <a:r>
              <a:rPr sz="3400" b="1" i="0">
                <a:solidFill>
                  <a:srgbClr val="144E4C"/>
                </a:solidFill>
                <a:latin typeface="Georgia"/>
              </a:rPr>
              <a:t>Conclusion &amp; Future Work</a:t>
            </a:r>
          </a:p>
        </p:txBody>
      </p:sp>
      <p:sp>
        <p:nvSpPr>
          <p:cNvPr id="6" name="Rectangle 5"/>
          <p:cNvSpPr/>
          <p:nvPr/>
        </p:nvSpPr>
        <p:spPr>
          <a:xfrm>
            <a:off x="566928" y="1078992"/>
            <a:ext cx="1005840" cy="50292"/>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1463040"/>
            <a:ext cx="5394960" cy="2926080"/>
          </a:xfrm>
          <a:prstGeom prst="roundRect">
            <a:avLst>
              <a:gd name="adj" fmla="val 6000"/>
            </a:avLst>
          </a:prstGeom>
          <a:solidFill>
            <a:srgbClr val="FFFFFF"/>
          </a:solidFill>
          <a:ln w="15875">
            <a:solidFill>
              <a:srgbClr val="D8D2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 y="1463040"/>
            <a:ext cx="5394960" cy="82296"/>
          </a:xfrm>
          <a:prstGeom prst="round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04672" y="1755648"/>
            <a:ext cx="475488" cy="475488"/>
          </a:xfrm>
          <a:prstGeom prst="ellipse">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44E4C"/>
                </a:solidFill>
                <a:latin typeface="Calibri"/>
              </a:rPr>
              <a:t>✓</a:t>
            </a:r>
          </a:p>
        </p:txBody>
      </p:sp>
      <p:sp>
        <p:nvSpPr>
          <p:cNvPr id="10" name="TextBox 9"/>
          <p:cNvSpPr txBox="1"/>
          <p:nvPr/>
        </p:nvSpPr>
        <p:spPr>
          <a:xfrm>
            <a:off x="1417319" y="1719072"/>
            <a:ext cx="4343400" cy="2514600"/>
          </a:xfrm>
          <a:prstGeom prst="rect">
            <a:avLst/>
          </a:prstGeom>
          <a:noFill/>
        </p:spPr>
        <p:txBody>
          <a:bodyPr wrap="square">
            <a:normAutofit/>
          </a:bodyPr>
          <a:lstStyle/>
          <a:p>
            <a:pPr algn="l">
              <a:spcAft>
                <a:spcPts val="600"/>
              </a:spcAft>
            </a:pPr>
            <a:r>
              <a:rPr sz="1600" b="1" i="0">
                <a:solidFill>
                  <a:srgbClr val="144E4C"/>
                </a:solidFill>
                <a:latin typeface="Calibri"/>
              </a:rPr>
              <a:t>Summary</a:t>
            </a:r>
          </a:p>
          <a:p>
            <a:pPr algn="l">
              <a:spcBef>
                <a:spcPts val="0"/>
              </a:spcBef>
              <a:spcAft>
                <a:spcPts val="300"/>
              </a:spcAft>
            </a:pPr>
            <a:r>
              <a:rPr sz="1350" b="0" i="0">
                <a:solidFill>
                  <a:srgbClr val="5B6570"/>
                </a:solidFill>
                <a:latin typeface="Calibri"/>
              </a:rPr>
              <a:t>Reviewed 20 Works, Fixed Requirements, Chose The Detect → Segment → Anomaly → Predict Methodology.</a:t>
            </a:r>
          </a:p>
          <a:p>
            <a:pPr algn="l">
              <a:spcBef>
                <a:spcPts val="0"/>
              </a:spcBef>
              <a:spcAft>
                <a:spcPts val="300"/>
              </a:spcAft>
            </a:pPr>
            <a:r>
              <a:rPr sz="1350" b="0" i="0">
                <a:solidFill>
                  <a:srgbClr val="5B6570"/>
                </a:solidFill>
                <a:latin typeface="Calibri"/>
              </a:rPr>
              <a:t>Audited The Dataset: Hashed Every Image, Removed 17 Duplicates, Quarantined 12 Files, Confirmed 2,081 Train / 468 Test With Zero Overlap.</a:t>
            </a:r>
          </a:p>
          <a:p>
            <a:pPr algn="l">
              <a:spcBef>
                <a:spcPts val="0"/>
              </a:spcBef>
              <a:spcAft>
                <a:spcPts val="300"/>
              </a:spcAft>
            </a:pPr>
            <a:r>
              <a:rPr sz="1350" b="0" i="0">
                <a:solidFill>
                  <a:srgbClr val="5B6570"/>
                </a:solidFill>
                <a:latin typeface="Calibri"/>
              </a:rPr>
              <a:t>That Audit Supports Every Number That Follows.</a:t>
            </a:r>
          </a:p>
        </p:txBody>
      </p:sp>
      <p:sp>
        <p:nvSpPr>
          <p:cNvPr id="11" name="Rounded Rectangle 10"/>
          <p:cNvSpPr/>
          <p:nvPr/>
        </p:nvSpPr>
        <p:spPr>
          <a:xfrm>
            <a:off x="6245352" y="1463040"/>
            <a:ext cx="5394960" cy="2926080"/>
          </a:xfrm>
          <a:prstGeom prst="roundRect">
            <a:avLst>
              <a:gd name="adj" fmla="val 6000"/>
            </a:avLst>
          </a:prstGeom>
          <a:solidFill>
            <a:srgbClr val="FFFFFF"/>
          </a:solidFill>
          <a:ln w="15875">
            <a:solidFill>
              <a:srgbClr val="D8D2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45352" y="1463040"/>
            <a:ext cx="5394960" cy="82296"/>
          </a:xfrm>
          <a:prstGeom prst="round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501384" y="1755648"/>
            <a:ext cx="475488" cy="475488"/>
          </a:xfrm>
          <a:prstGeom prst="ellipse">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44E4C"/>
                </a:solidFill>
                <a:latin typeface="Calibri"/>
              </a:rPr>
              <a:t>→</a:t>
            </a:r>
          </a:p>
        </p:txBody>
      </p:sp>
      <p:sp>
        <p:nvSpPr>
          <p:cNvPr id="14" name="TextBox 13"/>
          <p:cNvSpPr txBox="1"/>
          <p:nvPr/>
        </p:nvSpPr>
        <p:spPr>
          <a:xfrm>
            <a:off x="7114032" y="1719072"/>
            <a:ext cx="4343400" cy="2514600"/>
          </a:xfrm>
          <a:prstGeom prst="rect">
            <a:avLst/>
          </a:prstGeom>
          <a:noFill/>
        </p:spPr>
        <p:txBody>
          <a:bodyPr wrap="square">
            <a:normAutofit/>
          </a:bodyPr>
          <a:lstStyle/>
          <a:p>
            <a:pPr algn="l">
              <a:spcAft>
                <a:spcPts val="600"/>
              </a:spcAft>
            </a:pPr>
            <a:r>
              <a:rPr sz="1600" b="1" i="0">
                <a:solidFill>
                  <a:srgbClr val="144E4C"/>
                </a:solidFill>
                <a:latin typeface="Calibri"/>
              </a:rPr>
              <a:t>Future Work</a:t>
            </a:r>
          </a:p>
          <a:p>
            <a:pPr algn="l">
              <a:spcBef>
                <a:spcPts val="0"/>
              </a:spcBef>
              <a:spcAft>
                <a:spcPts val="300"/>
              </a:spcAft>
            </a:pPr>
            <a:r>
              <a:rPr sz="1350" b="0" i="0">
                <a:solidFill>
                  <a:srgbClr val="5B6570"/>
                </a:solidFill>
                <a:latin typeface="Calibri"/>
              </a:rPr>
              <a:t>Relabel Quarantine Using A pHash Sweep.</a:t>
            </a:r>
          </a:p>
          <a:p>
            <a:pPr algn="l">
              <a:spcBef>
                <a:spcPts val="0"/>
              </a:spcBef>
              <a:spcAft>
                <a:spcPts val="300"/>
              </a:spcAft>
            </a:pPr>
            <a:r>
              <a:rPr sz="1350" b="0" i="0">
                <a:solidFill>
                  <a:srgbClr val="5B6570"/>
                </a:solidFill>
                <a:latin typeface="Calibri"/>
              </a:rPr>
              <a:t>Gather Roll-ID-Disciplined V2 Factory Data.</a:t>
            </a:r>
          </a:p>
          <a:p>
            <a:pPr algn="l">
              <a:spcBef>
                <a:spcPts val="0"/>
              </a:spcBef>
              <a:spcAft>
                <a:spcPts val="300"/>
              </a:spcAft>
            </a:pPr>
            <a:r>
              <a:rPr sz="1350" b="0" i="0">
                <a:solidFill>
                  <a:srgbClr val="5B6570"/>
                </a:solidFill>
                <a:latin typeface="Calibri"/>
              </a:rPr>
              <a:t>Build A Bangla Dashboard For Planners.</a:t>
            </a:r>
          </a:p>
          <a:p>
            <a:pPr algn="l">
              <a:spcBef>
                <a:spcPts val="0"/>
              </a:spcBef>
              <a:spcAft>
                <a:spcPts val="300"/>
              </a:spcAft>
            </a:pPr>
            <a:r>
              <a:rPr sz="1350" b="0" i="0">
                <a:solidFill>
                  <a:srgbClr val="5B6570"/>
                </a:solidFill>
                <a:latin typeface="Calibri"/>
              </a:rPr>
              <a:t>Empirically Benchmark Detection Accuracy Against Isl-Knit And FabricSpotDefect.</a:t>
            </a:r>
          </a:p>
          <a:p>
            <a:pPr algn="l">
              <a:spcBef>
                <a:spcPts val="0"/>
              </a:spcBef>
              <a:spcAft>
                <a:spcPts val="300"/>
              </a:spcAft>
            </a:pPr>
            <a:r>
              <a:rPr sz="1350" b="0" i="0">
                <a:solidFill>
                  <a:srgbClr val="5B6570"/>
                </a:solidFill>
                <a:latin typeface="Calibri"/>
              </a:rPr>
              <a:t>Submit Results To A Conference.</a:t>
            </a:r>
          </a:p>
        </p:txBody>
      </p:sp>
      <p:sp>
        <p:nvSpPr>
          <p:cNvPr id="15" name="TextBox 14"/>
          <p:cNvSpPr txBox="1"/>
          <p:nvPr/>
        </p:nvSpPr>
        <p:spPr>
          <a:xfrm>
            <a:off x="548640" y="5029200"/>
            <a:ext cx="11064240" cy="914400"/>
          </a:xfrm>
          <a:prstGeom prst="rect">
            <a:avLst/>
          </a:prstGeom>
          <a:noFill/>
        </p:spPr>
        <p:txBody>
          <a:bodyPr wrap="square" anchor="ctr">
            <a:spAutoFit/>
          </a:bodyPr>
          <a:lstStyle/>
          <a:p>
            <a:pPr algn="ctr"/>
            <a:r>
              <a:rPr sz="1250" b="0" i="0">
                <a:solidFill>
                  <a:srgbClr val="5B6570"/>
                </a:solidFill>
                <a:latin typeface="Calibri"/>
              </a:rPr>
              <a:t>Limitations: Pilot Localization Is Estimated, Not Measured; Planning Labels Are Synthetic; 1,994 Files Lack Group IDs; Minority Classes Are Thin; Industrial Validation Is Pending.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4008"/>
          </a:xfrm>
          <a:prstGeom prst="rect">
            <a:avLst/>
          </a:prstGeom>
          <a:solidFill>
            <a:srgbClr val="D99A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lIns="0" rIns="0" tIns="0" bIns="0">
            <a:spAutoFit/>
          </a:bodyPr>
          <a:lstStyle/>
          <a:p>
            <a:pPr algn="l"/>
            <a:r>
              <a:rPr sz="3400" b="1">
                <a:solidFill>
                  <a:srgbClr val="144E4C"/>
                </a:solidFill>
                <a:latin typeface="Georgia"/>
              </a:rPr>
              <a:t>Modules &amp; Environment (Table 3.6)</a:t>
            </a:r>
          </a:p>
        </p:txBody>
      </p:sp>
      <p:sp>
        <p:nvSpPr>
          <p:cNvPr id="4" name="Rectangle 3"/>
          <p:cNvSpPr/>
          <p:nvPr/>
        </p:nvSpPr>
        <p:spPr>
          <a:xfrm>
            <a:off x="566928" y="1078992"/>
            <a:ext cx="1005840" cy="54864"/>
          </a:xfrm>
          <a:prstGeom prst="rect">
            <a:avLst/>
          </a:prstGeom>
          <a:solidFill>
            <a:srgbClr val="D99A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19088"/>
            <a:ext cx="9144000" cy="274320"/>
          </a:xfrm>
          <a:prstGeom prst="rect">
            <a:avLst/>
          </a:prstGeom>
          <a:noFill/>
        </p:spPr>
        <p:txBody>
          <a:bodyPr wrap="square" lIns="0" rIns="0" tIns="0" bIns="0">
            <a:spAutoFit/>
          </a:bodyPr>
          <a:lstStyle/>
          <a:p>
            <a:pPr algn="l"/>
            <a:r>
              <a:rPr sz="900" b="0">
                <a:solidFill>
                  <a:srgbClr val="8A8F98"/>
                </a:solidFill>
                <a:latin typeface="Calibri"/>
              </a:rPr>
              <a:t>Defect-to-Delivery  |  FYDP-I  •  Group: 262-034</a:t>
            </a:r>
          </a:p>
        </p:txBody>
      </p:sp>
      <p:sp>
        <p:nvSpPr>
          <p:cNvPr id="6" name="TextBox 5"/>
          <p:cNvSpPr txBox="1"/>
          <p:nvPr/>
        </p:nvSpPr>
        <p:spPr>
          <a:xfrm>
            <a:off x="10972800" y="6419088"/>
            <a:ext cx="640080" cy="274320"/>
          </a:xfrm>
          <a:prstGeom prst="rect">
            <a:avLst/>
          </a:prstGeom>
          <a:noFill/>
        </p:spPr>
        <p:txBody>
          <a:bodyPr wrap="square" lIns="0" rIns="0" tIns="0" bIns="0">
            <a:spAutoFit/>
          </a:bodyPr>
          <a:lstStyle/>
          <a:p>
            <a:pPr algn="l"/>
            <a:r>
              <a:rPr sz="900" b="0">
                <a:solidFill>
                  <a:srgbClr val="8A8F98"/>
                </a:solidFill>
                <a:latin typeface="Calibri"/>
              </a:rPr>
              <a:t>33 / 35</a:t>
            </a:r>
          </a:p>
        </p:txBody>
      </p:sp>
      <p:graphicFrame>
        <p:nvGraphicFramePr>
          <p:cNvPr id="7" name="Table 6"/>
          <p:cNvGraphicFramePr>
            <a:graphicFrameLocks noGrp="1"/>
          </p:cNvGraphicFramePr>
          <p:nvPr/>
        </p:nvGraphicFramePr>
        <p:xfrm>
          <a:off x="548640" y="1353312"/>
          <a:ext cx="6720840" cy="3127248"/>
        </p:xfrm>
        <a:graphic>
          <a:graphicData uri="http://schemas.openxmlformats.org/drawingml/2006/table">
            <a:tbl>
              <a:tblPr firstRow="1" bandRow="1">
                <a:tableStyleId>{5C22544A-7EE6-4342-B048-85BDC9FD1C3A}</a:tableStyleId>
              </a:tblPr>
              <a:tblGrid>
                <a:gridCol w="2688336"/>
                <a:gridCol w="4032504"/>
              </a:tblGrid>
              <a:tr h="390906">
                <a:tc>
                  <a:txBody>
                    <a:bodyPr wrap="square" lIns="54864" rIns="54864" tIns="27432" bIns="27432" anchor="ctr"/>
                    <a:lstStyle/>
                    <a:p>
                      <a:pPr algn="l"/>
                      <a:r>
                        <a:rPr sz="1100" b="1">
                          <a:solidFill>
                            <a:srgbClr val="FFFFFF"/>
                          </a:solidFill>
                          <a:latin typeface="Calibri"/>
                        </a:rPr>
                        <a:t>Module</a:t>
                      </a:r>
                    </a:p>
                  </a:txBody>
                  <a:tcPr>
                    <a:solidFill>
                      <a:srgbClr val="144E7D"/>
                    </a:solidFill>
                  </a:tcPr>
                </a:tc>
                <a:tc>
                  <a:txBody>
                    <a:bodyPr wrap="square" lIns="54864" rIns="54864" tIns="27432" bIns="27432" anchor="ctr"/>
                    <a:lstStyle/>
                    <a:p>
                      <a:pPr algn="l"/>
                      <a:r>
                        <a:rPr sz="1100" b="0">
                          <a:solidFill>
                            <a:srgbClr val="FFFFFF"/>
                          </a:solidFill>
                          <a:latin typeface="Calibri"/>
                        </a:rPr>
                        <a:t>Responsibility</a:t>
                      </a:r>
                    </a:p>
                  </a:txBody>
                  <a:tcPr>
                    <a:solidFill>
                      <a:srgbClr val="144E7D"/>
                    </a:solidFill>
                  </a:tcPr>
                </a:tc>
              </a:tr>
              <a:tr h="390906">
                <a:tc>
                  <a:txBody>
                    <a:bodyPr wrap="square" lIns="54864" rIns="54864" tIns="27432" bIns="27432" anchor="ctr"/>
                    <a:lstStyle/>
                    <a:p>
                      <a:pPr algn="l"/>
                      <a:r>
                        <a:rPr sz="1100" b="1">
                          <a:solidFill>
                            <a:srgbClr val="144E4C"/>
                          </a:solidFill>
                          <a:latin typeface="Calibri"/>
                        </a:rPr>
                        <a:t>config.py</a:t>
                      </a:r>
                    </a:p>
                  </a:txBody>
                  <a:tcPr/>
                </a:tc>
                <a:tc>
                  <a:txBody>
                    <a:bodyPr wrap="square" lIns="54864" rIns="54864" tIns="27432" bIns="27432" anchor="ctr"/>
                    <a:lstStyle/>
                    <a:p>
                      <a:pPr algn="l"/>
                      <a:r>
                        <a:rPr sz="1100" b="0">
                          <a:solidFill>
                            <a:srgbClr val="5B6570"/>
                          </a:solidFill>
                          <a:latin typeface="Calibri"/>
                        </a:rPr>
                        <a:t>Central configuration point</a:t>
                      </a:r>
                    </a:p>
                  </a:txBody>
                  <a:tcPr/>
                </a:tc>
              </a:tr>
              <a:tr h="390906">
                <a:tc>
                  <a:txBody>
                    <a:bodyPr wrap="square" lIns="54864" rIns="54864" tIns="27432" bIns="27432" anchor="ctr"/>
                    <a:lstStyle/>
                    <a:p>
                      <a:pPr algn="l"/>
                      <a:r>
                        <a:rPr sz="1100" b="1">
                          <a:solidFill>
                            <a:srgbClr val="144E4C"/>
                          </a:solidFill>
                          <a:latin typeface="Calibri"/>
                        </a:rPr>
                        <a:t>defect_detection.py</a:t>
                      </a:r>
                    </a:p>
                  </a:txBody>
                  <a:tcPr/>
                </a:tc>
                <a:tc>
                  <a:txBody>
                    <a:bodyPr wrap="square" lIns="54864" rIns="54864" tIns="27432" bIns="27432" anchor="ctr"/>
                    <a:lstStyle/>
                    <a:p>
                      <a:pPr algn="l"/>
                      <a:r>
                        <a:rPr sz="1100" b="0">
                          <a:solidFill>
                            <a:srgbClr val="5B6570"/>
                          </a:solidFill>
                          <a:latin typeface="Calibri"/>
                        </a:rPr>
                        <a:t>YOLO inference + mask area</a:t>
                      </a:r>
                    </a:p>
                  </a:txBody>
                  <a:tcPr/>
                </a:tc>
              </a:tr>
              <a:tr h="390906">
                <a:tc>
                  <a:txBody>
                    <a:bodyPr wrap="square" lIns="54864" rIns="54864" tIns="27432" bIns="27432" anchor="ctr"/>
                    <a:lstStyle/>
                    <a:p>
                      <a:pPr algn="l"/>
                      <a:r>
                        <a:rPr sz="1100" b="1">
                          <a:solidFill>
                            <a:srgbClr val="144E4C"/>
                          </a:solidFill>
                          <a:latin typeface="Calibri"/>
                        </a:rPr>
                        <a:t>metadata_bridge.py</a:t>
                      </a:r>
                    </a:p>
                  </a:txBody>
                  <a:tcPr/>
                </a:tc>
                <a:tc>
                  <a:txBody>
                    <a:bodyPr wrap="square" lIns="54864" rIns="54864" tIns="27432" bIns="27432" anchor="ctr"/>
                    <a:lstStyle/>
                    <a:p>
                      <a:pPr algn="l"/>
                      <a:r>
                        <a:rPr sz="1100" b="0">
                          <a:solidFill>
                            <a:srgbClr val="5B6570"/>
                          </a:solidFill>
                          <a:latin typeface="Calibri"/>
                        </a:rPr>
                        <a:t>Ds calculation + rolling average</a:t>
                      </a:r>
                    </a:p>
                  </a:txBody>
                  <a:tcPr/>
                </a:tc>
              </a:tr>
              <a:tr h="390906">
                <a:tc>
                  <a:txBody>
                    <a:bodyPr wrap="square" lIns="54864" rIns="54864" tIns="27432" bIns="27432" anchor="ctr"/>
                    <a:lstStyle/>
                    <a:p>
                      <a:pPr algn="l"/>
                      <a:r>
                        <a:rPr sz="1100" b="1">
                          <a:solidFill>
                            <a:srgbClr val="144E4C"/>
                          </a:solidFill>
                          <a:latin typeface="Calibri"/>
                        </a:rPr>
                        <a:t>lead_time_predictor.py</a:t>
                      </a:r>
                    </a:p>
                  </a:txBody>
                  <a:tcPr/>
                </a:tc>
                <a:tc>
                  <a:txBody>
                    <a:bodyPr wrap="square" lIns="54864" rIns="54864" tIns="27432" bIns="27432" anchor="ctr"/>
                    <a:lstStyle/>
                    <a:p>
                      <a:pPr algn="l"/>
                      <a:r>
                        <a:rPr sz="1100" b="0">
                          <a:solidFill>
                            <a:srgbClr val="5B6570"/>
                          </a:solidFill>
                          <a:latin typeface="Calibri"/>
                        </a:rPr>
                        <a:t>Random Forest regression</a:t>
                      </a:r>
                    </a:p>
                  </a:txBody>
                  <a:tcPr/>
                </a:tc>
              </a:tr>
              <a:tr h="390906">
                <a:tc>
                  <a:txBody>
                    <a:bodyPr wrap="square" lIns="54864" rIns="54864" tIns="27432" bIns="27432" anchor="ctr"/>
                    <a:lstStyle/>
                    <a:p>
                      <a:pPr algn="l"/>
                      <a:r>
                        <a:rPr sz="1100" b="1">
                          <a:solidFill>
                            <a:srgbClr val="144E4C"/>
                          </a:solidFill>
                          <a:latin typeface="Calibri"/>
                        </a:rPr>
                        <a:t>integration.py</a:t>
                      </a:r>
                    </a:p>
                  </a:txBody>
                  <a:tcPr/>
                </a:tc>
                <a:tc>
                  <a:txBody>
                    <a:bodyPr wrap="square" lIns="54864" rIns="54864" tIns="27432" bIns="27432" anchor="ctr"/>
                    <a:lstStyle/>
                    <a:p>
                      <a:pPr algn="l"/>
                      <a:r>
                        <a:rPr sz="1100" b="0">
                          <a:solidFill>
                            <a:srgbClr val="5B6570"/>
                          </a:solidFill>
                          <a:latin typeface="Calibri"/>
                        </a:rPr>
                        <a:t>Closed-loop wiring</a:t>
                      </a:r>
                    </a:p>
                  </a:txBody>
                  <a:tcPr/>
                </a:tc>
              </a:tr>
              <a:tr h="390906">
                <a:tc>
                  <a:txBody>
                    <a:bodyPr wrap="square" lIns="54864" rIns="54864" tIns="27432" bIns="27432" anchor="ctr"/>
                    <a:lstStyle/>
                    <a:p>
                      <a:pPr algn="l"/>
                      <a:r>
                        <a:rPr sz="1100" b="1">
                          <a:solidFill>
                            <a:srgbClr val="144E4C"/>
                          </a:solidFill>
                          <a:latin typeface="Calibri"/>
                        </a:rPr>
                        <a:t>scripts/</a:t>
                      </a:r>
                    </a:p>
                  </a:txBody>
                  <a:tcPr/>
                </a:tc>
                <a:tc>
                  <a:txBody>
                    <a:bodyPr wrap="square" lIns="54864" rIns="54864" tIns="27432" bIns="27432" anchor="ctr"/>
                    <a:lstStyle/>
                    <a:p>
                      <a:pPr algn="l"/>
                      <a:r>
                        <a:rPr sz="1100" b="0">
                          <a:solidFill>
                            <a:srgbClr val="5B6570"/>
                          </a:solidFill>
                          <a:latin typeface="Calibri"/>
                        </a:rPr>
                        <a:t>inventory • resplit • metrics • reproduce</a:t>
                      </a:r>
                    </a:p>
                  </a:txBody>
                  <a:tcPr/>
                </a:tc>
              </a:tr>
              <a:tr h="390906">
                <a:tc>
                  <a:txBody>
                    <a:bodyPr wrap="square" lIns="54864" rIns="54864" tIns="27432" bIns="27432" anchor="ctr"/>
                    <a:lstStyle/>
                    <a:p>
                      <a:pPr algn="l"/>
                      <a:r>
                        <a:rPr sz="1100" b="1">
                          <a:solidFill>
                            <a:srgbClr val="144E4C"/>
                          </a:solidFill>
                          <a:latin typeface="Calibri"/>
                        </a:rPr>
                        <a:t>src/metrics.py</a:t>
                      </a:r>
                    </a:p>
                  </a:txBody>
                  <a:tcPr/>
                </a:tc>
                <a:tc>
                  <a:txBody>
                    <a:bodyPr wrap="square" lIns="54864" rIns="54864" tIns="27432" bIns="27432" anchor="ctr"/>
                    <a:lstStyle/>
                    <a:p>
                      <a:pPr algn="l"/>
                      <a:r>
                        <a:rPr sz="1100" b="0">
                          <a:solidFill>
                            <a:srgbClr val="5B6570"/>
                          </a:solidFill>
                          <a:latin typeface="Calibri"/>
                        </a:rPr>
                        <a:t>mAP, MAE, RMSE and R²</a:t>
                      </a:r>
                    </a:p>
                  </a:txBody>
                  <a:tcPr/>
                </a:tc>
              </a:tr>
            </a:tbl>
          </a:graphicData>
        </a:graphic>
      </p:graphicFrame>
      <p:sp>
        <p:nvSpPr>
          <p:cNvPr id="8" name="TextBox 7"/>
          <p:cNvSpPr txBox="1"/>
          <p:nvPr/>
        </p:nvSpPr>
        <p:spPr>
          <a:xfrm>
            <a:off x="7543800" y="1353312"/>
            <a:ext cx="4114800" cy="256032"/>
          </a:xfrm>
          <a:prstGeom prst="rect">
            <a:avLst/>
          </a:prstGeom>
          <a:noFill/>
        </p:spPr>
        <p:txBody>
          <a:bodyPr wrap="square" lIns="0" rIns="0" tIns="0" bIns="0">
            <a:spAutoFit/>
          </a:bodyPr>
          <a:lstStyle/>
          <a:p>
            <a:pPr algn="l"/>
            <a:r>
              <a:rPr sz="1100" b="1">
                <a:solidFill>
                  <a:srgbClr val="D99A06"/>
                </a:solidFill>
                <a:latin typeface="Calibri"/>
              </a:rPr>
              <a:t>IMPLEMENTATION ENVIRONMENT</a:t>
            </a:r>
          </a:p>
        </p:txBody>
      </p:sp>
      <p:sp>
        <p:nvSpPr>
          <p:cNvPr id="9" name="TextBox 8"/>
          <p:cNvSpPr txBox="1"/>
          <p:nvPr/>
        </p:nvSpPr>
        <p:spPr>
          <a:xfrm>
            <a:off x="7543800" y="1700784"/>
            <a:ext cx="1371600" cy="502920"/>
          </a:xfrm>
          <a:prstGeom prst="rect">
            <a:avLst/>
          </a:prstGeom>
          <a:noFill/>
        </p:spPr>
        <p:txBody>
          <a:bodyPr wrap="square" lIns="0" rIns="0" tIns="0" bIns="0">
            <a:spAutoFit/>
          </a:bodyPr>
          <a:lstStyle/>
          <a:p>
            <a:pPr algn="l"/>
            <a:r>
              <a:rPr sz="1100" b="1">
                <a:solidFill>
                  <a:srgbClr val="144E4C"/>
                </a:solidFill>
                <a:latin typeface="Calibri"/>
              </a:rPr>
              <a:t>Language</a:t>
            </a:r>
          </a:p>
        </p:txBody>
      </p:sp>
      <p:sp>
        <p:nvSpPr>
          <p:cNvPr id="10" name="TextBox 9"/>
          <p:cNvSpPr txBox="1"/>
          <p:nvPr/>
        </p:nvSpPr>
        <p:spPr>
          <a:xfrm>
            <a:off x="8961120" y="1700784"/>
            <a:ext cx="2697480" cy="502920"/>
          </a:xfrm>
          <a:prstGeom prst="rect">
            <a:avLst/>
          </a:prstGeom>
          <a:noFill/>
        </p:spPr>
        <p:txBody>
          <a:bodyPr wrap="square" lIns="0" rIns="0" tIns="0" bIns="0">
            <a:spAutoFit/>
          </a:bodyPr>
          <a:lstStyle/>
          <a:p>
            <a:pPr algn="l"/>
            <a:r>
              <a:rPr sz="1100" b="0">
                <a:solidFill>
                  <a:srgbClr val="5B6570"/>
                </a:solidFill>
                <a:latin typeface="Calibri"/>
              </a:rPr>
              <a:t>Python</a:t>
            </a:r>
          </a:p>
        </p:txBody>
      </p:sp>
      <p:sp>
        <p:nvSpPr>
          <p:cNvPr id="11" name="TextBox 10"/>
          <p:cNvSpPr txBox="1"/>
          <p:nvPr/>
        </p:nvSpPr>
        <p:spPr>
          <a:xfrm>
            <a:off x="7543800" y="2249424"/>
            <a:ext cx="1371600" cy="502920"/>
          </a:xfrm>
          <a:prstGeom prst="rect">
            <a:avLst/>
          </a:prstGeom>
          <a:noFill/>
        </p:spPr>
        <p:txBody>
          <a:bodyPr wrap="square" lIns="0" rIns="0" tIns="0" bIns="0">
            <a:spAutoFit/>
          </a:bodyPr>
          <a:lstStyle/>
          <a:p>
            <a:pPr algn="l"/>
            <a:r>
              <a:rPr sz="1100" b="1">
                <a:solidFill>
                  <a:srgbClr val="144E4C"/>
                </a:solidFill>
                <a:latin typeface="Calibri"/>
              </a:rPr>
              <a:t>Detection</a:t>
            </a:r>
          </a:p>
        </p:txBody>
      </p:sp>
      <p:sp>
        <p:nvSpPr>
          <p:cNvPr id="12" name="TextBox 11"/>
          <p:cNvSpPr txBox="1"/>
          <p:nvPr/>
        </p:nvSpPr>
        <p:spPr>
          <a:xfrm>
            <a:off x="8961120" y="2249424"/>
            <a:ext cx="2697480" cy="502920"/>
          </a:xfrm>
          <a:prstGeom prst="rect">
            <a:avLst/>
          </a:prstGeom>
          <a:noFill/>
        </p:spPr>
        <p:txBody>
          <a:bodyPr wrap="square" lIns="0" rIns="0" tIns="0" bIns="0">
            <a:spAutoFit/>
          </a:bodyPr>
          <a:lstStyle/>
          <a:p>
            <a:pPr algn="l"/>
            <a:r>
              <a:rPr sz="1100" b="0">
                <a:solidFill>
                  <a:srgbClr val="5B6570"/>
                </a:solidFill>
                <a:latin typeface="Calibri"/>
              </a:rPr>
              <a:t>Ultralytics YOLO (v11-seg target)</a:t>
            </a:r>
          </a:p>
        </p:txBody>
      </p:sp>
      <p:sp>
        <p:nvSpPr>
          <p:cNvPr id="13" name="TextBox 12"/>
          <p:cNvSpPr txBox="1"/>
          <p:nvPr/>
        </p:nvSpPr>
        <p:spPr>
          <a:xfrm>
            <a:off x="7543800" y="2798064"/>
            <a:ext cx="1371600" cy="502920"/>
          </a:xfrm>
          <a:prstGeom prst="rect">
            <a:avLst/>
          </a:prstGeom>
          <a:noFill/>
        </p:spPr>
        <p:txBody>
          <a:bodyPr wrap="square" lIns="0" rIns="0" tIns="0" bIns="0">
            <a:spAutoFit/>
          </a:bodyPr>
          <a:lstStyle/>
          <a:p>
            <a:pPr algn="l"/>
            <a:r>
              <a:rPr sz="1100" b="1">
                <a:solidFill>
                  <a:srgbClr val="144E4C"/>
                </a:solidFill>
                <a:latin typeface="Calibri"/>
              </a:rPr>
              <a:t>Imaging</a:t>
            </a:r>
          </a:p>
        </p:txBody>
      </p:sp>
      <p:sp>
        <p:nvSpPr>
          <p:cNvPr id="14" name="TextBox 13"/>
          <p:cNvSpPr txBox="1"/>
          <p:nvPr/>
        </p:nvSpPr>
        <p:spPr>
          <a:xfrm>
            <a:off x="8961120" y="2798064"/>
            <a:ext cx="2697480" cy="502920"/>
          </a:xfrm>
          <a:prstGeom prst="rect">
            <a:avLst/>
          </a:prstGeom>
          <a:noFill/>
        </p:spPr>
        <p:txBody>
          <a:bodyPr wrap="square" lIns="0" rIns="0" tIns="0" bIns="0">
            <a:spAutoFit/>
          </a:bodyPr>
          <a:lstStyle/>
          <a:p>
            <a:pPr algn="l"/>
            <a:r>
              <a:rPr sz="1100" b="0">
                <a:solidFill>
                  <a:srgbClr val="5B6570"/>
                </a:solidFill>
                <a:latin typeface="Calibri"/>
              </a:rPr>
              <a:t>OpenCV; 640 px capture geometry</a:t>
            </a:r>
          </a:p>
        </p:txBody>
      </p:sp>
      <p:sp>
        <p:nvSpPr>
          <p:cNvPr id="15" name="TextBox 14"/>
          <p:cNvSpPr txBox="1"/>
          <p:nvPr/>
        </p:nvSpPr>
        <p:spPr>
          <a:xfrm>
            <a:off x="7543800" y="3346704"/>
            <a:ext cx="1371600" cy="502920"/>
          </a:xfrm>
          <a:prstGeom prst="rect">
            <a:avLst/>
          </a:prstGeom>
          <a:noFill/>
        </p:spPr>
        <p:txBody>
          <a:bodyPr wrap="square" lIns="0" rIns="0" tIns="0" bIns="0">
            <a:spAutoFit/>
          </a:bodyPr>
          <a:lstStyle/>
          <a:p>
            <a:pPr algn="l"/>
            <a:r>
              <a:rPr sz="1100" b="1">
                <a:solidFill>
                  <a:srgbClr val="144E4C"/>
                </a:solidFill>
                <a:latin typeface="Calibri"/>
              </a:rPr>
              <a:t>ML</a:t>
            </a:r>
          </a:p>
        </p:txBody>
      </p:sp>
      <p:sp>
        <p:nvSpPr>
          <p:cNvPr id="16" name="TextBox 15"/>
          <p:cNvSpPr txBox="1"/>
          <p:nvPr/>
        </p:nvSpPr>
        <p:spPr>
          <a:xfrm>
            <a:off x="8961120" y="3346704"/>
            <a:ext cx="2697480" cy="502920"/>
          </a:xfrm>
          <a:prstGeom prst="rect">
            <a:avLst/>
          </a:prstGeom>
          <a:noFill/>
        </p:spPr>
        <p:txBody>
          <a:bodyPr wrap="square" lIns="0" rIns="0" tIns="0" bIns="0">
            <a:spAutoFit/>
          </a:bodyPr>
          <a:lstStyle/>
          <a:p>
            <a:pPr algn="l"/>
            <a:r>
              <a:rPr sz="1100" b="0">
                <a:solidFill>
                  <a:srgbClr val="5B6570"/>
                </a:solidFill>
                <a:latin typeface="Calibri"/>
              </a:rPr>
              <a:t>scikit-learn Random Forest; XGBoost / MLP</a:t>
            </a:r>
          </a:p>
        </p:txBody>
      </p:sp>
      <p:sp>
        <p:nvSpPr>
          <p:cNvPr id="17" name="TextBox 16"/>
          <p:cNvSpPr txBox="1"/>
          <p:nvPr/>
        </p:nvSpPr>
        <p:spPr>
          <a:xfrm>
            <a:off x="7543800" y="3895344"/>
            <a:ext cx="1371600" cy="502920"/>
          </a:xfrm>
          <a:prstGeom prst="rect">
            <a:avLst/>
          </a:prstGeom>
          <a:noFill/>
        </p:spPr>
        <p:txBody>
          <a:bodyPr wrap="square" lIns="0" rIns="0" tIns="0" bIns="0">
            <a:spAutoFit/>
          </a:bodyPr>
          <a:lstStyle/>
          <a:p>
            <a:pPr algn="l"/>
            <a:r>
              <a:rPr sz="1100" b="1">
                <a:solidFill>
                  <a:srgbClr val="144E4C"/>
                </a:solidFill>
                <a:latin typeface="Calibri"/>
              </a:rPr>
              <a:t>Edge</a:t>
            </a:r>
          </a:p>
        </p:txBody>
      </p:sp>
      <p:sp>
        <p:nvSpPr>
          <p:cNvPr id="18" name="TextBox 17"/>
          <p:cNvSpPr txBox="1"/>
          <p:nvPr/>
        </p:nvSpPr>
        <p:spPr>
          <a:xfrm>
            <a:off x="8961120" y="3895344"/>
            <a:ext cx="2697480" cy="502920"/>
          </a:xfrm>
          <a:prstGeom prst="rect">
            <a:avLst/>
          </a:prstGeom>
          <a:noFill/>
        </p:spPr>
        <p:txBody>
          <a:bodyPr wrap="square" lIns="0" rIns="0" tIns="0" bIns="0">
            <a:spAutoFit/>
          </a:bodyPr>
          <a:lstStyle/>
          <a:p>
            <a:pPr algn="l"/>
            <a:r>
              <a:rPr sz="1100" b="0">
                <a:solidFill>
                  <a:srgbClr val="5B6570"/>
                </a:solidFill>
                <a:latin typeface="Calibri"/>
              </a:rPr>
              <a:t>Jetson-class device with TensorRT</a:t>
            </a:r>
          </a:p>
        </p:txBody>
      </p:sp>
      <p:sp>
        <p:nvSpPr>
          <p:cNvPr id="19" name="TextBox 18"/>
          <p:cNvSpPr txBox="1"/>
          <p:nvPr/>
        </p:nvSpPr>
        <p:spPr>
          <a:xfrm>
            <a:off x="7543800" y="4443984"/>
            <a:ext cx="1371600" cy="502920"/>
          </a:xfrm>
          <a:prstGeom prst="rect">
            <a:avLst/>
          </a:prstGeom>
          <a:noFill/>
        </p:spPr>
        <p:txBody>
          <a:bodyPr wrap="square" lIns="0" rIns="0" tIns="0" bIns="0">
            <a:spAutoFit/>
          </a:bodyPr>
          <a:lstStyle/>
          <a:p>
            <a:pPr algn="l"/>
            <a:r>
              <a:rPr sz="1100" b="1">
                <a:solidFill>
                  <a:srgbClr val="144E4C"/>
                </a:solidFill>
                <a:latin typeface="Calibri"/>
              </a:rPr>
              <a:t>Interop</a:t>
            </a:r>
          </a:p>
        </p:txBody>
      </p:sp>
      <p:sp>
        <p:nvSpPr>
          <p:cNvPr id="20" name="TextBox 19"/>
          <p:cNvSpPr txBox="1"/>
          <p:nvPr/>
        </p:nvSpPr>
        <p:spPr>
          <a:xfrm>
            <a:off x="8961120" y="4443984"/>
            <a:ext cx="2697480" cy="502920"/>
          </a:xfrm>
          <a:prstGeom prst="rect">
            <a:avLst/>
          </a:prstGeom>
          <a:noFill/>
        </p:spPr>
        <p:txBody>
          <a:bodyPr wrap="square" lIns="0" rIns="0" tIns="0" bIns="0">
            <a:spAutoFit/>
          </a:bodyPr>
          <a:lstStyle/>
          <a:p>
            <a:pPr algn="l"/>
            <a:r>
              <a:rPr sz="1100" b="0">
                <a:solidFill>
                  <a:srgbClr val="5B6570"/>
                </a:solidFill>
                <a:latin typeface="Calibri"/>
              </a:rPr>
              <a:t>REST to MES; COCO / YOLO formats</a:t>
            </a:r>
          </a:p>
        </p:txBody>
      </p:sp>
      <p:sp>
        <p:nvSpPr>
          <p:cNvPr id="21" name="TextBox 20"/>
          <p:cNvSpPr txBox="1"/>
          <p:nvPr/>
        </p:nvSpPr>
        <p:spPr>
          <a:xfrm>
            <a:off x="548640" y="4681728"/>
            <a:ext cx="11109960" cy="1188720"/>
          </a:xfrm>
          <a:prstGeom prst="rect">
            <a:avLst/>
          </a:prstGeom>
          <a:noFill/>
        </p:spPr>
        <p:txBody>
          <a:bodyPr wrap="square" lIns="0" rIns="0" tIns="0" bIns="0">
            <a:spAutoFit/>
          </a:bodyPr>
          <a:lstStyle/>
          <a:p>
            <a:pPr algn="l"/>
            <a:r>
              <a:rPr sz="1250" b="0">
                <a:solidFill>
                  <a:srgbClr val="5B6570"/>
                </a:solidFill>
                <a:latin typeface="Calibri"/>
              </a:rPr>
              <a:t>Report Chapter 4 (Implementation and Results) is flagged as pending for the final report, so this slide records the intended stack and module layout rather than measured results. Every quantitative claim elsewhere in this deck is sourced from the audited dataset manifest, not from Chapter 4 (Report Table 3.6 and §4.1).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4008"/>
          </a:xfrm>
          <a:prstGeom prst="rect">
            <a:avLst/>
          </a:prstGeom>
          <a:solidFill>
            <a:srgbClr val="D99A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lIns="0" rIns="0" tIns="0" bIns="0">
            <a:spAutoFit/>
          </a:bodyPr>
          <a:lstStyle/>
          <a:p>
            <a:pPr algn="l"/>
            <a:r>
              <a:rPr sz="3400" b="1">
                <a:solidFill>
                  <a:srgbClr val="144E4C"/>
                </a:solidFill>
                <a:latin typeface="Georgia"/>
              </a:rPr>
              <a:t>References</a:t>
            </a:r>
          </a:p>
        </p:txBody>
      </p:sp>
      <p:sp>
        <p:nvSpPr>
          <p:cNvPr id="4" name="Rectangle 3"/>
          <p:cNvSpPr/>
          <p:nvPr/>
        </p:nvSpPr>
        <p:spPr>
          <a:xfrm>
            <a:off x="566928" y="1078992"/>
            <a:ext cx="1005840" cy="54864"/>
          </a:xfrm>
          <a:prstGeom prst="rect">
            <a:avLst/>
          </a:prstGeom>
          <a:solidFill>
            <a:srgbClr val="D99A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19088"/>
            <a:ext cx="9144000" cy="274320"/>
          </a:xfrm>
          <a:prstGeom prst="rect">
            <a:avLst/>
          </a:prstGeom>
          <a:noFill/>
        </p:spPr>
        <p:txBody>
          <a:bodyPr wrap="square" lIns="0" rIns="0" tIns="0" bIns="0">
            <a:spAutoFit/>
          </a:bodyPr>
          <a:lstStyle/>
          <a:p>
            <a:pPr algn="l"/>
            <a:r>
              <a:rPr sz="900" b="0">
                <a:solidFill>
                  <a:srgbClr val="8A8F98"/>
                </a:solidFill>
                <a:latin typeface="Calibri"/>
              </a:rPr>
              <a:t>Defect-to-Delivery  |  FYDP-I  •  Group: 262-034</a:t>
            </a:r>
          </a:p>
        </p:txBody>
      </p:sp>
      <p:sp>
        <p:nvSpPr>
          <p:cNvPr id="6" name="TextBox 5"/>
          <p:cNvSpPr txBox="1"/>
          <p:nvPr/>
        </p:nvSpPr>
        <p:spPr>
          <a:xfrm>
            <a:off x="10972800" y="6419088"/>
            <a:ext cx="640080" cy="274320"/>
          </a:xfrm>
          <a:prstGeom prst="rect">
            <a:avLst/>
          </a:prstGeom>
          <a:noFill/>
        </p:spPr>
        <p:txBody>
          <a:bodyPr wrap="square" lIns="0" rIns="0" tIns="0" bIns="0">
            <a:spAutoFit/>
          </a:bodyPr>
          <a:lstStyle/>
          <a:p>
            <a:pPr algn="l"/>
            <a:r>
              <a:rPr sz="900" b="0">
                <a:solidFill>
                  <a:srgbClr val="8A8F98"/>
                </a:solidFill>
                <a:latin typeface="Calibri"/>
              </a:rPr>
              <a:t>34 / 35</a:t>
            </a:r>
          </a:p>
        </p:txBody>
      </p:sp>
      <p:sp>
        <p:nvSpPr>
          <p:cNvPr id="7" name="TextBox 6"/>
          <p:cNvSpPr txBox="1"/>
          <p:nvPr/>
        </p:nvSpPr>
        <p:spPr>
          <a:xfrm>
            <a:off x="548640" y="1298448"/>
            <a:ext cx="5440680" cy="713232"/>
          </a:xfrm>
          <a:prstGeom prst="rect">
            <a:avLst/>
          </a:prstGeom>
          <a:noFill/>
        </p:spPr>
        <p:txBody>
          <a:bodyPr wrap="square" lIns="0" rIns="0" tIns="0" bIns="0">
            <a:spAutoFit/>
          </a:bodyPr>
          <a:lstStyle/>
          <a:p>
            <a:pPr algn="l"/>
            <a:r>
              <a:rPr sz="1050" b="0">
                <a:solidFill>
                  <a:srgbClr val="5B6570"/>
                </a:solidFill>
                <a:latin typeface="Calibri"/>
              </a:rPr>
              <a:t>[1] J. Redmon et al., “You Only Look Once: Unified, Real-Time Object Detection,” CVPR, 2016.</a:t>
            </a:r>
          </a:p>
        </p:txBody>
      </p:sp>
      <p:sp>
        <p:nvSpPr>
          <p:cNvPr id="8" name="TextBox 7"/>
          <p:cNvSpPr txBox="1"/>
          <p:nvPr/>
        </p:nvSpPr>
        <p:spPr>
          <a:xfrm>
            <a:off x="548640" y="2066543"/>
            <a:ext cx="5440680" cy="713232"/>
          </a:xfrm>
          <a:prstGeom prst="rect">
            <a:avLst/>
          </a:prstGeom>
          <a:noFill/>
        </p:spPr>
        <p:txBody>
          <a:bodyPr wrap="square" lIns="0" rIns="0" tIns="0" bIns="0">
            <a:spAutoFit/>
          </a:bodyPr>
          <a:lstStyle/>
          <a:p>
            <a:pPr algn="l"/>
            <a:r>
              <a:rPr sz="1050" b="0">
                <a:solidFill>
                  <a:srgbClr val="5B6570"/>
                </a:solidFill>
                <a:latin typeface="Calibri"/>
              </a:rPr>
              <a:t>[2] M. Mao et al., “YOLOv1–YOLOv11: A Review for Fabric Defect Detection,” 2025.</a:t>
            </a:r>
          </a:p>
        </p:txBody>
      </p:sp>
      <p:sp>
        <p:nvSpPr>
          <p:cNvPr id="9" name="TextBox 8"/>
          <p:cNvSpPr txBox="1"/>
          <p:nvPr/>
        </p:nvSpPr>
        <p:spPr>
          <a:xfrm>
            <a:off x="548640" y="2834639"/>
            <a:ext cx="5440680" cy="713232"/>
          </a:xfrm>
          <a:prstGeom prst="rect">
            <a:avLst/>
          </a:prstGeom>
          <a:noFill/>
        </p:spPr>
        <p:txBody>
          <a:bodyPr wrap="square" lIns="0" rIns="0" tIns="0" bIns="0">
            <a:spAutoFit/>
          </a:bodyPr>
          <a:lstStyle/>
          <a:p>
            <a:pPr algn="l"/>
            <a:r>
              <a:rPr sz="1050" b="0">
                <a:solidFill>
                  <a:srgbClr val="5B6570"/>
                </a:solidFill>
                <a:latin typeface="Calibri"/>
              </a:rPr>
              <a:t>[3] K. Roth et al., “Towards Total Recall in Industrial Anomaly Detection,” CVPR, 2022.</a:t>
            </a:r>
          </a:p>
        </p:txBody>
      </p:sp>
      <p:sp>
        <p:nvSpPr>
          <p:cNvPr id="10" name="TextBox 9"/>
          <p:cNvSpPr txBox="1"/>
          <p:nvPr/>
        </p:nvSpPr>
        <p:spPr>
          <a:xfrm>
            <a:off x="548640" y="3602736"/>
            <a:ext cx="5440680" cy="713232"/>
          </a:xfrm>
          <a:prstGeom prst="rect">
            <a:avLst/>
          </a:prstGeom>
          <a:noFill/>
        </p:spPr>
        <p:txBody>
          <a:bodyPr wrap="square" lIns="0" rIns="0" tIns="0" bIns="0">
            <a:spAutoFit/>
          </a:bodyPr>
          <a:lstStyle/>
          <a:p>
            <a:pPr algn="l"/>
            <a:r>
              <a:rPr sz="1050" b="0">
                <a:solidFill>
                  <a:srgbClr val="5B6570"/>
                </a:solidFill>
                <a:latin typeface="Calibri"/>
              </a:rPr>
              <a:t>[4] S. Damm et al., “AnomalyDINO: Few-Shot Anomaly Detection with Vision Foundation Models,” WACV, 2025.</a:t>
            </a:r>
          </a:p>
        </p:txBody>
      </p:sp>
      <p:sp>
        <p:nvSpPr>
          <p:cNvPr id="11" name="TextBox 10"/>
          <p:cNvSpPr txBox="1"/>
          <p:nvPr/>
        </p:nvSpPr>
        <p:spPr>
          <a:xfrm>
            <a:off x="548640" y="4370831"/>
            <a:ext cx="5440680" cy="713232"/>
          </a:xfrm>
          <a:prstGeom prst="rect">
            <a:avLst/>
          </a:prstGeom>
          <a:noFill/>
        </p:spPr>
        <p:txBody>
          <a:bodyPr wrap="square" lIns="0" rIns="0" tIns="0" bIns="0">
            <a:spAutoFit/>
          </a:bodyPr>
          <a:lstStyle/>
          <a:p>
            <a:pPr algn="l"/>
            <a:r>
              <a:rPr sz="1050" b="0">
                <a:solidFill>
                  <a:srgbClr val="5B6570"/>
                </a:solidFill>
                <a:latin typeface="Calibri"/>
              </a:rPr>
              <a:t>[5] Anonymous, “PatchEAD: Patch-Based Efficient Anomaly Detection,” 2025.</a:t>
            </a:r>
          </a:p>
        </p:txBody>
      </p:sp>
      <p:sp>
        <p:nvSpPr>
          <p:cNvPr id="12" name="TextBox 11"/>
          <p:cNvSpPr txBox="1"/>
          <p:nvPr/>
        </p:nvSpPr>
        <p:spPr>
          <a:xfrm>
            <a:off x="548640" y="5138928"/>
            <a:ext cx="5440680" cy="713232"/>
          </a:xfrm>
          <a:prstGeom prst="rect">
            <a:avLst/>
          </a:prstGeom>
          <a:noFill/>
        </p:spPr>
        <p:txBody>
          <a:bodyPr wrap="square" lIns="0" rIns="0" tIns="0" bIns="0">
            <a:spAutoFit/>
          </a:bodyPr>
          <a:lstStyle/>
          <a:p>
            <a:pPr algn="l"/>
            <a:r>
              <a:rPr sz="1050" b="0">
                <a:solidFill>
                  <a:srgbClr val="5B6570"/>
                </a:solidFill>
                <a:latin typeface="Calibri"/>
              </a:rPr>
              <a:t>[6] L. Breiman, “Random Forests,” Machine Learning, vol. 45, pp. 5–32, 2001.</a:t>
            </a:r>
          </a:p>
        </p:txBody>
      </p:sp>
      <p:sp>
        <p:nvSpPr>
          <p:cNvPr id="13" name="TextBox 12"/>
          <p:cNvSpPr txBox="1"/>
          <p:nvPr/>
        </p:nvSpPr>
        <p:spPr>
          <a:xfrm>
            <a:off x="6263640" y="1298448"/>
            <a:ext cx="5440680" cy="713232"/>
          </a:xfrm>
          <a:prstGeom prst="rect">
            <a:avLst/>
          </a:prstGeom>
          <a:noFill/>
        </p:spPr>
        <p:txBody>
          <a:bodyPr wrap="square" lIns="0" rIns="0" tIns="0" bIns="0">
            <a:spAutoFit/>
          </a:bodyPr>
          <a:lstStyle/>
          <a:p>
            <a:pPr algn="l"/>
            <a:r>
              <a:rPr sz="1050" b="0">
                <a:solidFill>
                  <a:srgbClr val="5B6570"/>
                </a:solidFill>
                <a:latin typeface="Calibri"/>
              </a:rPr>
              <a:t>[7] A. D. Gupta et al., “Isl-Knit: A Fabric Defect Dataset,” Heliyon, vol. 10, no. 17, 2024.</a:t>
            </a:r>
          </a:p>
        </p:txBody>
      </p:sp>
      <p:sp>
        <p:nvSpPr>
          <p:cNvPr id="14" name="TextBox 13"/>
          <p:cNvSpPr txBox="1"/>
          <p:nvPr/>
        </p:nvSpPr>
        <p:spPr>
          <a:xfrm>
            <a:off x="6263640" y="2066543"/>
            <a:ext cx="5440680" cy="713232"/>
          </a:xfrm>
          <a:prstGeom prst="rect">
            <a:avLst/>
          </a:prstGeom>
          <a:noFill/>
        </p:spPr>
        <p:txBody>
          <a:bodyPr wrap="square" lIns="0" rIns="0" tIns="0" bIns="0">
            <a:spAutoFit/>
          </a:bodyPr>
          <a:lstStyle/>
          <a:p>
            <a:pPr algn="l"/>
            <a:r>
              <a:rPr sz="1050" b="0">
                <a:solidFill>
                  <a:srgbClr val="5B6570"/>
                </a:solidFill>
                <a:latin typeface="Calibri"/>
              </a:rPr>
              <a:t>[8] F. Islam et al., “FabricSpotDefect: A Fabric Defect Dataset,” Data in Brief, 2024.</a:t>
            </a:r>
          </a:p>
        </p:txBody>
      </p:sp>
      <p:sp>
        <p:nvSpPr>
          <p:cNvPr id="15" name="TextBox 14"/>
          <p:cNvSpPr txBox="1"/>
          <p:nvPr/>
        </p:nvSpPr>
        <p:spPr>
          <a:xfrm>
            <a:off x="6263640" y="2834639"/>
            <a:ext cx="5440680" cy="713232"/>
          </a:xfrm>
          <a:prstGeom prst="rect">
            <a:avLst/>
          </a:prstGeom>
          <a:noFill/>
        </p:spPr>
        <p:txBody>
          <a:bodyPr wrap="square" lIns="0" rIns="0" tIns="0" bIns="0">
            <a:spAutoFit/>
          </a:bodyPr>
          <a:lstStyle/>
          <a:p>
            <a:pPr algn="l"/>
            <a:r>
              <a:rPr sz="1050" b="0">
                <a:solidFill>
                  <a:srgbClr val="5B6570"/>
                </a:solidFill>
                <a:latin typeface="Calibri"/>
              </a:rPr>
              <a:t>[9] A. Kumar, “Vision-Based Fabric Defect Detection: A Survey,” IEEE Trans. Industrial Electronics, vol. 55, 2008.</a:t>
            </a:r>
          </a:p>
        </p:txBody>
      </p:sp>
      <p:sp>
        <p:nvSpPr>
          <p:cNvPr id="16" name="TextBox 15"/>
          <p:cNvSpPr txBox="1"/>
          <p:nvPr/>
        </p:nvSpPr>
        <p:spPr>
          <a:xfrm>
            <a:off x="6263640" y="3602736"/>
            <a:ext cx="5440680" cy="713232"/>
          </a:xfrm>
          <a:prstGeom prst="rect">
            <a:avLst/>
          </a:prstGeom>
          <a:noFill/>
        </p:spPr>
        <p:txBody>
          <a:bodyPr wrap="square" lIns="0" rIns="0" tIns="0" bIns="0">
            <a:spAutoFit/>
          </a:bodyPr>
          <a:lstStyle/>
          <a:p>
            <a:pPr algn="l"/>
            <a:r>
              <a:rPr sz="1050" b="0">
                <a:solidFill>
                  <a:srgbClr val="5B6570"/>
                </a:solidFill>
                <a:latin typeface="Calibri"/>
              </a:rPr>
              <a:t>[10] S. Song et al., “EfficientDet-Based Object Detection on NVIDIA Jetson TX2,” 2021.</a:t>
            </a:r>
          </a:p>
        </p:txBody>
      </p:sp>
      <p:sp>
        <p:nvSpPr>
          <p:cNvPr id="17" name="TextBox 16"/>
          <p:cNvSpPr txBox="1"/>
          <p:nvPr/>
        </p:nvSpPr>
        <p:spPr>
          <a:xfrm>
            <a:off x="6263640" y="4370831"/>
            <a:ext cx="5440680" cy="713232"/>
          </a:xfrm>
          <a:prstGeom prst="rect">
            <a:avLst/>
          </a:prstGeom>
          <a:noFill/>
        </p:spPr>
        <p:txBody>
          <a:bodyPr wrap="square" lIns="0" rIns="0" tIns="0" bIns="0">
            <a:spAutoFit/>
          </a:bodyPr>
          <a:lstStyle/>
          <a:p>
            <a:pPr algn="l"/>
            <a:r>
              <a:rPr sz="1050" b="0">
                <a:solidFill>
                  <a:srgbClr val="5B6570"/>
                </a:solidFill>
                <a:latin typeface="Calibri"/>
              </a:rPr>
              <a:t>[11] D. P. Kulugammana et al., “Fabric Wastage Prediction Using Machine Learning,” Proc. CIIS, 2024.</a:t>
            </a:r>
          </a:p>
        </p:txBody>
      </p:sp>
      <p:sp>
        <p:nvSpPr>
          <p:cNvPr id="18" name="TextBox 17"/>
          <p:cNvSpPr txBox="1"/>
          <p:nvPr/>
        </p:nvSpPr>
        <p:spPr>
          <a:xfrm>
            <a:off x="548640" y="5989320"/>
            <a:ext cx="11109960" cy="320040"/>
          </a:xfrm>
          <a:prstGeom prst="rect">
            <a:avLst/>
          </a:prstGeom>
          <a:noFill/>
        </p:spPr>
        <p:txBody>
          <a:bodyPr wrap="square" lIns="0" rIns="0" tIns="0" bIns="0">
            <a:spAutoFit/>
          </a:bodyPr>
          <a:lstStyle/>
          <a:p>
            <a:pPr algn="l"/>
            <a:r>
              <a:rPr sz="1050" b="0">
                <a:solidFill>
                  <a:srgbClr val="8A8F98"/>
                </a:solidFill>
                <a:latin typeface="Calibri"/>
              </a:rPr>
              <a:t>Citation numbers follow the submitted report (27 September 2026).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AF7EF"/>
        </a:solidFill>
        <a:effectLst/>
      </p:bgPr>
    </p:bg>
    <p:spTree>
      <p:nvGrpSpPr>
        <p:cNvPr id="1" name=""/>
        <p:cNvGrpSpPr/>
        <p:nvPr/>
      </p:nvGrpSpPr>
      <p:grpSpPr/>
      <p:sp>
        <p:nvSpPr>
          <p:cNvPr id="2" name="TextBox 1"/>
          <p:cNvSpPr txBox="1"/>
          <p:nvPr/>
        </p:nvSpPr>
        <p:spPr>
          <a:xfrm>
            <a:off x="548640" y="6419088"/>
            <a:ext cx="9144000" cy="274320"/>
          </a:xfrm>
          <a:prstGeom prst="rect">
            <a:avLst/>
          </a:prstGeom>
          <a:noFill/>
        </p:spPr>
        <p:txBody>
          <a:bodyPr wrap="square">
            <a:spAutoFit/>
          </a:bodyPr>
          <a:lstStyle/>
          <a:p>
            <a:pPr algn="l"/>
            <a:r>
              <a:rPr sz="900" b="0" i="0">
                <a:solidFill>
                  <a:srgbClr val="8A8F98"/>
                </a:solidFill>
                <a:latin typeface="Calibri"/>
              </a:rPr>
              <a:t>Defect-to-Delivery  |  FYDP-I  •  Group: 262-034</a:t>
            </a:r>
          </a:p>
        </p:txBody>
      </p:sp>
      <p:sp>
        <p:nvSpPr>
          <p:cNvPr id="3" name="TextBox 2"/>
          <p:cNvSpPr txBox="1"/>
          <p:nvPr/>
        </p:nvSpPr>
        <p:spPr>
          <a:xfrm>
            <a:off x="10972800" y="6419088"/>
            <a:ext cx="640080" cy="274320"/>
          </a:xfrm>
          <a:prstGeom prst="rect">
            <a:avLst/>
          </a:prstGeom>
          <a:noFill/>
        </p:spPr>
        <p:txBody>
          <a:bodyPr wrap="none">
            <a:spAutoFit/>
          </a:bodyPr>
          <a:lstStyle/>
          <a:p>
            <a:pPr algn="r"/>
            <a:r>
              <a:rPr sz="900">
                <a:solidFill>
                  <a:srgbClr val="8A8F98"/>
                </a:solidFill>
                <a:latin typeface="Calibri"/>
              </a:rPr>
              <a:t>35 / 35</a:t>
            </a:r>
          </a:p>
        </p:txBody>
      </p:sp>
      <p:sp>
        <p:nvSpPr>
          <p:cNvPr id="4" name="Rectangle 3"/>
          <p:cNvSpPr/>
          <p:nvPr/>
        </p:nvSpPr>
        <p:spPr>
          <a:xfrm>
            <a:off x="0" y="0"/>
            <a:ext cx="12188952" cy="64008"/>
          </a:xfrm>
          <a:prstGeom prst="rect">
            <a:avLst/>
          </a:prstGeom>
          <a:solidFill>
            <a:srgbClr val="D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011680"/>
            <a:ext cx="11064240" cy="1280160"/>
          </a:xfrm>
          <a:prstGeom prst="rect">
            <a:avLst/>
          </a:prstGeom>
          <a:noFill/>
        </p:spPr>
        <p:txBody>
          <a:bodyPr wrap="square" anchor="ctr">
            <a:spAutoFit/>
          </a:bodyPr>
          <a:lstStyle/>
          <a:p>
            <a:pPr algn="ctr"/>
            <a:r>
              <a:rPr sz="5400" b="1" i="0">
                <a:solidFill>
                  <a:srgbClr val="144E4C"/>
                </a:solidFill>
                <a:latin typeface="Georgia"/>
              </a:rPr>
              <a:t>Thank You</a:t>
            </a:r>
          </a:p>
        </p:txBody>
      </p:sp>
      <p:sp>
        <p:nvSpPr>
          <p:cNvPr id="6" name="TextBox 5"/>
          <p:cNvSpPr txBox="1"/>
          <p:nvPr/>
        </p:nvSpPr>
        <p:spPr>
          <a:xfrm>
            <a:off x="548640" y="3291840"/>
            <a:ext cx="11064240" cy="548640"/>
          </a:xfrm>
          <a:prstGeom prst="rect">
            <a:avLst/>
          </a:prstGeom>
          <a:noFill/>
        </p:spPr>
        <p:txBody>
          <a:bodyPr wrap="square" anchor="ctr">
            <a:spAutoFit/>
          </a:bodyPr>
          <a:lstStyle/>
          <a:p>
            <a:pPr algn="ctr"/>
            <a:r>
              <a:rPr sz="2000" b="0" i="0">
                <a:solidFill>
                  <a:srgbClr val="5B6570"/>
                </a:solidFill>
                <a:latin typeface="Calibri"/>
              </a:rPr>
              <a:t>Questions &amp;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