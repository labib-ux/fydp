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85" r:id="rId36"/>
    <p:sldId id="266" r:id="rId17"/>
    <p:sldId id="281" r:id="rId32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6" r:id="rId37"/>
    <p:sldId id="280" r:id="rId31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8.xml"/><Relationship Id="rId32" Type="http://schemas.openxmlformats.org/officeDocument/2006/relationships/slide" Target="slides/slide13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11.xml"/><Relationship Id="rId37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5B6570"/>
                </a:solidFill>
                <a:latin typeface="Calibri"/>
              </a:rPr>
              <a:t>FYDP-I  •  Textile &amp; RMG Quality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Defect-to-Delivery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14600"/>
            <a:ext cx="9235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1F2937"/>
                </a:solidFill>
                <a:latin typeface="Calibri"/>
              </a:rPr>
              <a:t>Fabric Defect Detection and Leadtime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0">
                <a:solidFill>
                  <a:srgbClr val="5B6570"/>
                </a:solidFill>
                <a:latin typeface="Calibri"/>
              </a:rPr>
              <a:t>Group: 262-034
Department Of Computer Science And Engineering
United International University (UIU), Dhaka, Bangladesh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RIYA  •  ZAHIN  •  LABIB  •  AMIN  •  MURAD  •  NILOY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Supervisor, Course Teacher &amp;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28346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0992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Mr. Md. Tarek Hasan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Assistant Professor, Dept. Of CSE, UIU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0" y="1417320"/>
            <a:ext cx="28346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913632" y="170992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Course Teacher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Dr. Mohammad Nurul Huda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Professor, Dept. Of CSE, UIU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4672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Abdullah Al Fahim Zahin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0112310314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Baseline Reproduction, YOLO Training &amp; Lead-Time 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51959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07992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Nafiz Imtiaz Labib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Dataset Audit, Split &amp; Edge Deployment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5279" y="310896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11311" y="340156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5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Ms. Riya Akter Satu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0112310147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Requirement Analysis, Preprocessing &amp; Report Writing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4672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Mohammad Amin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Few-Shot Anomaly Detection (PatchCore / DINOv2)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5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51959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07992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Fahim Ferdous Niloy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0112310307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Metadata Bridge, Defect Density Score &amp; Dashboard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55279" y="4590288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11311" y="4882896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Mustafizur Rahman Murad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Testing &amp; Evaluation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3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1.  </a:t>
            </a:r>
            <a:r>
              <a:rPr sz="1600" b="1">
                <a:solidFill>
                  <a:srgbClr val="144E4C"/>
                </a:solidFill>
                <a:latin typeface="Calibri"/>
              </a:rPr>
              <a:t>Problem &amp; 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2.  </a:t>
            </a:r>
            <a:r>
              <a:rPr sz="1600" b="1">
                <a:solidFill>
                  <a:srgbClr val="144E4C"/>
                </a:solidFill>
                <a:latin typeface="Calibri"/>
              </a:rPr>
              <a:t>Objectives &amp; Methodology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3.  </a:t>
            </a:r>
            <a:r>
              <a:rPr sz="1600" b="1">
                <a:solidFill>
                  <a:srgbClr val="144E4C"/>
                </a:solidFill>
                <a:latin typeface="Calibri"/>
              </a:rPr>
              <a:t>Literature Review &amp; Gap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4.  </a:t>
            </a:r>
            <a:r>
              <a:rPr sz="1600" b="1">
                <a:solidFill>
                  <a:srgbClr val="144E4C"/>
                </a:solidFill>
                <a:latin typeface="Calibri"/>
              </a:rPr>
              <a:t>Requirement Analysis &amp; Dataset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5.  </a:t>
            </a:r>
            <a:r>
              <a:rPr sz="1600" b="1">
                <a:solidFill>
                  <a:srgbClr val="144E4C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6.  </a:t>
            </a:r>
            <a:r>
              <a:rPr sz="1600" b="1">
                <a:solidFill>
                  <a:srgbClr val="144E4C"/>
                </a:solidFill>
                <a:latin typeface="Calibri"/>
              </a:rPr>
              <a:t>Standards, Constraints, Budget &amp;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8A6204"/>
                </a:solidFill>
                <a:latin typeface="Calibri"/>
              </a:rPr>
              <a:t>7.  </a:t>
            </a:r>
            <a:r>
              <a:rPr sz="1600" b="1">
                <a:solidFill>
                  <a:srgbClr val="144E4C"/>
                </a:solidFill>
                <a:latin typeface="Calibri"/>
              </a:rPr>
              <a:t>Conclusion &amp; Future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4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Problem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Fabric Inspection In Most Bangladeshi RMG Factories Is Manual — Slow, Inconsistent, And Dependent On Inspector Experience And Fatigue.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Production Planning Runs On Fixed Lead-Time Tables That Never Look At Real-Time Fabric Quality.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Vision (Inspection) And Planning (Scheduling) Live In Two Disconnected Systems — Nobody Turns “How Many Defects” Into “How Many Hours.”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This Gap Threatens Delivery Reliability And Cost Control In Bangladesh’s Largest Export Sector.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2000"/>
            </a:avLst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No System Links Defect Severity To Production Lead Time —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5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Tired Inspector Logs Defects By Eye At Shift-End, While The Planner Beside Them Quotes Delivery Dates From A Table Printed Last Year — Real Quality Signal Disappears Between The Inspection Board And The Planning Desk.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Closed Defect → Hours Loop Generalizes Beyond Textiles: Predictive Maintenance, Waste Estimation, Any Line Where Visible Quality Affects Completion Time.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Pilot Work: ~2,550 Factory Images Reviewed Against The Literature; Hashing Found 17 Duplicate Images And 12 Cross-Labeled Files Quarantined After Visual Verification.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Prior Split Reached 98% Accuracy — Honestly Re-Tested At 93.7–94.0% (See Pilot Result); The 98% Is An Upper Bound, Not A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6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Build An Audited 6-Class Fabric Image Dataset With Hash Inventory, Quarantine Ledger, And Group-Aware Split Manifest.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YOLOv11-Seg Detector For Defect Type + Pixel-True Area, Tracked With mAP.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19856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4670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Random Forest Lead-Time Predictor From Speed, Quantity And Defect Density Score (Ds), Tracked With MAE / RMSE / R².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352544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79392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Fuse Both Into One Real-Time Closed-Loop Framework With A Planner Dashboard.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85232"/>
            <a:ext cx="502920" cy="502920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Prove Every Number On Disjoint Data — The Same Swatch Family Never Appears On Both Sides.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7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YOLO-Family Detectors (YOLOv11-Seg Target); OpenCV Thresholding / Contours For Area Measurement.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Segment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Instance Masks For Accurate Stain / Pulled-Thread Area Vs Over-Estimating Boxes; Mask IoU Ablation.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46304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Catch Unknowns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Few-Shot Anomaly Detection (PatchCore / DINOv2 Family) Trained Only On Good Fabric.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Predict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Random Forest Regression On Speed, Quantity, Ds Ablated Against XGBoost And MLP.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51959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07992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Smooth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Rolling-Average Ds Over The Last 10 Frames To Filter False Positives.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36118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11311" y="39044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5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Python, Ultralytics YOLO, OpenCV, Scikit-Learn On Jetson-Class Edge With TensorRT.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8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Fabric Defect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  <a:gridCol w="283464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Scale / 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Isl-Knit (Heliyon 2024, BUTEX)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3,375 Knit-Fault Images, 7 Classes, Bangladeshi Dyeing Factories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YOLOv5 + 4-Point Raspberry-Pi Prototype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 2024)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1,014 Images, 3,288 Spot Annotations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COCO + YOLOv8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ZJU-Leaper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98,777 Woven-Fabric Images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Large-Scale Supervised Benchmark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Tianchi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20 Defect Types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Industry Benchmark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MVTec AD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Anomaly-Detection Standard Sets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Used For Our Few-Shot Branch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Our Pilot Corpus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2,578 Images, 6 Classes, Per-File Hashes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Audited, Group-Aware Split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9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Detection, Anomaly &amp;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353312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YOLOv1–v11 Fabric Review (2025) Finds YOLOv11 Strongest On Small / Occluded Defects; Fab-ASLKS (+5% mAP50 On Tianchi); Fab-ME (+3.3%, 59.4% Over 20 Classes); FabricMamba For Edge.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33472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Anomaly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23744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PatchCore (99.6% MVTec AUROC), Reverse Distillation (Low Latency), AnomalyDINO / PatchEAD Reach 89–96% With A Handful Of Good Samples And No Defect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03904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94176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EfficientDet + Jetson TX2 At 22.7 FPS (2.5× Cloud); YOLOv11 On Orin Nano; YOLOv11 +70% Avg. On NEU-DET Vs Prior Models.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74336"/>
            <a:ext cx="1737360" cy="685800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144E4C"/>
                </a:solidFill>
                <a:latin typeface="Calibri"/>
              </a:rPr>
              <a:t>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864607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No Published Vision–Ds Lead-Time Fusion Exists — This Is Our Gap. Closest Work: CIIS 2024 Wastage Prediction (633 Points, ANN/SVR/MLP/RFR/ARIMA); 2025 BD Digital-QC Trials; 2026 Narayanganj Traffic-Light QC Study (94 Lines).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10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Literature Analysis (Table 2.1, Selected)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023360"/>
                <a:gridCol w="2651760"/>
                <a:gridCol w="22860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Kumar Fabric Survey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/ Classical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Isl-Knit + 4-Point (BUTEX)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(YOLOv5)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(3,375)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(1,014)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YOLOv1–v11 Fabric Review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PatchCore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Unsupervised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AnomalyDINO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Few-Shot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 / Zero-Shot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 Industrial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Wastage Prediction (CIIS)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(633)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Traffic-Light QC Narayanganj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Applied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94 Lines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Redmon (YOLO) / Breiman (RF)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VOC-COCO / General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2016 / 2001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Literature Survey Summary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 works surveyed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144E7D"/>
                </a:solidFill>
                <a:latin typeface="Georgia"/>
              </a:rPr>
              <a:t>Literature Taxonomy (20 Works)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11 / 31</a:t>
            </a:r>
          </a:p>
        </p:txBody>
      </p:sp>
      <p:pic>
        <p:nvPicPr>
          <p:cNvPr id="7" name="Picture 6" descr="taxon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234440"/>
            <a:ext cx="10424160" cy="39110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12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Gap Analysis &amp;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Detectors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Cover Known Defect Types Well, But Stop At Detection — No Link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28416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4448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6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Anomaly Models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Handle Unseen Defects, But Are Evaluated On Public Sets, Not Bangladeshi Factory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08192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Edge Tooling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Real-Time Feasibility Is Proven, But Not Paired With A Planning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87968" y="1463040"/>
            <a:ext cx="26517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0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8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BD Datasets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Give Local Ground Truth, But No Work Fuses Vision Output With Lead-Time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B8860B"/>
                </a:solidFill>
                <a:latin typeface="Calibri"/>
              </a:rPr>
              <a:t>The Vision-To-Hours Coupling Remains Unclaimed — That Is Our Contribution.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7D"/>
                </a:solidFill>
                <a:latin typeface="Georgia"/>
              </a:defRPr>
            </a:pPr>
            <a:r>
              <a:rPr sz="3400" b="1">
                <a:solidFill>
                  <a:srgbClr val="144E7D"/>
                </a:solidFill>
                <a:latin typeface="Georgia"/>
              </a:rPr>
              <a:t>Benchmark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34440"/>
          <a:ext cx="110642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Isl-Knit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FabricSpot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v1-base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anchor="ctr">
                    <a:solidFill>
                      <a:srgbClr val="144E7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Roll-disjoint Split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Audit 2081/468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4-Point Grading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ASTM D5430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Jetson demo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Honest Repro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0.937→0.940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Lead-time Pred.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Fusion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Dashboard/WPF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Mockup</a:t>
                      </a:r>
                    </a:p>
                  </a:txBody>
                  <a:tcPr anchor="ctr">
                    <a:solidFill>
                      <a:srgbClr val="FAE7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Limitation Slide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44E7D"/>
                          </a:solidFill>
                          <a:latin typeface="Calibri"/>
                        </a:rPr>
                        <a:t>Explicit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14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Requirement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q_func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5623560" cy="3566160"/>
          </a:xfrm>
          <a:prstGeom prst="rect">
            <a:avLst/>
          </a:prstGeom>
        </p:spPr>
      </p:pic>
      <p:pic>
        <p:nvPicPr>
          <p:cNvPr id="8" name="Picture 7" descr="req_nonfunct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463040"/>
            <a:ext cx="5623560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Functional Requirements (FR1–FR6)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Non-Functional Requirements (NFR1–NFR6)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▪  Table 3.1 Coverage Grouped Into FR1–FR6 And NFR1–NFR6 (See Report §3.1); Grading Per Report Fig. 3.6.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15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Dataset: Classes &amp; Audited Composition (Tables 3.2, 3.3)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309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Hole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Missing / Damaged Region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 Defect Pattern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 Defect Pattern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Thin Irregularity Incl. Pulled Threads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Stain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Contamination / Discoloration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398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Defect-Free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Normal Fabric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1,505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463040"/>
            <a:ext cx="3566160" cy="713232"/>
          </a:xfrm>
          <a:prstGeom prst="roundRect">
            <a:avLst/>
          </a:prstGeom>
          <a:solidFill>
            <a:srgbClr val="2B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2,578 Scanned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3566160" cy="713232"/>
          </a:xfrm>
          <a:prstGeom prst="roundRect">
            <a:avLst/>
          </a:prstGeom>
          <a:solidFill>
            <a:srgbClr val="D06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17 Exact Duplicates (Hash)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200400"/>
            <a:ext cx="3566160" cy="713232"/>
          </a:xfrm>
          <a:prstGeom prst="roundRect">
            <a:avLst/>
          </a:prstGeom>
          <a:solidFill>
            <a:srgbClr val="C4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12 Quarantined (Cross-Labeled)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069079"/>
            <a:ext cx="3566160" cy="713232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= 2,549 Usable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07492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6 Classes, Per-File Cryptographic Hashes, Visual Verification Before Use.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16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 Audit: Quarantine Ledger &amp;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Quarantine Ledger (Table 3.4)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9× Hole/Line_2018-10-11* + 3× Lines/Line_2018-10-10* — Identical Swatches Cross-Labeled Hole Vs Lines, Several Defect-Free.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Verdict: Suspect_Cross_Label / Suspect_Batch — Excluded From Both Train And Test.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Control Pair Verified Clean And Retained (Hole/20180531* Vs Lines/20180531*).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Group-Aware Split (Table 3.5)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Seed 42, Test-Fraction 0.2.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Swatch Families And Dated Shoots Never Split Across Sides.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Train: 2,081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Test: 468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Overlap Between Train And Test: 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17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Pilot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naive=0.937 (n=510), honest=0.940 (n=468), accuracy_drop=-0.003.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The 98% prior claim is unreproducible under clean conditions.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Per-class honest F1: defect_free 0.98, stain 0.94, hole 0.88,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horizontal 0.79 (recall 0.68), Vertical 0.70, lines too small to quote.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▪  Conclusion: audit supported; claim void; Track 2 MAY START.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18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Proposed System Diagram (Fig. 3.1)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Camera /
Image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Industrial
Preprocessing:
Denoise, Deblur,
Low-Light Norm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8483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11480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YOLO Defect
Detector:
Type + Boxes
And Masks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22191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521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Metadata
Bridge:
Ds + Rolling
Average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595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Lead Time
Predictor:
Random Forest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9691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5097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Planner
Dashboard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2171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241280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371600" y="4864608"/>
            <a:ext cx="8851392" cy="0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353312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91840" y="4224528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5B6570"/>
                </a:solidFill>
                <a:latin typeface="Calibri"/>
              </a:rPr>
              <a:t>Closed-Loop 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Camera → Preprocessing → YOLO Detector → Metadata Bridge (Ds) → Random-Forest Lead-Time Predictor → Planner Dashboard.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19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System Workflow (Fig. 3.2)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17320"/>
            <a:ext cx="201168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Start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Capture Fabric Image / Stream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Preprocessing
(Resize, Noise Removal, Enhance)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YOLO Defect Detection
(Type + Boxes / Masks)</a:t>
            </a:r>
          </a:p>
        </p:txBody>
      </p:sp>
      <p:sp>
        <p:nvSpPr>
          <p:cNvPr id="11" name="Diamond 10"/>
          <p:cNvSpPr/>
          <p:nvPr/>
        </p:nvSpPr>
        <p:spPr>
          <a:xfrm>
            <a:off x="822960" y="4754880"/>
            <a:ext cx="2011680" cy="82296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Detected?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754880"/>
            <a:ext cx="2011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Identify Defect Type
(Hole / Horizontal / Vertical / Lines / Stain)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760720"/>
            <a:ext cx="20116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Mark Defect-Free, Ds = 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28800" y="1938528"/>
            <a:ext cx="0" cy="146303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28800" y="27614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28800" y="3675887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45902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559612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52928" y="5166360"/>
            <a:ext cx="512064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35040" y="182880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Each Frame Is Loaded, Preprocessed, And Passed Through YOLO Detection.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A Defect Triggers Area + Ds Computation; A Clean Frame Sets Ds = 0.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Ds Feeds A Rolling Average Before The Random Forest Predicts Hours.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Result Is Displayed, And The Loop Repeats Until Frames Run Out.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20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Metadata Bridge (Fig. 3.4)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Level-0 DFD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Fabric Camera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97180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Manufacturing Data</a:t>
            </a:r>
          </a:p>
        </p:txBody>
      </p:sp>
      <p:sp>
        <p:nvSpPr>
          <p:cNvPr id="10" name="Oval 9"/>
          <p:cNvSpPr/>
          <p:nvPr/>
        </p:nvSpPr>
        <p:spPr>
          <a:xfrm>
            <a:off x="2743200" y="1965960"/>
            <a:ext cx="2377440" cy="1828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0 Detect + Score + Predict</a:t>
            </a:r>
          </a:p>
        </p:txBody>
      </p:sp>
      <p:sp>
        <p:nvSpPr>
          <p:cNvPr id="11" name="Oval 10"/>
          <p:cNvSpPr/>
          <p:nvPr/>
        </p:nvSpPr>
        <p:spPr>
          <a:xfrm>
            <a:off x="55778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Result + Ds + Hours</a:t>
            </a:r>
          </a:p>
        </p:txBody>
      </p:sp>
      <p:sp>
        <p:nvSpPr>
          <p:cNvPr id="12" name="Oval 11"/>
          <p:cNvSpPr/>
          <p:nvPr/>
        </p:nvSpPr>
        <p:spPr>
          <a:xfrm>
            <a:off x="83210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Planner / Inspector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77440" y="237744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377440" y="338328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0" y="26517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63840" y="31089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Ds Metadata Bridge (Rolling 10-Frame Average)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YOLO Output:
Class, Conf., 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04872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Per-Defect
Area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12848" y="4892040"/>
            <a:ext cx="201167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169663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Sum Defect
Area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77639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934456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Ds =
Defect / Frame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742432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99248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Rolling Avg.
Last 10 Frames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07223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6404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Predictor
Input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272015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934456" y="5486400"/>
            <a:ext cx="1554480" cy="658368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Frame Area
H × W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711696" y="5367528"/>
            <a:ext cx="0" cy="10058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21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Machine Learning Pipeline (Fig. 3.5)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Machine Speed
20–100 m/min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0604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Order Quantity
100–10,000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Density Ds
0.0–0.5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377440"/>
            <a:ext cx="219456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Random Forest
100 Trees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377440"/>
            <a:ext cx="20116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Lead Time
Hours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377440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MAE / RMSE / R²
Vs Static + No-Ds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1984248"/>
            <a:ext cx="512064" cy="66751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578608" y="2971800"/>
            <a:ext cx="512064" cy="6400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578608" y="3291840"/>
            <a:ext cx="512064" cy="795528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03520" y="297180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63840" y="297180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463040" y="5029200"/>
            <a:ext cx="9235440" cy="73152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Lead = (Qty / Speed) × 0.1 × (1 + 2 × Ds)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Example: Ds = 0.2 Inflates Predicted Time By 40%. Features: Speed 20–100 m/min, Quantity 100–10,000, Ds 0–0.5, 100-Tree Random Forest, Evaluated Vs Static-Mean And No-Ds Baselines.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22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Four-Point Inspection Grading (Fig. 3.6)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46304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Calibrate Pixels To Inches (Fixed Geometry)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212140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0" y="228600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Measure Fault Length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94436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iamond 10"/>
          <p:cNvSpPr/>
          <p:nvPr/>
        </p:nvSpPr>
        <p:spPr>
          <a:xfrm>
            <a:off x="5349240" y="3108960"/>
            <a:ext cx="1463040" cy="9144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Length?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Under 3 In
1 Point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1920239" y="4041648"/>
            <a:ext cx="3840481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10712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3 To 6 In
2 Points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690872" y="4041648"/>
            <a:ext cx="1298448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81344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6 To 9 In
3 Points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7920" y="4041648"/>
            <a:ext cx="1243584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951976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Over 9 In Or
Hole Over 1 In
4 Points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46520" y="4041648"/>
            <a:ext cx="3785616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800600" y="544068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Roll Grade From Total + Length + Weight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20239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90872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61504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232136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20240" y="5394960"/>
            <a:ext cx="8311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80760" y="5394960"/>
            <a:ext cx="0" cy="2743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23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Standards &amp;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Reusable Packages, Central Configuration, Version Control With Reviewable Manifests, Seeded Deterministic Training, COCO / YOLO Interchange Formats.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Hardware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Fixed-Geometry Calibration For Grading, Jetson-Class Edge Device With TensorRT, Factory-Safe Power Envelope.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554480"/>
            <a:ext cx="352044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84708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Communication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REST File Handoff To The MES And Dashboard Over HTTP; No Proprietary Protocols.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24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Design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93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Zero Software Cost; ROI Via Reduced DHU / Chargeback In 2–3 Years At Expected Trial Performance.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Small Training Footprint, Low Edge Power Draw, Fewer Faulty Shipments.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Ethical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Cameras Face Fabric, Not Workers; Wrong Labels Are Corrected, Not Ignored; Planning Data Stays Labeled Until Factory Records Take Over.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Health &amp; Safety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Enclosed System Helps Reduce Inspector Eye Strain.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Bangla-Language Labels; Inspectors Trained Toward Supervisor Roles.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Political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No Approvals Required.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Manufacturability &amp;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Computers, Cameras, And Jetson Hardware Are All Moderate-Cost And Readily Available.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7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Open Formats, Maintainable Scripts, An Expandable Dataset.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25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Estimated Project Budget (Table 5.1)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0" y="2743200"/>
            <a:ext cx="2468880" cy="1371600"/>
          </a:xfrm>
          <a:prstGeom prst="roundRect">
            <a:avLst/>
          </a:prstGeom>
          <a:solidFill>
            <a:srgbClr val="D9A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F2937"/>
                </a:solidFill>
                <a:latin typeface="Calibri"/>
              </a:rPr>
              <a:t>Estimation Total
16,000 BDT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17320"/>
          <a:ext cx="81381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Cost Category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Estimated Cost (BDT)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Dataset Preparation And Auditing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Camera And Image Acquisition Resources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4,000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Computing And Development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Testing And Integration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Edge Deployment And Hardware-Related Resources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Documentation And Presentation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Miscellaneous Expenses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Calibri"/>
                        </a:rPr>
                        <a:t>16,000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26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Project Plan (Table 3.7; Gantt: Fig. 5.1)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5B6570"/>
                </a:solidFill>
                <a:latin typeface="Calibri"/>
              </a:rPr>
              <a:t>Audit / Split (Done) → Reproduction → Segmentation → Anomaly → Planning → Edge → Write-Up, Over 32 Weeks. Full Gantt: Report Fig. 5.1.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46304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53035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Schedule / Status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Audit / Split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Completed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Reproduction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1–2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Segmentation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3–10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Anomaly Detection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8–14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Lead-Time Planning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12–18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Edge Deployment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16–24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24–28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Documentation And Write-Up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Calibri"/>
                        </a:rPr>
                        <a:t>Weeks 24–32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E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144E4C"/>
                </a:solidFill>
                <a:latin typeface="Georgia"/>
              </a:defRPr>
            </a:pPr>
            <a:r>
              <a:rPr sz="3400" b="1">
                <a:solidFill>
                  <a:srgbClr val="144E4C"/>
                </a:solidFill>
                <a:latin typeface="Georgia"/>
              </a:rPr>
              <a:t>Complex Engineering Problem (Tables 5.2, 5.3)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25880"/>
          <a:ext cx="110642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0605"/>
                <a:gridCol w="1580605"/>
                <a:gridCol w="1580605"/>
                <a:gridCol w="1580605"/>
                <a:gridCol w="1580605"/>
                <a:gridCol w="1580605"/>
                <a:gridCol w="158061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P1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P4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P5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P6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P7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Depth Of
Knowledge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Conflicting
Requirements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Depth Of
Analysis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Familiarity
Of Issues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Applicable
Codes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Stakeholder
Involvement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F2937"/>
                          </a:solidFill>
                          <a:latin typeface="Calibri"/>
                        </a:rPr>
                        <a:t>Inter-
Dependence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3063240"/>
          <a:ext cx="923544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7088"/>
                <a:gridCol w="1847088"/>
                <a:gridCol w="1847088"/>
                <a:gridCol w="1847088"/>
                <a:gridCol w="1847088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A1: Range Of Resources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A2: Level Of Interaction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A3: Innovation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A4: Consequences For Society And Environment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A5: Familiarity</a:t>
                      </a:r>
                    </a:p>
                  </a:txBody>
                  <a:tcPr anchor="ctr">
                    <a:solidFill>
                      <a:srgbClr val="144E4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44E4C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anchor="ctr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34840"/>
            <a:ext cx="1106424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F2937"/>
                </a:solidFill>
                <a:latin typeface="Calibri"/>
              </a:defRPr>
            </a:pPr>
            <a:r>
              <a:rPr sz="1200">
                <a:solidFill>
                  <a:srgbClr val="1F2937"/>
                </a:solidFill>
                <a:latin typeface="Calibri"/>
              </a:rPr>
              <a:t>P1–P3: CV, DL, Anomaly, RF And Edge Knowledge; Audit, Split, mAP/MAE Analysis. P6–P7: Inspectors And Planners Served; Errors Propagate Preprocess → Ds → Hours.</a:t>
            </a:r>
          </a:p>
          <a:p>
            <a:pPr algn="ctr">
              <a:defRPr sz="1200">
                <a:solidFill>
                  <a:srgbClr val="1F2937"/>
                </a:solidFill>
                <a:latin typeface="Calibri"/>
              </a:defRPr>
            </a:pPr>
            <a:r>
              <a:rPr sz="1200">
                <a:solidFill>
                  <a:srgbClr val="1F2937"/>
                </a:solidFill>
                <a:latin typeface="Calibri"/>
              </a:rPr>
              <a:t>A1–A5: Full-Stack Resources; Tight Module Interaction; Ds-Fusion Innovation. (Report §5.4)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/>
              </a:defRPr>
            </a:pPr>
            <a:r>
              <a:rPr sz="90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>
                <a:solidFill/>
              </a:defRPr>
            </a:pPr>
            <a:r>
              <a:rPr sz="900">
                <a:solidFill>
                  <a:srgbClr val="8A8F98"/>
                </a:solidFill>
                <a:latin typeface="Calibri"/>
              </a:rP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28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Risks &amp; Mitigations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4E4C"/>
                </a:solidFill>
                <a:latin typeface="Calibri"/>
              </a:rPr>
              <a:t>Key Risks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Free T4 GPU quota: already exhausted once; fallback to Kaggle (30h/week) or local M1 overnight run.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Factory data access: if unavailable, fallback to calibrated queuing simulation with documented parameters; paired Ds‑vs‑defect analysis is the contribution.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Quarantine ambiguity: 152‑file lines batch may hide a second quarantine; visual review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44E4C"/>
                </a:solidFill>
                <a:latin typeface="Calibri"/>
              </a:rPr>
              <a:t>Mitigations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Checkpoint sync every 10 min during training so quota loss costs minutes, not hours.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Paired dataset (defect counts + our Ds) is itself a contribution if factory declines.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Visual review of lines batch in progress; interim: report as ‘suspicious’ in datasheet.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29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Task Allocation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Primary Responsibility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Abdullah Al Fahim 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Baseline Reproduction, YOLO Model Training And Evaluation, Lead-Time Prediction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Nafiz Imtiaz Labib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Dataset Collection And Auditing, Dataset Split And Preparation, Edge Deployment And Validation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Ms. Riya Akter Satu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Requirement Analysis, Image Preprocessing, Documentation And Report Writing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Mohammad Amin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Few-Shot Anomaly Detection Using PatchCore / DINOv2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Fahim Ferdous Niloy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Metadata Bridge, Defect Density Score (Ds) Calculation, Rolling Average, Planner Dashboard Development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Mustafizur Rahman Murad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30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Summary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Reviewed 20 Works, Fixed Requirements, Chose The Detect → Segment → Anomaly → Predict Methodology.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Audited The Dataset: Hashed Every Image, Removed 17 Duplicates, Quarantined 12 Files, Confirmed 2,081 Train / 468 Test With Zero Overlap.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That Audit Supports Every Number That Follows.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144E4C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Future 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Relabel Quarantine Using A pHash Sweep.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Gather Roll-ID-Disciplined V2 Factory Data.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Build A Bangla Dashboard For Planners.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Empirically Benchmark Detection Accuracy Against Isl-Knit And FabricSpotDefect.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Submit Results To A Conference.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Limitations: Pilot Localization Is Estimated, Not Measured; Planning Labels Are Synthetic; 1,994 Files Lack Group IDs; Minority Classes Are Thin; Industrial Validation Is Pending.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8F98"/>
                </a:solidFill>
                <a:latin typeface="Calibri"/>
              </a:rPr>
              <a:t>31 / 31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99A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1064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5B6570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