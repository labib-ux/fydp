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1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5B6570"/>
                </a:solidFill>
                <a:latin typeface="Calibri"/>
              </a:rPr>
              <a:t>FYDP-I  •  Textile &amp; RMG Quality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110642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44E4C"/>
                </a:solidFill>
                <a:latin typeface="Georgia"/>
              </a:rPr>
              <a:t>Defect-to-Delivery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514600"/>
            <a:ext cx="92354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0" i="0">
                <a:solidFill>
                  <a:srgbClr val="1F2937"/>
                </a:solidFill>
                <a:latin typeface="Calibri"/>
              </a:rPr>
              <a:t>A Closed-Loop Vision &amp; Machine-Learning System For Fabric Defect Detection And Production Lead-Time Prediction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77639"/>
            <a:ext cx="1106424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 i="0">
                <a:solidFill>
                  <a:srgbClr val="5B6570"/>
                </a:solidFill>
                <a:latin typeface="Calibri"/>
              </a:rPr>
              <a:t>Group: 262-034
Department Of Computer Science And Engineering
United International University (UIU), Dhaka, Bangladesh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144E4C"/>
                </a:solidFill>
                <a:latin typeface="Calibri"/>
              </a:rPr>
              <a:t>RIYA  •  ZAHIN  •  LABIB  •  AMIN  •  MURAD  •  NILOY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2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Supervisor, Course Teacher &amp; Team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283464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2834640" cy="82296"/>
          </a:xfrm>
          <a:prstGeom prst="round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709928"/>
            <a:ext cx="475488" cy="475488"/>
          </a:xfrm>
          <a:prstGeom prst="ellipse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673352"/>
            <a:ext cx="178308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44E4C"/>
                </a:solidFill>
                <a:latin typeface="Calibri"/>
              </a:rPr>
              <a:t>Supervisor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5B6570"/>
                </a:solidFill>
                <a:latin typeface="Calibri"/>
              </a:rPr>
              <a:t>Mr. Md. Tarek Hasan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5B6570"/>
                </a:solidFill>
                <a:latin typeface="Calibri"/>
              </a:rPr>
              <a:t>Assistant Professor, Dept. Of CSE, UIU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0" y="1417320"/>
            <a:ext cx="283464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57600" y="1417320"/>
            <a:ext cx="2834640" cy="82296"/>
          </a:xfrm>
          <a:prstGeom prst="round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913632" y="1709928"/>
            <a:ext cx="475488" cy="475488"/>
          </a:xfrm>
          <a:prstGeom prst="ellipse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1673352"/>
            <a:ext cx="178308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44E4C"/>
                </a:solidFill>
                <a:latin typeface="Calibri"/>
              </a:rPr>
              <a:t>Course Teacher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5B6570"/>
                </a:solidFill>
                <a:latin typeface="Calibri"/>
              </a:rPr>
              <a:t>Dr. Mohammad Nurul Huda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5B6570"/>
                </a:solidFill>
                <a:latin typeface="Calibri"/>
              </a:rPr>
              <a:t>Professor, Dept. Of CSE, UIU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108960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3108960"/>
            <a:ext cx="3520440" cy="82296"/>
          </a:xfrm>
          <a:prstGeom prst="round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4672" y="3401568"/>
            <a:ext cx="475488" cy="475488"/>
          </a:xfrm>
          <a:prstGeom prst="ellipse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3364991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144E4C"/>
                </a:solidFill>
                <a:latin typeface="Calibri"/>
              </a:rPr>
              <a:t>Abdullah Al Fahim Zahin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0112310314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Problem, Motivation &amp; Objectives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51959" y="3108960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251959" y="3108960"/>
            <a:ext cx="3520440" cy="82296"/>
          </a:xfrm>
          <a:prstGeom prst="round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07992" y="3401568"/>
            <a:ext cx="475488" cy="475488"/>
          </a:xfrm>
          <a:prstGeom prst="ellipse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3364991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144E4C"/>
                </a:solidFill>
                <a:latin typeface="Calibri"/>
              </a:rPr>
              <a:t>Nafiz Imtiaz Labib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0112310422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Literature Review &amp; Gap Analysis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55279" y="3108960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55279" y="3108960"/>
            <a:ext cx="3520440" cy="82296"/>
          </a:xfrm>
          <a:prstGeom prst="round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211311" y="3401568"/>
            <a:ext cx="475488" cy="475488"/>
          </a:xfrm>
          <a:prstGeom prst="ellipse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59" y="3364991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144E4C"/>
                </a:solidFill>
                <a:latin typeface="Calibri"/>
              </a:rPr>
              <a:t>MST Riya Akter Satu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0112310147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Requirement Analysis &amp; Dataset Audit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590288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48640" y="4590288"/>
            <a:ext cx="3520440" cy="82296"/>
          </a:xfrm>
          <a:prstGeom prst="round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4672" y="4882896"/>
            <a:ext cx="475488" cy="475488"/>
          </a:xfrm>
          <a:prstGeom prst="ellipse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846320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144E4C"/>
                </a:solidFill>
                <a:latin typeface="Calibri"/>
              </a:rPr>
              <a:t>Mohammed Amin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0112310412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System Design &amp; Diagrams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51959" y="4590288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251959" y="4590288"/>
            <a:ext cx="3520440" cy="82296"/>
          </a:xfrm>
          <a:prstGeom prst="round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507992" y="4882896"/>
            <a:ext cx="475488" cy="475488"/>
          </a:xfrm>
          <a:prstGeom prst="ellipse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0640" y="4846320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144E4C"/>
                </a:solidFill>
                <a:latin typeface="Calibri"/>
              </a:rPr>
              <a:t>Fahim Ferdous Niloy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0112310307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Standards, Constraints, Budget &amp; Project Plan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55279" y="4590288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955279" y="4590288"/>
            <a:ext cx="3520440" cy="82296"/>
          </a:xfrm>
          <a:prstGeom prst="round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211311" y="4882896"/>
            <a:ext cx="475488" cy="475488"/>
          </a:xfrm>
          <a:prstGeom prst="ellipse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23959" y="4846320"/>
            <a:ext cx="2468880" cy="10058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144E4C"/>
                </a:solidFill>
                <a:latin typeface="Calibri"/>
              </a:rPr>
              <a:t>Md. Mostafizur Rahman Murad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0112310426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B6570"/>
                </a:solidFill>
                <a:latin typeface="Calibri"/>
              </a:rPr>
              <a:t>Complex Engineering Problem, Task Allocation &amp; 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3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173736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144E4C"/>
                </a:solidFill>
                <a:latin typeface="Calibri"/>
              </a:rPr>
              <a:t>1.  Problem &amp; Motivation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3736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144E4C"/>
                </a:solidFill>
                <a:latin typeface="Calibri"/>
              </a:rPr>
              <a:t>2.  Objectives &amp; Methodology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173736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144E4C"/>
                </a:solidFill>
                <a:latin typeface="Calibri"/>
              </a:rPr>
              <a:t>3.  Literature Review &amp; Gap Analysis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15468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144E4C"/>
                </a:solidFill>
                <a:latin typeface="Calibri"/>
              </a:rPr>
              <a:t>4.  Requirement Analysis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315468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144E4C"/>
                </a:solidFill>
                <a:latin typeface="Calibri"/>
              </a:rPr>
              <a:t>5.  Dataset Audit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315468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144E4C"/>
                </a:solidFill>
                <a:latin typeface="Calibri"/>
              </a:rPr>
              <a:t>6.  System Design &amp; Diagrams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57200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144E4C"/>
                </a:solidFill>
                <a:latin typeface="Calibri"/>
              </a:rPr>
              <a:t>7.  Standards &amp; Constraints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26280" y="457200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144E4C"/>
                </a:solidFill>
                <a:latin typeface="Calibri"/>
              </a:rPr>
              <a:t>8.  Budget &amp; Project Plan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4572000"/>
            <a:ext cx="3383280" cy="1005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144E4C"/>
                </a:solidFill>
                <a:latin typeface="Calibri"/>
              </a:rPr>
              <a:t>9.  Conclusion &amp; Future Work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4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Problem Definition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▪  Fabric Inspection In Most Bangladeshi RMG Factories Is Manual — Slow, Inconsistent, And Dependent On Inspector Experience And Fatigue.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▪  Production Planning Runs On Fixed Lead-Time Tables That Never Look At Real-Time Fabric Quality.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▪  Vision (Inspection) And Planning (Scheduling) Live In Two Disconnected Systems — Nobody Turns “How Many Defects” Into “How Many Hours.”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▪  This Gap Threatens Delivery Reliability And Cost Control In Bangladesh’s Largest Export Sector.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074920"/>
            <a:ext cx="11064240" cy="777240"/>
          </a:xfrm>
          <a:prstGeom prst="roundRect">
            <a:avLst>
              <a:gd name="adj" fmla="val 12000"/>
            </a:avLst>
          </a:prstGeom>
          <a:solidFill>
            <a:srgbClr val="144E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No System Links Defect Severity To Production Lead Time — Yet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5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Motivation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50" b="0" i="0">
                <a:solidFill>
                  <a:srgbClr val="1F2937"/>
                </a:solidFill>
                <a:latin typeface="Calibri"/>
              </a:rPr>
              <a:t>▪  A Tired Inspector Logs Defects By Eye At Shift-End, While The Planner Beside Them Quotes Delivery Dates From A Table Printed Last Year — Real Quality Signal Disappears Between The Inspection Board And The Planning Desk.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50" b="0" i="0">
                <a:solidFill>
                  <a:srgbClr val="1F2937"/>
                </a:solidFill>
                <a:latin typeface="Calibri"/>
              </a:rPr>
              <a:t>▪  A Closed Defect → Hours Loop Generalizes Beyond Textiles: Predictive Maintenance, Waste Estimation, Any Line Where Visible Quality Affects Completion Time.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50" b="0" i="0">
                <a:solidFill>
                  <a:srgbClr val="1F2937"/>
                </a:solidFill>
                <a:latin typeface="Calibri"/>
              </a:rPr>
              <a:t>▪  Pilot Work: ~2,550 Factory Images Reviewed Against The Literature; Hashing Found 17 Duplicate Images And 12 Cross-Labeled Files Quarantined After Visual Verification.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50" b="0" i="0">
                <a:solidFill>
                  <a:srgbClr val="1F2937"/>
                </a:solidFill>
                <a:latin typeface="Calibri"/>
              </a:rPr>
              <a:t>▪  A Prior Split Reached 98% Accuracy — We Treat That As An Upper Bound To Be Re-Tested Honestly, Not A Final Result.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6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Objectives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F2937"/>
                </a:solidFill>
                <a:latin typeface="Calibri"/>
              </a:rPr>
              <a:t>Build An Audited 6-Class Fabric Image Dataset With Hash Inventory, Quarantine Ledger, And Group-Aware Split Manifest.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487168"/>
            <a:ext cx="502920" cy="502920"/>
          </a:xfrm>
          <a:prstGeom prst="ellipse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414015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F2937"/>
                </a:solidFill>
                <a:latin typeface="Calibri"/>
              </a:rPr>
              <a:t>Train A YOLOv11-Seg Detector For Defect Type + Pixel-True Area, Tracked With mAP.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419856"/>
            <a:ext cx="502920" cy="502920"/>
          </a:xfrm>
          <a:prstGeom prst="ellipse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346704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F2937"/>
                </a:solidFill>
                <a:latin typeface="Calibri"/>
              </a:rPr>
              <a:t>Train A Random Forest Lead-Time Predictor From Speed, Quantity And Defect Density Score (Ds), Tracked With MAE / RMSE / R².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352544"/>
            <a:ext cx="502920" cy="502920"/>
          </a:xfrm>
          <a:prstGeom prst="ellipse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279392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F2937"/>
                </a:solidFill>
                <a:latin typeface="Calibri"/>
              </a:rPr>
              <a:t>Fuse Both Into One Real-Time Closed-Loop Framework With A Planner Dashboard.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5285232"/>
            <a:ext cx="502920" cy="502920"/>
          </a:xfrm>
          <a:prstGeom prst="ellipse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212080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F2937"/>
                </a:solidFill>
                <a:latin typeface="Calibri"/>
              </a:rPr>
              <a:t>Prove Every Number On Disjoint Data — The Same Swatch Family Never Appears On Both Sides.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7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Methodology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3520440" cy="82296"/>
          </a:xfrm>
          <a:prstGeom prst="round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755648"/>
            <a:ext cx="475488" cy="475488"/>
          </a:xfrm>
          <a:prstGeom prst="ellipse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71907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Detect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YOLO-Family Detectors (YOLOv11-Seg Target); OpenCV Thresholding / Contours For Area Measurement.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59" y="146304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51959" y="1463040"/>
            <a:ext cx="3520440" cy="82296"/>
          </a:xfrm>
          <a:prstGeom prst="round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07992" y="1755648"/>
            <a:ext cx="475488" cy="475488"/>
          </a:xfrm>
          <a:prstGeom prst="ellipse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171907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Segment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Instance Masks For Accurate Stain / Pulled-Thread Area Vs Over-Estimating Boxes; Mask IoU Ablation.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9" y="146304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955279" y="1463040"/>
            <a:ext cx="3520440" cy="82296"/>
          </a:xfrm>
          <a:prstGeom prst="round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11311" y="1755648"/>
            <a:ext cx="475488" cy="475488"/>
          </a:xfrm>
          <a:prstGeom prst="ellipse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59" y="171907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Catch Unknowns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Few-Shot Anomaly Detection (PatchCore / DINOv2 Family) Trained Only On Good Fabric.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61188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48640" y="3611880"/>
            <a:ext cx="3520440" cy="82296"/>
          </a:xfrm>
          <a:prstGeom prst="round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04672" y="3904488"/>
            <a:ext cx="475488" cy="475488"/>
          </a:xfrm>
          <a:prstGeom prst="ellipse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19" y="386791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Predict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Random Forest Regression On Speed, Quantity, Ds Ablated Against XGBoost And MLP.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1959" y="361188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251959" y="3611880"/>
            <a:ext cx="3520440" cy="82296"/>
          </a:xfrm>
          <a:prstGeom prst="round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507992" y="3904488"/>
            <a:ext cx="475488" cy="475488"/>
          </a:xfrm>
          <a:prstGeom prst="ellipse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386791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Smooth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Rolling-Average Ds Over The Last 10 Frames To Filter False Positives.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55279" y="3611880"/>
            <a:ext cx="35204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955279" y="3611880"/>
            <a:ext cx="3520440" cy="82296"/>
          </a:xfrm>
          <a:prstGeom prst="round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211311" y="3904488"/>
            <a:ext cx="475488" cy="475488"/>
          </a:xfrm>
          <a:prstGeom prst="ellipse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23959" y="3867912"/>
            <a:ext cx="2468880" cy="1508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Deploy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Python, Ultralytics YOLO, OpenCV, Scikit-Learn On Jetson-Class Edge With TensorRT.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8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Related Work — Fabric Defect Datasets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5120640"/>
                <a:gridCol w="2834640"/>
              </a:tblGrid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Scale / Description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Isl-Knit (Heliyon 2024, BUTEX)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3,375 Knit-Fault Images, 7 Classes, Bangladeshi Dyeing Factories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YOLOv5 + 4-Point Raspberry-Pi Prototype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FabricSpotDefect (IUB 2024)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1,014 Images, 3,288 Spot Annotations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COCO + YOLOv8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ZJU-Leaper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98,777 Woven-Fabric Images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Large-Scale Supervised Benchmark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Tianchi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20 Defect Types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Industry Benchmark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MVTec AD / VisA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Anomaly-Detection Standard Sets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Used For Our Few-Shot Branch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Our Pilot Corpus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2,578 Images, 6 Classes, Per-File Hashes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Audited, Group-Aware Split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9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Related Work — Detection, Anomaly &amp; Planning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1737360" cy="685800"/>
          </a:xfrm>
          <a:prstGeom prst="round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Detection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1353312"/>
            <a:ext cx="9052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1F2937"/>
                </a:solidFill>
                <a:latin typeface="Calibri"/>
              </a:rPr>
              <a:t>YOLOv1–v11 Fabric Review (2025) Finds YOLOv11 Strongest On Small / Occluded Defects; Fab-ASLKS (+5% mAP50 On Tianchi); Fab-ME (+3.3%, 59.4% Over 20 Classes); FabricMamba For Edge.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33472"/>
            <a:ext cx="1737360" cy="685800"/>
          </a:xfrm>
          <a:prstGeom prst="round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Anomaly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2523744"/>
            <a:ext cx="9052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1F2937"/>
                </a:solidFill>
                <a:latin typeface="Calibri"/>
              </a:rPr>
              <a:t>PatchCore (99.6% MVTec AUROC), Reverse Distillation (Low Latency), AnomalyDINO / PatchEAD Reach 89–96% With A Handful Of Good Samples And No Defect Labels.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803904"/>
            <a:ext cx="1737360" cy="685800"/>
          </a:xfrm>
          <a:prstGeom prst="round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3694176"/>
            <a:ext cx="9052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1F2937"/>
                </a:solidFill>
                <a:latin typeface="Calibri"/>
              </a:rPr>
              <a:t>EfficientDet + Jetson TX2 At 22.7 FPS (2.5× Cloud); YOLOv11 On Orin Nano; YOLOv11 +70% Avg. On NEU-DET Vs Prior Models.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974336"/>
            <a:ext cx="1737360" cy="685800"/>
          </a:xfrm>
          <a:prstGeom prst="round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Planning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4864607"/>
            <a:ext cx="9052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 i="0">
                <a:solidFill>
                  <a:srgbClr val="1F2937"/>
                </a:solidFill>
                <a:latin typeface="Calibri"/>
              </a:rPr>
              <a:t>No Published Vision–Ds Lead-Time Fusion Exists — This Is Our Gap. Closest Work: CIIS 2024 Wastage Prediction (633 Points, ANN/SVR/MLP/RFR/ARIMA); 2025 BD Digital-QC Trials; 2026 Narayanganj Traffic-Light QC Study (94 Lines).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10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Literature Analysis (Selected)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110642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4023360"/>
                <a:gridCol w="2651760"/>
                <a:gridCol w="2286000"/>
                <a:gridCol w="12801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No.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Dataset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Kumar Fabric Survey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 / Classical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Collected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2008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Isl-Knit + 4-Point (BUTEX)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 (YOLOv5)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Own (3,375)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FabricSpotDefect (IUB)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Own (1,014)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YOLOv1–v11 Fabric Review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Collected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PatchCore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Unsupervised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MVTec / VisA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AnomalyDINO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Few-Shot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MVTec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PatchEAD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Few / Zero-Shot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7 Industrial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Fabric Wastage Prediction (CIIS)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Own (633)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Traffic-Light QC Narayanganj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Applied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94 Lines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19 / 20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Redmon (YOLO) / Breiman (RF)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Supervised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VOC-COCO / General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2016 / 2001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11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Gap Analysis &amp; Summary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26517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2651760" cy="82296"/>
          </a:xfrm>
          <a:prstGeom prst="round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755648"/>
            <a:ext cx="475488" cy="475488"/>
          </a:xfrm>
          <a:prstGeom prst="ellipse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719072"/>
            <a:ext cx="1600200" cy="18745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Detectors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Cover Known Defect Types Well, But Stop At Detection — No Link To Production.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28416" y="1463040"/>
            <a:ext cx="26517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28416" y="1463040"/>
            <a:ext cx="2651760" cy="82296"/>
          </a:xfrm>
          <a:prstGeom prst="round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584448" y="1755648"/>
            <a:ext cx="475488" cy="475488"/>
          </a:xfrm>
          <a:prstGeom prst="ellipse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7096" y="1719072"/>
            <a:ext cx="1600200" cy="18745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Anomaly Models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Handle Unseen Defects, But Are Evaluated On Public Sets, Not Bangladeshi Factory Data.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08192" y="1463040"/>
            <a:ext cx="26517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08192" y="1463040"/>
            <a:ext cx="2651760" cy="82296"/>
          </a:xfrm>
          <a:prstGeom prst="round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755648"/>
            <a:ext cx="475488" cy="475488"/>
          </a:xfrm>
          <a:prstGeom prst="ellipse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76872" y="1719072"/>
            <a:ext cx="1600200" cy="18745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Edge Tooling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Real-Time Feasibility Is Proven, But Not Paired With A Planning Model.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87968" y="1463040"/>
            <a:ext cx="26517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887968" y="1463040"/>
            <a:ext cx="2651760" cy="82296"/>
          </a:xfrm>
          <a:prstGeom prst="round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0" y="1755648"/>
            <a:ext cx="475488" cy="475488"/>
          </a:xfrm>
          <a:prstGeom prst="ellipse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56648" y="1719072"/>
            <a:ext cx="1600200" cy="18745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BD Datasets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Give Local Ground Truth, But No Work Fuses Vision Output With Lead-Time Hours.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66344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 i="0">
                <a:solidFill>
                  <a:srgbClr val="B8860B"/>
                </a:solidFill>
                <a:latin typeface="Calibri"/>
              </a:rPr>
              <a:t>The Vision-To-Hours Coupling Remains Unclaimed — That Is Our Contribution.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12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Requirement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q_funct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63040"/>
            <a:ext cx="5623560" cy="3566160"/>
          </a:xfrm>
          <a:prstGeom prst="rect">
            <a:avLst/>
          </a:prstGeom>
        </p:spPr>
      </p:pic>
      <p:pic>
        <p:nvPicPr>
          <p:cNvPr id="8" name="Picture 7" descr="req_nonfunctio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1463040"/>
            <a:ext cx="5623560" cy="3566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040" y="5074920"/>
            <a:ext cx="5623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144E4C"/>
                </a:solidFill>
                <a:latin typeface="Calibri"/>
              </a:rPr>
              <a:t>Functional Requirements (FR1–FR6)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45352" y="5074920"/>
            <a:ext cx="5623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144E4C"/>
                </a:solidFill>
                <a:latin typeface="Calibri"/>
              </a:rPr>
              <a:t>Non-Functional Requirements (NFR1–NFR6)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53212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▪  Six Pipeline Function Groups From Image Input To Dashboard Display, Plus Six Quality Attributes With Measurable Targets (≥15 FPS, mAP Tracking, Zero-Overlap Splits).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13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Dataset: Classes &amp; Audited Composition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630936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291840"/>
                <a:gridCol w="1188720"/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Class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Images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Hole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Missing / Damaged Region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281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Horizontal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Horizontal Defect Pattern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136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Vertical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Vertical Defect Pattern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101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Lines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Thin Irregularity Incl. Pulled Threads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157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Stain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Contamination / Discoloration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398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Defect-Free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Normal Fabric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1F2937"/>
                          </a:solidFill>
                          <a:latin typeface="Calibri"/>
                        </a:rPr>
                        <a:t>1,505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15200" y="1463040"/>
            <a:ext cx="3566160" cy="713232"/>
          </a:xfrm>
          <a:prstGeom prst="roundRect">
            <a:avLst/>
          </a:prstGeom>
          <a:solidFill>
            <a:srgbClr val="2B7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2,578 Scanned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2331720"/>
            <a:ext cx="3566160" cy="713232"/>
          </a:xfrm>
          <a:prstGeom prst="roundRect">
            <a:avLst/>
          </a:prstGeom>
          <a:solidFill>
            <a:srgbClr val="D06F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– 17 Exact Duplicates (Hash)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3200400"/>
            <a:ext cx="3566160" cy="713232"/>
          </a:xfrm>
          <a:prstGeom prst="roundRect">
            <a:avLst/>
          </a:prstGeom>
          <a:solidFill>
            <a:srgbClr val="C43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– 12 Quarantined (Cross-Labeled)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4069079"/>
            <a:ext cx="3566160" cy="713232"/>
          </a:xfrm>
          <a:prstGeom prst="roundRect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= 2,549 Usable Images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5074920"/>
            <a:ext cx="35661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0" i="0">
                <a:solidFill>
                  <a:srgbClr val="5B6570"/>
                </a:solidFill>
                <a:latin typeface="Calibri"/>
              </a:rPr>
              <a:t>6 Classes, Per-File Cryptographic Hashes, Visual Verification Before Use.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14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Data Audit: Quarantine Ledger &amp; Split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53949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5394960" cy="82296"/>
          </a:xfrm>
          <a:prstGeom prst="round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755648"/>
            <a:ext cx="475488" cy="475488"/>
          </a:xfrm>
          <a:prstGeom prst="ellipse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719072"/>
            <a:ext cx="4343400" cy="2880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Quarantine Ledger (Table 3.3)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9× Hole/Line_2018-10-11* + 3× Lines/Line_2018-10-10* — Identical Swatches Cross-Labeled Hole Vs Lines, Several Defect-Free.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Verdict: Suspect_Cross_Label / Suspect_Batch — Excluded From Both Train And Test.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Control Pair Verified Clean And Retained (Hole/20180531* Vs Lines/20180531*).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463040"/>
            <a:ext cx="539496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45352" y="1463040"/>
            <a:ext cx="5394960" cy="82296"/>
          </a:xfrm>
          <a:prstGeom prst="round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01384" y="1755648"/>
            <a:ext cx="475488" cy="475488"/>
          </a:xfrm>
          <a:prstGeom prst="ellipse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4032" y="1719072"/>
            <a:ext cx="4343400" cy="2880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Group-Aware Split (Table 3.4)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Seed 42, Test-Fraction 0.2.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Swatch Families And Dated Shoots Never Split Across Sides.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Train: 2,081 Images.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Test: 468 Images.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Overlap Between Train And Test: 0.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15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System Diagram (Fig. 3.1)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2011680"/>
            <a:ext cx="14173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Camera /
Image Stream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77440" y="2011680"/>
            <a:ext cx="14173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Industrial
Preprocessing:
Denoise, Deblur,
Low-Light Norm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084832" y="3063240"/>
            <a:ext cx="310896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114800" y="2011680"/>
            <a:ext cx="14173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YOLO Defect
Detector:
Type + Boxes
And Masks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822191" y="3063240"/>
            <a:ext cx="310896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852160" y="2011680"/>
            <a:ext cx="14173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Metadata
Bridge:
Ds + Rolling
Average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559552" y="3063240"/>
            <a:ext cx="310896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589520" y="2011680"/>
            <a:ext cx="14173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Lead Time
Predictor:
Random Forest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296912" y="3063240"/>
            <a:ext cx="310896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509760" y="2011680"/>
            <a:ext cx="14173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300" b="0" i="0">
                <a:solidFill>
                  <a:srgbClr val="1F2937"/>
                </a:solidFill>
                <a:latin typeface="Calibri"/>
              </a:rPr>
              <a:t>Planner
Dashboard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217152" y="3063240"/>
            <a:ext cx="310896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241280" y="4133087"/>
            <a:ext cx="0" cy="713233"/>
          </a:xfrm>
          <a:prstGeom prst="line">
            <a:avLst/>
          </a:prstGeom>
          <a:ln w="19050">
            <a:solidFill>
              <a:srgbClr val="5B65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1371600" y="4864608"/>
            <a:ext cx="8851392" cy="0"/>
          </a:xfrm>
          <a:prstGeom prst="line">
            <a:avLst/>
          </a:prstGeom>
          <a:ln w="19050">
            <a:solidFill>
              <a:srgbClr val="5B65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1353312" y="4133087"/>
            <a:ext cx="0" cy="713233"/>
          </a:xfrm>
          <a:prstGeom prst="line">
            <a:avLst/>
          </a:prstGeom>
          <a:ln w="19050">
            <a:solidFill>
              <a:srgbClr val="5B65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291840" y="4224528"/>
            <a:ext cx="5577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5B6570"/>
                </a:solidFill>
                <a:latin typeface="Calibri"/>
              </a:rPr>
              <a:t>Closed-Loop Feedback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50" b="0" i="0">
                <a:solidFill>
                  <a:srgbClr val="5B6570"/>
                </a:solidFill>
                <a:latin typeface="Calibri"/>
              </a:rPr>
              <a:t>Camera → Preprocessing → YOLO Detector → Metadata Bridge (Ds) → Random-Forest Lead-Time Predictor → Planner Dashboard.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16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Workflow Flowchart (Fig. 3.2)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1417320"/>
            <a:ext cx="201168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1" i="0">
                <a:solidFill>
                  <a:srgbClr val="1F2937"/>
                </a:solidFill>
                <a:latin typeface="Calibri"/>
              </a:rPr>
              <a:t>Start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103120"/>
            <a:ext cx="201168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Capture Fabric Image / Stream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92608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Preprocessing
(Resize, Noise Removal, Enhance)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84048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YOLO Defect Detection
(Type + Boxes / Masks)</a:t>
            </a:r>
          </a:p>
        </p:txBody>
      </p:sp>
      <p:sp>
        <p:nvSpPr>
          <p:cNvPr id="11" name="Diamond 10"/>
          <p:cNvSpPr/>
          <p:nvPr/>
        </p:nvSpPr>
        <p:spPr>
          <a:xfrm>
            <a:off x="822960" y="4754880"/>
            <a:ext cx="2011680" cy="82296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Defect Detected?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4754880"/>
            <a:ext cx="20116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Identify Defect Type
(Hole / Horizontal / Vertical / Lines / Stain)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760720"/>
            <a:ext cx="2011680" cy="411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Mark Defect-Free, Ds = 0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828800" y="1938528"/>
            <a:ext cx="0" cy="146303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828800" y="2761488"/>
            <a:ext cx="0" cy="14630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828800" y="3675887"/>
            <a:ext cx="0" cy="14630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0" y="4590288"/>
            <a:ext cx="0" cy="14630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828800" y="5596128"/>
            <a:ext cx="0" cy="14630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852928" y="5166360"/>
            <a:ext cx="512064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035040" y="1828800"/>
            <a:ext cx="5577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0" i="0">
                <a:solidFill>
                  <a:srgbClr val="1F2937"/>
                </a:solidFill>
                <a:latin typeface="Calibri"/>
              </a:rPr>
              <a:t>▪  Each Frame Is Loaded, Preprocessed, And Passed Through YOLO Detection.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0" i="0">
                <a:solidFill>
                  <a:srgbClr val="1F2937"/>
                </a:solidFill>
                <a:latin typeface="Calibri"/>
              </a:rPr>
              <a:t>▪  A Defect Triggers Area + Ds Computation; A Clean Frame Sets Ds = 0.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0" i="0">
                <a:solidFill>
                  <a:srgbClr val="1F2937"/>
                </a:solidFill>
                <a:latin typeface="Calibri"/>
              </a:rPr>
              <a:t>▪  Ds Feeds A Rolling Average Before The Random Forest Predicts Hours.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50" b="0" i="0">
                <a:solidFill>
                  <a:srgbClr val="1F2937"/>
                </a:solidFill>
                <a:latin typeface="Calibri"/>
              </a:rPr>
              <a:t>▪  Result Is Displayed, And The Loop Repeats Until Frames Run Out.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17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Data Flow &amp; Metadata Bridge (Fig. 3.3 / 3.4)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642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144E4C"/>
                </a:solidFill>
                <a:latin typeface="Calibri"/>
              </a:rPr>
              <a:t>Level-0 DFD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1965960"/>
            <a:ext cx="17373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00" b="0" i="0">
                <a:solidFill>
                  <a:srgbClr val="1F2937"/>
                </a:solidFill>
                <a:latin typeface="Calibri"/>
              </a:rPr>
              <a:t>Fabric Camera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971800"/>
            <a:ext cx="17373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00" b="0" i="0">
                <a:solidFill>
                  <a:srgbClr val="1F2937"/>
                </a:solidFill>
                <a:latin typeface="Calibri"/>
              </a:rPr>
              <a:t>Manufacturing Data</a:t>
            </a:r>
          </a:p>
        </p:txBody>
      </p:sp>
      <p:sp>
        <p:nvSpPr>
          <p:cNvPr id="10" name="Oval 9"/>
          <p:cNvSpPr/>
          <p:nvPr/>
        </p:nvSpPr>
        <p:spPr>
          <a:xfrm>
            <a:off x="2743200" y="1965960"/>
            <a:ext cx="2377440" cy="1828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0 Detect + Score + Predict</a:t>
            </a:r>
          </a:p>
        </p:txBody>
      </p:sp>
      <p:sp>
        <p:nvSpPr>
          <p:cNvPr id="11" name="Oval 10"/>
          <p:cNvSpPr/>
          <p:nvPr/>
        </p:nvSpPr>
        <p:spPr>
          <a:xfrm>
            <a:off x="5577840" y="2286000"/>
            <a:ext cx="2286000" cy="11887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00" b="0" i="0">
                <a:solidFill>
                  <a:srgbClr val="1F2937"/>
                </a:solidFill>
                <a:latin typeface="Calibri"/>
              </a:rPr>
              <a:t>Result + Ds + Hours</a:t>
            </a:r>
          </a:p>
        </p:txBody>
      </p:sp>
      <p:sp>
        <p:nvSpPr>
          <p:cNvPr id="12" name="Oval 11"/>
          <p:cNvSpPr/>
          <p:nvPr/>
        </p:nvSpPr>
        <p:spPr>
          <a:xfrm>
            <a:off x="8321040" y="2286000"/>
            <a:ext cx="2286000" cy="11887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00" b="0" i="0">
                <a:solidFill>
                  <a:srgbClr val="1F2937"/>
                </a:solidFill>
                <a:latin typeface="Calibri"/>
              </a:rPr>
              <a:t>Planner / Inspector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377440" y="2377440"/>
            <a:ext cx="34747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377440" y="3383280"/>
            <a:ext cx="34747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120640" y="2651760"/>
            <a:ext cx="43891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863840" y="3108960"/>
            <a:ext cx="43891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3977639"/>
            <a:ext cx="11064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144E4C"/>
                </a:solidFill>
                <a:latin typeface="Calibri"/>
              </a:rPr>
              <a:t>Ds Metadata Bridge (Rolling 10-Frame Average)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43484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YOLO Output:
Class, Conf., Box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404872" y="443484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Per-Defect
Area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212848" y="4892040"/>
            <a:ext cx="201167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169663" y="443484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Sum Defect
Area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977639" y="4892040"/>
            <a:ext cx="201168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934456" y="443484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Ds =
Defect / Frame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742432" y="4892040"/>
            <a:ext cx="201168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699248" y="443484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Rolling Avg.
Last 10 Frames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507223" y="4892040"/>
            <a:ext cx="201169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9464040" y="443484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Predictor
Input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272015" y="4892040"/>
            <a:ext cx="201169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5934456" y="5486400"/>
            <a:ext cx="1554480" cy="658368"/>
          </a:xfrm>
          <a:prstGeom prst="roundRect">
            <a:avLst>
              <a:gd name="adj" fmla="val 10000"/>
            </a:avLst>
          </a:prstGeom>
          <a:solidFill>
            <a:srgbClr val="E4ECD4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Frame Area
H × W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6711696" y="5367528"/>
            <a:ext cx="0" cy="10058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18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Lead-Time ML Pipeline (Fig. 3.5)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645920"/>
            <a:ext cx="19202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Machine Speed
20–100 m/min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788920"/>
            <a:ext cx="19202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Order Quantity
100–10,000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31920"/>
            <a:ext cx="19202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Defect Density Ds
0.0–0.5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08960" y="2468880"/>
            <a:ext cx="219456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1" i="0">
                <a:solidFill>
                  <a:srgbClr val="1F2937"/>
                </a:solidFill>
                <a:latin typeface="Calibri"/>
              </a:rPr>
              <a:t>Random Forest
100 Trees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52160" y="2468880"/>
            <a:ext cx="201168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Lead Time
Hours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2468880"/>
            <a:ext cx="274320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0" i="0">
                <a:solidFill>
                  <a:srgbClr val="1F2937"/>
                </a:solidFill>
                <a:latin typeface="Calibri"/>
              </a:rPr>
              <a:t>MAE / RMSE / R²
Vs Static + No-Ds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60320" y="2103120"/>
            <a:ext cx="530352" cy="73152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560320" y="2834640"/>
            <a:ext cx="530352" cy="41148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2560320" y="2834640"/>
            <a:ext cx="530352" cy="155448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303520" y="3063240"/>
            <a:ext cx="53035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863840" y="3063240"/>
            <a:ext cx="530352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463040" y="4297680"/>
            <a:ext cx="9235440" cy="777240"/>
          </a:xfrm>
          <a:prstGeom prst="roundRect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Lead = (Qty / Speed) × 0.1 × (1 + 2 × Ds)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212080"/>
            <a:ext cx="11064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i="0">
                <a:solidFill>
                  <a:srgbClr val="5B6570"/>
                </a:solidFill>
                <a:latin typeface="Calibri"/>
              </a:rPr>
              <a:t>Example: Ds = 0.2 Inflates Predicted Time By 40%. Features: Speed 20–100 m/min, Quantity 100–10,000, Ds 0–0.5, 100-Tree Random Forest, Evaluated Vs Static-Mean And No-Ds Baselines.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19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Four-Point Inspection Grading (Fig. 3.6)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480560" y="1463040"/>
            <a:ext cx="320040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00" b="0" i="0">
                <a:solidFill>
                  <a:srgbClr val="1F2937"/>
                </a:solidFill>
                <a:latin typeface="Calibri"/>
              </a:rPr>
              <a:t>Calibrate Pixels To Inches (Fixed Geometry)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80760" y="2121408"/>
            <a:ext cx="0" cy="14630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480560" y="2286000"/>
            <a:ext cx="320040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00" b="0" i="0">
                <a:solidFill>
                  <a:srgbClr val="1F2937"/>
                </a:solidFill>
                <a:latin typeface="Calibri"/>
              </a:rPr>
              <a:t>Measure Fault Length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80760" y="2944368"/>
            <a:ext cx="0" cy="14630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Diamond 10"/>
          <p:cNvSpPr/>
          <p:nvPr/>
        </p:nvSpPr>
        <p:spPr>
          <a:xfrm>
            <a:off x="5349240" y="3108960"/>
            <a:ext cx="1463040" cy="91440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250" b="1" i="0">
                <a:solidFill>
                  <a:srgbClr val="1F2937"/>
                </a:solidFill>
                <a:latin typeface="Calibri"/>
              </a:rPr>
              <a:t>Length?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480560"/>
            <a:ext cx="25603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Under 3 In
1 Point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1920239" y="4041648"/>
            <a:ext cx="3840481" cy="42062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410712" y="4480560"/>
            <a:ext cx="25603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3 To 6 In
2 Points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4690872" y="4041648"/>
            <a:ext cx="1298448" cy="42062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181344" y="4480560"/>
            <a:ext cx="25603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6 To 9 In
3 Points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217920" y="4041648"/>
            <a:ext cx="1243584" cy="42062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951976" y="4480560"/>
            <a:ext cx="25603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Over 9 In Or
Hole Over 1 In
4 Points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46520" y="4041648"/>
            <a:ext cx="3785616" cy="420624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800600" y="5440680"/>
            <a:ext cx="25603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B7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rmAutofit/>
          </a:bodyPr>
          <a:lstStyle/>
          <a:p>
            <a:pPr algn="ctr"/>
            <a:r>
              <a:rPr sz="1150" b="0" i="0">
                <a:solidFill>
                  <a:srgbClr val="1F2937"/>
                </a:solidFill>
                <a:latin typeface="Calibri"/>
              </a:rPr>
              <a:t>Roll Grade From Total + Length + Weight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920239" y="5276088"/>
            <a:ext cx="0" cy="118872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690872" y="5276088"/>
            <a:ext cx="0" cy="118872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461504" y="5276088"/>
            <a:ext cx="0" cy="118872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232136" y="5276088"/>
            <a:ext cx="0" cy="118872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920240" y="5394960"/>
            <a:ext cx="8311896" cy="0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80760" y="5394960"/>
            <a:ext cx="0" cy="27432"/>
          </a:xfrm>
          <a:prstGeom prst="line">
            <a:avLst/>
          </a:prstGeom>
          <a:ln w="19050">
            <a:solidFill>
              <a:srgbClr val="1F293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20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Standards &amp; Compliance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3520440" cy="82296"/>
          </a:xfrm>
          <a:prstGeom prst="round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847088"/>
            <a:ext cx="475488" cy="475488"/>
          </a:xfrm>
          <a:prstGeom prst="ellipse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810512"/>
            <a:ext cx="2468880" cy="2240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Software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Reusable Packages, Central Configuration, Version Control With Reviewable Manifests, Seeded Deterministic Training, COCO / YOLO Interchange Formats.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59" y="155448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51959" y="1554480"/>
            <a:ext cx="3520440" cy="82296"/>
          </a:xfrm>
          <a:prstGeom prst="round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07992" y="1847088"/>
            <a:ext cx="475488" cy="475488"/>
          </a:xfrm>
          <a:prstGeom prst="ellipse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1810512"/>
            <a:ext cx="2468880" cy="2240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Hardware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Fixed-Geometry Calibration For Grading, Jetson-Class Edge Device With TensorRT, Factory-Safe Power Envelope.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9" y="155448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955279" y="1554480"/>
            <a:ext cx="3520440" cy="82296"/>
          </a:xfrm>
          <a:prstGeom prst="round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11311" y="1847088"/>
            <a:ext cx="475488" cy="475488"/>
          </a:xfrm>
          <a:prstGeom prst="ellipse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59" y="1810512"/>
            <a:ext cx="2468880" cy="22402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Communication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REST File Handoff To The MES And Dashboard Over HTTP; No Proprietary Protocols.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21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Design Constraints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49377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321040"/>
              </a:tblGrid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Constraint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How We Handle It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Economic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Zero Software Cost; ROI Via Reduced DHU / Chargeback In 2–3 Years At Expected Trial Performance.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Environmental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Small Training Footprint, Low Edge Power Draw, Fewer Faulty Shipments.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Ethical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Cameras Face Fabric, Not Workers; Wrong Labels Are Corrected, Not Ignored; Planning Data Stays Labeled Until Factory Records Take Over.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Health &amp; Safety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Enclosed System Helps Reduce Inspector Eye Strain.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Social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Bangla-Language Labels; Inspectors Trained Toward Supervisor Roles.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Political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No Approvals Required.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Manufacturability &amp; Cost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Computers, Cameras, And Jetson Hardware Are All Moderate-Cost And Readily Available.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7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Sustainability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Open Formats, Maintainable Scripts, An Expandable Dataset.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22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Estimated Project Budget (Table 4.1)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8138160" cy="49926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5486400"/>
                <a:gridCol w="201168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SL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Amount (BDT)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Fabric Swatch Collection &amp; Manual Verification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1,500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Industrial Inspection Camera (USB 1080p)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3,500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Fixed-Geometry Mounting Frame / Fixture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Calibration Materials (Ruler, Grid Chart)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600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Dept. GPU Lab + Free Cloud Compute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Additional GPU Compute Beyond Free Quota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3,000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Cloud Storage For Dataset &amp; Hash Manifests (1 Yr)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2,400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Existing Laptops / PCs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ML Libraries (YOLO, OpenCV, Scikit-Learn)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Dev Tools &amp; Version Control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Internet Connectivity &amp; Dataset Transfer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1,500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Documentation, Printing, Binding, Presentation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937"/>
                          </a:solidFill>
                          <a:latin typeface="Calibri"/>
                        </a:rPr>
                        <a:t>2,500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9144000" y="2743200"/>
            <a:ext cx="2468880" cy="1371600"/>
          </a:xfrm>
          <a:prstGeom prst="roundRect">
            <a:avLst/>
          </a:prstGeom>
          <a:solidFill>
            <a:srgbClr val="D9A4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1F2937"/>
                </a:solidFill>
                <a:latin typeface="Calibri"/>
              </a:rPr>
              <a:t>Estimation Total
16,000 BDT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23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Project Plan (Fig. 5.1)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5120640"/>
                <a:gridCol w="2011680"/>
                <a:gridCol w="301752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Sprint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Focus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Weeks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S1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Data Preparation And Requirements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1–2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Riya, Labib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S2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Setup And Preprocessing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3–4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Zahin, Riya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S3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Defect Detection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5–6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Zahin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S4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Anomaly Detection And Metadata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7–8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Amin, Niloy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S5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Lead-Time Prediction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9–10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Zahin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S6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Dashboard Development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11–12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Niloy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S7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Deployment, Testing And Documentation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13–14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Labib, Murad, Riya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S8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Final Integration And Presentation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15–16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937"/>
                          </a:solidFill>
                          <a:latin typeface="Calibri"/>
                        </a:rPr>
                        <a:t>All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 i="0">
                <a:solidFill>
                  <a:srgbClr val="5B6570"/>
                </a:solidFill>
                <a:latin typeface="Calibri"/>
              </a:rPr>
              <a:t>Audit / Split (Done) → Reproduction → Segmentation → Anomaly → Planning → Edge → Write-Up, Over 32 Weeks.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24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Complex Engineering Problem Mapping (Table 4.2)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8138160"/>
              </a:tblGrid>
              <a:tr h="777240"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Dimension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Our Problem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Depth Of Knowledge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Vision, Detection / Segmentation, Anomaly Detection, Ensemble ML, Manufacturing Systems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Conflicting Requirements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Accuracy Vs. FPS Vs. Edge Power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Data Complexity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~2 GB Heterogeneous Images + Planning Features + Noisy Labels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Practical Impact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QC Accuracy And Delivery Reliability For Export Orders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Scalability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937"/>
                          </a:solidFill>
                          <a:latin typeface="Calibri"/>
                        </a:rPr>
                        <a:t>Few-Shot Branch For New Fabrics; Per-Line Replication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25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Task Allocation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63040"/>
          <a:ext cx="1106424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7772400"/>
              </a:tblGrid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Member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 i="0">
                          <a:solidFill>
                            <a:srgbClr val="FFFFFF"/>
                          </a:solidFill>
                          <a:latin typeface="Calibri"/>
                        </a:rPr>
                        <a:t>Primary Responsibility</a:t>
                      </a:r>
                    </a:p>
                  </a:txBody>
                  <a:tcPr anchor="ctr" marL="73152" marR="73152">
                    <a:solidFill>
                      <a:srgbClr val="144E4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Abdullah Al Fahim Zahin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Baseline Reproduction, YOLO Model Training And Evaluation, Lead-Time Prediction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Nafiz Imtiaz Labib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Dataset Collection And Auditing, Dataset Split And Preparation, Edge Deployment And Validation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MST Riya Akter Satu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Requirement Analysis, Image Preprocessing, Documentation And Report Writing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Mohammed Amin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Few-Shot Anomaly Detection Using PatchCore / DINOv2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Fahim Ferdous Niloy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Metadata Bridge, Defect Density Score (Ds) Calculation, Rolling Average, Planner Dashboard Development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Md. Mostafizur Rahman Murad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F2937"/>
                          </a:solidFill>
                          <a:latin typeface="Calibri"/>
                        </a:rPr>
                        <a:t>Testing And Evaluation</a:t>
                      </a:r>
                    </a:p>
                  </a:txBody>
                  <a:tcPr anchor="ctr" marL="73152" marR="73152">
                    <a:solidFill>
                      <a:srgbClr val="EFEA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26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4E4C"/>
                </a:solidFill>
                <a:latin typeface="Georgia"/>
              </a:rPr>
              <a:t>Conclusion &amp; Future 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005840" cy="50292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539496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5394960" cy="82296"/>
          </a:xfrm>
          <a:prstGeom prst="round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1755648"/>
            <a:ext cx="475488" cy="475488"/>
          </a:xfrm>
          <a:prstGeom prst="ellipse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719072"/>
            <a:ext cx="4343400" cy="2514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Summary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Reviewed 20 Works, Fixed Requirements, Chose The Detect → Segment → Anomaly → Predict Methodology.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Audited The Dataset: Hashed Every Image, Removed 17 Duplicates, Quarantined 12 Files, Confirmed 2,081 Train / 468 Test With Zero Overlap.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That Audit Supports Every Number That Follows.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463040"/>
            <a:ext cx="539496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D2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45352" y="1463040"/>
            <a:ext cx="5394960" cy="82296"/>
          </a:xfrm>
          <a:prstGeom prst="round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01384" y="1755648"/>
            <a:ext cx="475488" cy="475488"/>
          </a:xfrm>
          <a:prstGeom prst="ellipse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4032" y="1719072"/>
            <a:ext cx="4343400" cy="2514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4E4C"/>
                </a:solidFill>
                <a:latin typeface="Calibri"/>
              </a:rPr>
              <a:t>Future Work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Relabel Quarantine Using A pHash Sweep.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Gather Roll-ID-Disciplined V2 Factory Data.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Build A Bangla Dashboard For Planners.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Benchmark Against Isl-Knit And FabricSpotDefect.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B6570"/>
                </a:solidFill>
                <a:latin typeface="Calibri"/>
              </a:rPr>
              <a:t>Submit Results To A Conference.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2920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50" b="0" i="0">
                <a:solidFill>
                  <a:srgbClr val="5B6570"/>
                </a:solidFill>
                <a:latin typeface="Calibri"/>
              </a:rPr>
              <a:t>Limitations: Pilot Localization Is Estimated, Not Measured; Planning Labels Are Synthetic; 1,994 Files Lack Group IDs; Minority Classes Are Thin; Industrial Validation Is Pending.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8F98"/>
                </a:solidFill>
                <a:latin typeface="Calibri"/>
              </a:rPr>
              <a:t>Defect-to-Delivery  |  FYDP-I  •  Group: 262-034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19088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8A8F98"/>
                </a:solidFill>
                <a:latin typeface="Calibri"/>
              </a:rPr>
              <a:t>27 / 27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B7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106424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 i="0">
                <a:solidFill>
                  <a:srgbClr val="144E4C"/>
                </a:solidFill>
                <a:latin typeface="Georgia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91840"/>
            <a:ext cx="110642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0" i="0">
                <a:solidFill>
                  <a:srgbClr val="5B6570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09360"/>
            <a:ext cx="11064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 i="0">
                <a:solidFill>
                  <a:srgbClr val="8A8F98"/>
                </a:solidFill>
                <a:latin typeface="Calibri"/>
              </a:rPr>
              <a:t>Defect-to-Delivery — Fabric Defect Detection &amp; Lead-Time Prediction  |  FYDP-I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